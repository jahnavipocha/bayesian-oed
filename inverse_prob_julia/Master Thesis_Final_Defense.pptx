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  <p:sldMasterId id="2147483650" r:id="rId3"/>
  </p:sldMasterIdLst>
  <p:notesMasterIdLst>
    <p:notesMasterId r:id="rId4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80" r:id="rId16"/>
    <p:sldId id="268" r:id="rId17"/>
    <p:sldId id="291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90" r:id="rId28"/>
    <p:sldId id="278" r:id="rId29"/>
    <p:sldId id="279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BF6427-5F71-4A65-9DAA-EBEB30658F8C}" v="102" dt="2026-08-12T11:58:16.7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-37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microsoft.com/office/2015/10/relationships/revisionInfo" Target="revisionInfo.xml"/><Relationship Id="rId20" Type="http://schemas.openxmlformats.org/officeDocument/2006/relationships/slide" Target="slides/slide17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hnavi reddy" userId="2322ce0e682a051e" providerId="LiveId" clId="{17625DF2-AB34-4CB1-96F4-C9AE74ABAD10}"/>
    <pc:docChg chg="custSel modSld">
      <pc:chgData name="Jahnavi reddy" userId="2322ce0e682a051e" providerId="LiveId" clId="{17625DF2-AB34-4CB1-96F4-C9AE74ABAD10}" dt="2026-08-12T12:01:58.201" v="316" actId="20577"/>
      <pc:docMkLst>
        <pc:docMk/>
      </pc:docMkLst>
      <pc:sldChg chg="modSp modNotesTx">
        <pc:chgData name="Jahnavi reddy" userId="2322ce0e682a051e" providerId="LiveId" clId="{17625DF2-AB34-4CB1-96F4-C9AE74ABAD10}" dt="2026-08-12T11:29:16.538" v="290" actId="20577"/>
        <pc:sldMkLst>
          <pc:docMk/>
          <pc:sldMk cId="2112394733" sldId="257"/>
        </pc:sldMkLst>
        <pc:spChg chg="mod">
          <ac:chgData name="Jahnavi reddy" userId="2322ce0e682a051e" providerId="LiveId" clId="{17625DF2-AB34-4CB1-96F4-C9AE74ABAD10}" dt="2026-08-12T10:37:43.244" v="64"/>
          <ac:spMkLst>
            <pc:docMk/>
            <pc:sldMk cId="2112394733" sldId="257"/>
            <ac:spMk id="21" creationId="{ACE85E01-6AD6-4BD2-B3BE-70ABC4DA6F57}"/>
          </ac:spMkLst>
        </pc:spChg>
      </pc:sldChg>
      <pc:sldChg chg="modSp mod">
        <pc:chgData name="Jahnavi reddy" userId="2322ce0e682a051e" providerId="LiveId" clId="{17625DF2-AB34-4CB1-96F4-C9AE74ABAD10}" dt="2026-08-12T11:39:00.519" v="295"/>
        <pc:sldMkLst>
          <pc:docMk/>
          <pc:sldMk cId="158687142" sldId="258"/>
        </pc:sldMkLst>
        <pc:spChg chg="mod">
          <ac:chgData name="Jahnavi reddy" userId="2322ce0e682a051e" providerId="LiveId" clId="{17625DF2-AB34-4CB1-96F4-C9AE74ABAD10}" dt="2026-08-12T11:39:00.519" v="295"/>
          <ac:spMkLst>
            <pc:docMk/>
            <pc:sldMk cId="158687142" sldId="258"/>
            <ac:spMk id="14" creationId="{9C1539E0-C11B-4A4B-A9AB-16BBA2AEA495}"/>
          </ac:spMkLst>
        </pc:spChg>
      </pc:sldChg>
      <pc:sldChg chg="addSp modSp mod modNotesTx">
        <pc:chgData name="Jahnavi reddy" userId="2322ce0e682a051e" providerId="LiveId" clId="{17625DF2-AB34-4CB1-96F4-C9AE74ABAD10}" dt="2026-08-12T11:45:43.903" v="302"/>
        <pc:sldMkLst>
          <pc:docMk/>
          <pc:sldMk cId="1713416740" sldId="259"/>
        </pc:sldMkLst>
        <pc:spChg chg="add mod">
          <ac:chgData name="Jahnavi reddy" userId="2322ce0e682a051e" providerId="LiveId" clId="{17625DF2-AB34-4CB1-96F4-C9AE74ABAD10}" dt="2026-08-12T11:45:43.903" v="302"/>
          <ac:spMkLst>
            <pc:docMk/>
            <pc:sldMk cId="1713416740" sldId="259"/>
            <ac:spMk id="22" creationId="{7E884B94-3013-6DD7-EB87-FC513C71FA24}"/>
          </ac:spMkLst>
        </pc:spChg>
      </pc:sldChg>
      <pc:sldChg chg="modSp mod modNotesTx">
        <pc:chgData name="Jahnavi reddy" userId="2322ce0e682a051e" providerId="LiveId" clId="{17625DF2-AB34-4CB1-96F4-C9AE74ABAD10}" dt="2026-08-12T10:24:10.135" v="36" actId="20577"/>
        <pc:sldMkLst>
          <pc:docMk/>
          <pc:sldMk cId="1326554943" sldId="260"/>
        </pc:sldMkLst>
        <pc:spChg chg="mod">
          <ac:chgData name="Jahnavi reddy" userId="2322ce0e682a051e" providerId="LiveId" clId="{17625DF2-AB34-4CB1-96F4-C9AE74ABAD10}" dt="2026-08-12T10:22:07.578" v="31" actId="14100"/>
          <ac:spMkLst>
            <pc:docMk/>
            <pc:sldMk cId="1326554943" sldId="260"/>
            <ac:spMk id="11" creationId="{DAC953AC-6187-4564-B929-F013ED4CD9C4}"/>
          </ac:spMkLst>
        </pc:spChg>
      </pc:sldChg>
      <pc:sldChg chg="modSp mod modNotesTx">
        <pc:chgData name="Jahnavi reddy" userId="2322ce0e682a051e" providerId="LiveId" clId="{17625DF2-AB34-4CB1-96F4-C9AE74ABAD10}" dt="2026-08-12T11:58:52.844" v="314" actId="20577"/>
        <pc:sldMkLst>
          <pc:docMk/>
          <pc:sldMk cId="1446465277" sldId="261"/>
        </pc:sldMkLst>
        <pc:spChg chg="mod">
          <ac:chgData name="Jahnavi reddy" userId="2322ce0e682a051e" providerId="LiveId" clId="{17625DF2-AB34-4CB1-96F4-C9AE74ABAD10}" dt="2026-08-12T11:58:52.844" v="314" actId="20577"/>
          <ac:spMkLst>
            <pc:docMk/>
            <pc:sldMk cId="1446465277" sldId="261"/>
            <ac:spMk id="11" creationId="{40CE43C2-24ED-49B8-ADD5-441BD04B76B4}"/>
          </ac:spMkLst>
        </pc:spChg>
      </pc:sldChg>
      <pc:sldChg chg="modNotesTx">
        <pc:chgData name="Jahnavi reddy" userId="2322ce0e682a051e" providerId="LiveId" clId="{17625DF2-AB34-4CB1-96F4-C9AE74ABAD10}" dt="2026-08-12T12:01:58.201" v="316" actId="20577"/>
        <pc:sldMkLst>
          <pc:docMk/>
          <pc:sldMk cId="1446668445" sldId="262"/>
        </pc:sldMkLst>
      </pc:sldChg>
      <pc:sldChg chg="modSp">
        <pc:chgData name="Jahnavi reddy" userId="2322ce0e682a051e" providerId="LiveId" clId="{17625DF2-AB34-4CB1-96F4-C9AE74ABAD10}" dt="2026-08-12T10:37:36.712" v="63"/>
        <pc:sldMkLst>
          <pc:docMk/>
          <pc:sldMk cId="235040028" sldId="263"/>
        </pc:sldMkLst>
        <pc:spChg chg="mod">
          <ac:chgData name="Jahnavi reddy" userId="2322ce0e682a051e" providerId="LiveId" clId="{17625DF2-AB34-4CB1-96F4-C9AE74ABAD10}" dt="2026-08-12T10:37:36.712" v="63"/>
          <ac:spMkLst>
            <pc:docMk/>
            <pc:sldMk cId="235040028" sldId="263"/>
            <ac:spMk id="6" creationId="{0CF3EE61-FB1C-499D-A0BC-069A704C4858}"/>
          </ac:spMkLst>
        </pc:spChg>
      </pc:sldChg>
      <pc:sldChg chg="modNotesTx">
        <pc:chgData name="Jahnavi reddy" userId="2322ce0e682a051e" providerId="LiveId" clId="{17625DF2-AB34-4CB1-96F4-C9AE74ABAD10}" dt="2026-08-12T11:16:25.429" v="284" actId="20577"/>
        <pc:sldMkLst>
          <pc:docMk/>
          <pc:sldMk cId="367099291" sldId="264"/>
        </pc:sldMkLst>
      </pc:sldChg>
      <pc:sldChg chg="modNotesTx">
        <pc:chgData name="Jahnavi reddy" userId="2322ce0e682a051e" providerId="LiveId" clId="{17625DF2-AB34-4CB1-96F4-C9AE74ABAD10}" dt="2026-08-12T11:18:26.634" v="288" actId="20577"/>
        <pc:sldMkLst>
          <pc:docMk/>
          <pc:sldMk cId="607490431" sldId="265"/>
        </pc:sldMkLst>
      </pc:sldChg>
      <pc:sldChg chg="addSp delSp modSp mod">
        <pc:chgData name="Jahnavi reddy" userId="2322ce0e682a051e" providerId="LiveId" clId="{17625DF2-AB34-4CB1-96F4-C9AE74ABAD10}" dt="2026-08-12T11:07:55.693" v="260" actId="14100"/>
        <pc:sldMkLst>
          <pc:docMk/>
          <pc:sldMk cId="1176640658" sldId="273"/>
        </pc:sldMkLst>
        <pc:picChg chg="add mod">
          <ac:chgData name="Jahnavi reddy" userId="2322ce0e682a051e" providerId="LiveId" clId="{17625DF2-AB34-4CB1-96F4-C9AE74ABAD10}" dt="2026-08-12T11:07:55.693" v="260" actId="14100"/>
          <ac:picMkLst>
            <pc:docMk/>
            <pc:sldMk cId="1176640658" sldId="273"/>
            <ac:picMk id="10" creationId="{687FC8D4-74A4-B2F7-BE76-914570979115}"/>
          </ac:picMkLst>
        </pc:picChg>
        <pc:picChg chg="del">
          <ac:chgData name="Jahnavi reddy" userId="2322ce0e682a051e" providerId="LiveId" clId="{17625DF2-AB34-4CB1-96F4-C9AE74ABAD10}" dt="2026-08-12T11:07:30.161" v="252" actId="478"/>
          <ac:picMkLst>
            <pc:docMk/>
            <pc:sldMk cId="1176640658" sldId="273"/>
            <ac:picMk id="22" creationId="{00000000-0000-0000-0000-000000000000}"/>
          </ac:picMkLst>
        </pc:picChg>
      </pc:sldChg>
      <pc:sldChg chg="addSp delSp modSp mod">
        <pc:chgData name="Jahnavi reddy" userId="2322ce0e682a051e" providerId="LiveId" clId="{17625DF2-AB34-4CB1-96F4-C9AE74ABAD10}" dt="2026-08-12T10:58:00.502" v="139" actId="20577"/>
        <pc:sldMkLst>
          <pc:docMk/>
          <pc:sldMk cId="1713498173" sldId="281"/>
        </pc:sldMkLst>
        <pc:spChg chg="mod">
          <ac:chgData name="Jahnavi reddy" userId="2322ce0e682a051e" providerId="LiveId" clId="{17625DF2-AB34-4CB1-96F4-C9AE74ABAD10}" dt="2026-08-12T10:58:00.502" v="139" actId="20577"/>
          <ac:spMkLst>
            <pc:docMk/>
            <pc:sldMk cId="1713498173" sldId="281"/>
            <ac:spMk id="2" creationId="{0B059C2A-43AC-F3F1-704E-BACE07133FF2}"/>
          </ac:spMkLst>
        </pc:spChg>
        <pc:spChg chg="del">
          <ac:chgData name="Jahnavi reddy" userId="2322ce0e682a051e" providerId="LiveId" clId="{17625DF2-AB34-4CB1-96F4-C9AE74ABAD10}" dt="2026-08-12T10:57:35.810" v="131" actId="478"/>
          <ac:spMkLst>
            <pc:docMk/>
            <pc:sldMk cId="1713498173" sldId="281"/>
            <ac:spMk id="10" creationId="{05E5B048-BF6C-A179-3F89-C9E0462691A7}"/>
          </ac:spMkLst>
        </pc:spChg>
        <pc:spChg chg="add mod">
          <ac:chgData name="Jahnavi reddy" userId="2322ce0e682a051e" providerId="LiveId" clId="{17625DF2-AB34-4CB1-96F4-C9AE74ABAD10}" dt="2026-08-12T10:57:48.821" v="135" actId="1076"/>
          <ac:spMkLst>
            <pc:docMk/>
            <pc:sldMk cId="1713498173" sldId="281"/>
            <ac:spMk id="15" creationId="{CFFD9C35-2B09-3BF1-63AA-595DBF55BDE8}"/>
          </ac:spMkLst>
        </pc:spChg>
        <pc:picChg chg="mod">
          <ac:chgData name="Jahnavi reddy" userId="2322ce0e682a051e" providerId="LiveId" clId="{17625DF2-AB34-4CB1-96F4-C9AE74ABAD10}" dt="2026-08-12T10:57:45.869" v="134" actId="14100"/>
          <ac:picMkLst>
            <pc:docMk/>
            <pc:sldMk cId="1713498173" sldId="281"/>
            <ac:picMk id="6" creationId="{767DDF07-310B-2059-4A36-BA52266ADC16}"/>
          </ac:picMkLst>
        </pc:picChg>
        <pc:picChg chg="del">
          <ac:chgData name="Jahnavi reddy" userId="2322ce0e682a051e" providerId="LiveId" clId="{17625DF2-AB34-4CB1-96F4-C9AE74ABAD10}" dt="2026-08-12T10:54:33.485" v="72" actId="478"/>
          <ac:picMkLst>
            <pc:docMk/>
            <pc:sldMk cId="1713498173" sldId="281"/>
            <ac:picMk id="11" creationId="{5BF9FE9D-31C6-9432-1A17-03E7A37EBCE8}"/>
          </ac:picMkLst>
        </pc:picChg>
        <pc:picChg chg="add mod">
          <ac:chgData name="Jahnavi reddy" userId="2322ce0e682a051e" providerId="LiveId" clId="{17625DF2-AB34-4CB1-96F4-C9AE74ABAD10}" dt="2026-08-12T10:54:52.744" v="77" actId="14100"/>
          <ac:picMkLst>
            <pc:docMk/>
            <pc:sldMk cId="1713498173" sldId="281"/>
            <ac:picMk id="12" creationId="{FAD586CD-48BF-574B-E068-18350C015A5F}"/>
          </ac:picMkLst>
        </pc:picChg>
      </pc:sldChg>
      <pc:sldChg chg="addSp delSp modSp mod">
        <pc:chgData name="Jahnavi reddy" userId="2322ce0e682a051e" providerId="LiveId" clId="{17625DF2-AB34-4CB1-96F4-C9AE74ABAD10}" dt="2026-08-12T10:58:17.823" v="145" actId="22"/>
        <pc:sldMkLst>
          <pc:docMk/>
          <pc:sldMk cId="2969031964" sldId="282"/>
        </pc:sldMkLst>
        <pc:spChg chg="mod">
          <ac:chgData name="Jahnavi reddy" userId="2322ce0e682a051e" providerId="LiveId" clId="{17625DF2-AB34-4CB1-96F4-C9AE74ABAD10}" dt="2026-08-12T10:58:12.329" v="144" actId="20577"/>
          <ac:spMkLst>
            <pc:docMk/>
            <pc:sldMk cId="2969031964" sldId="282"/>
            <ac:spMk id="2" creationId="{EDB76DD0-8523-66E1-6ABA-96C45FDC7322}"/>
          </ac:spMkLst>
        </pc:spChg>
        <pc:spChg chg="del">
          <ac:chgData name="Jahnavi reddy" userId="2322ce0e682a051e" providerId="LiveId" clId="{17625DF2-AB34-4CB1-96F4-C9AE74ABAD10}" dt="2026-08-12T10:58:08.169" v="140" actId="478"/>
          <ac:spMkLst>
            <pc:docMk/>
            <pc:sldMk cId="2969031964" sldId="282"/>
            <ac:spMk id="10" creationId="{F3752DB1-5968-C831-AE22-7843247AD255}"/>
          </ac:spMkLst>
        </pc:spChg>
        <pc:spChg chg="add">
          <ac:chgData name="Jahnavi reddy" userId="2322ce0e682a051e" providerId="LiveId" clId="{17625DF2-AB34-4CB1-96F4-C9AE74ABAD10}" dt="2026-08-12T10:58:17.823" v="145" actId="22"/>
          <ac:spMkLst>
            <pc:docMk/>
            <pc:sldMk cId="2969031964" sldId="282"/>
            <ac:spMk id="13" creationId="{C501120C-944C-3846-9BBC-70A7C2438AA5}"/>
          </ac:spMkLst>
        </pc:spChg>
        <pc:picChg chg="add mod">
          <ac:chgData name="Jahnavi reddy" userId="2322ce0e682a051e" providerId="LiveId" clId="{17625DF2-AB34-4CB1-96F4-C9AE74ABAD10}" dt="2026-08-12T10:55:21.598" v="86" actId="1076"/>
          <ac:picMkLst>
            <pc:docMk/>
            <pc:sldMk cId="2969031964" sldId="282"/>
            <ac:picMk id="6" creationId="{C20DDCF7-A3A9-B872-823E-521DE3660F38}"/>
          </ac:picMkLst>
        </pc:picChg>
        <pc:picChg chg="del">
          <ac:chgData name="Jahnavi reddy" userId="2322ce0e682a051e" providerId="LiveId" clId="{17625DF2-AB34-4CB1-96F4-C9AE74ABAD10}" dt="2026-08-12T10:55:08.349" v="78" actId="478"/>
          <ac:picMkLst>
            <pc:docMk/>
            <pc:sldMk cId="2969031964" sldId="282"/>
            <ac:picMk id="17" creationId="{FE38C5E1-CD7D-1D66-AA5F-405BBCC1BA62}"/>
          </ac:picMkLst>
        </pc:picChg>
      </pc:sldChg>
      <pc:sldChg chg="addSp delSp modSp mod">
        <pc:chgData name="Jahnavi reddy" userId="2322ce0e682a051e" providerId="LiveId" clId="{17625DF2-AB34-4CB1-96F4-C9AE74ABAD10}" dt="2026-08-12T10:57:26.444" v="130" actId="20577"/>
        <pc:sldMkLst>
          <pc:docMk/>
          <pc:sldMk cId="2115871599" sldId="283"/>
        </pc:sldMkLst>
        <pc:spChg chg="mod">
          <ac:chgData name="Jahnavi reddy" userId="2322ce0e682a051e" providerId="LiveId" clId="{17625DF2-AB34-4CB1-96F4-C9AE74ABAD10}" dt="2026-08-12T10:57:26.444" v="130" actId="20577"/>
          <ac:spMkLst>
            <pc:docMk/>
            <pc:sldMk cId="2115871599" sldId="283"/>
            <ac:spMk id="2" creationId="{C9E8528F-633E-CADC-25B9-FFBF120E4048}"/>
          </ac:spMkLst>
        </pc:spChg>
        <pc:spChg chg="mod">
          <ac:chgData name="Jahnavi reddy" userId="2322ce0e682a051e" providerId="LiveId" clId="{17625DF2-AB34-4CB1-96F4-C9AE74ABAD10}" dt="2026-08-12T10:57:06.534" v="120" actId="1076"/>
          <ac:spMkLst>
            <pc:docMk/>
            <pc:sldMk cId="2115871599" sldId="283"/>
            <ac:spMk id="10" creationId="{806A45AD-AD06-16F2-D6BA-26D2F61E35C8}"/>
          </ac:spMkLst>
        </pc:spChg>
        <pc:picChg chg="del">
          <ac:chgData name="Jahnavi reddy" userId="2322ce0e682a051e" providerId="LiveId" clId="{17625DF2-AB34-4CB1-96F4-C9AE74ABAD10}" dt="2026-08-12T10:55:34.612" v="87" actId="478"/>
          <ac:picMkLst>
            <pc:docMk/>
            <pc:sldMk cId="2115871599" sldId="283"/>
            <ac:picMk id="6" creationId="{D225EDB5-E60F-A5C0-456D-D2D96AFD5C3E}"/>
          </ac:picMkLst>
        </pc:picChg>
        <pc:picChg chg="add mod">
          <ac:chgData name="Jahnavi reddy" userId="2322ce0e682a051e" providerId="LiveId" clId="{17625DF2-AB34-4CB1-96F4-C9AE74ABAD10}" dt="2026-08-12T10:56:01.450" v="97" actId="14100"/>
          <ac:picMkLst>
            <pc:docMk/>
            <pc:sldMk cId="2115871599" sldId="283"/>
            <ac:picMk id="11" creationId="{ECC7DE3E-7971-8871-47A6-526BE4CFA8B1}"/>
          </ac:picMkLst>
        </pc:picChg>
      </pc:sldChg>
      <pc:sldChg chg="addSp delSp modSp mod">
        <pc:chgData name="Jahnavi reddy" userId="2322ce0e682a051e" providerId="LiveId" clId="{17625DF2-AB34-4CB1-96F4-C9AE74ABAD10}" dt="2026-08-12T11:04:57.181" v="251" actId="1076"/>
        <pc:sldMkLst>
          <pc:docMk/>
          <pc:sldMk cId="1754488106" sldId="284"/>
        </pc:sldMkLst>
        <pc:spChg chg="mod">
          <ac:chgData name="Jahnavi reddy" userId="2322ce0e682a051e" providerId="LiveId" clId="{17625DF2-AB34-4CB1-96F4-C9AE74ABAD10}" dt="2026-08-12T10:58:27.973" v="150" actId="20577"/>
          <ac:spMkLst>
            <pc:docMk/>
            <pc:sldMk cId="1754488106" sldId="284"/>
            <ac:spMk id="2" creationId="{A9FC941F-E56F-62F2-2850-907901D5D99A}"/>
          </ac:spMkLst>
        </pc:spChg>
        <pc:spChg chg="del">
          <ac:chgData name="Jahnavi reddy" userId="2322ce0e682a051e" providerId="LiveId" clId="{17625DF2-AB34-4CB1-96F4-C9AE74ABAD10}" dt="2026-08-12T10:58:24.619" v="146" actId="478"/>
          <ac:spMkLst>
            <pc:docMk/>
            <pc:sldMk cId="1754488106" sldId="284"/>
            <ac:spMk id="10" creationId="{F950F531-ED04-629B-B3DA-79D4527D7F89}"/>
          </ac:spMkLst>
        </pc:spChg>
        <pc:spChg chg="add mod">
          <ac:chgData name="Jahnavi reddy" userId="2322ce0e682a051e" providerId="LiveId" clId="{17625DF2-AB34-4CB1-96F4-C9AE74ABAD10}" dt="2026-08-12T10:58:34.432" v="152" actId="1076"/>
          <ac:spMkLst>
            <pc:docMk/>
            <pc:sldMk cId="1754488106" sldId="284"/>
            <ac:spMk id="11" creationId="{8443771D-570E-49D6-70E6-2DCFEA4EE3D7}"/>
          </ac:spMkLst>
        </pc:spChg>
        <pc:picChg chg="add mod">
          <ac:chgData name="Jahnavi reddy" userId="2322ce0e682a051e" providerId="LiveId" clId="{17625DF2-AB34-4CB1-96F4-C9AE74ABAD10}" dt="2026-08-12T11:04:57.181" v="251" actId="1076"/>
          <ac:picMkLst>
            <pc:docMk/>
            <pc:sldMk cId="1754488106" sldId="284"/>
            <ac:picMk id="14" creationId="{31FDDEA7-2D5C-C16F-959C-4086AA5C7F9E}"/>
          </ac:picMkLst>
        </pc:picChg>
        <pc:picChg chg="del">
          <ac:chgData name="Jahnavi reddy" userId="2322ce0e682a051e" providerId="LiveId" clId="{17625DF2-AB34-4CB1-96F4-C9AE74ABAD10}" dt="2026-08-12T11:04:46.506" v="247" actId="478"/>
          <ac:picMkLst>
            <pc:docMk/>
            <pc:sldMk cId="1754488106" sldId="284"/>
            <ac:picMk id="16" creationId="{1FB03EE0-7405-CE30-DFDF-FA5D1DD76C92}"/>
          </ac:picMkLst>
        </pc:picChg>
      </pc:sldChg>
      <pc:sldChg chg="addSp delSp modSp mod">
        <pc:chgData name="Jahnavi reddy" userId="2322ce0e682a051e" providerId="LiveId" clId="{17625DF2-AB34-4CB1-96F4-C9AE74ABAD10}" dt="2026-08-12T11:04:30.413" v="246" actId="14100"/>
        <pc:sldMkLst>
          <pc:docMk/>
          <pc:sldMk cId="387066297" sldId="285"/>
        </pc:sldMkLst>
        <pc:spChg chg="mod">
          <ac:chgData name="Jahnavi reddy" userId="2322ce0e682a051e" providerId="LiveId" clId="{17625DF2-AB34-4CB1-96F4-C9AE74ABAD10}" dt="2026-08-12T10:58:45.038" v="156" actId="20577"/>
          <ac:spMkLst>
            <pc:docMk/>
            <pc:sldMk cId="387066297" sldId="285"/>
            <ac:spMk id="2" creationId="{1F629C76-ADB2-53FC-DE54-419C7E21CBE1}"/>
          </ac:spMkLst>
        </pc:spChg>
        <pc:spChg chg="del">
          <ac:chgData name="Jahnavi reddy" userId="2322ce0e682a051e" providerId="LiveId" clId="{17625DF2-AB34-4CB1-96F4-C9AE74ABAD10}" dt="2026-08-12T10:58:57.610" v="157" actId="478"/>
          <ac:spMkLst>
            <pc:docMk/>
            <pc:sldMk cId="387066297" sldId="285"/>
            <ac:spMk id="10" creationId="{383F5940-BE54-901B-C79D-28D0F5CF35E6}"/>
          </ac:spMkLst>
        </pc:spChg>
        <pc:spChg chg="add mod">
          <ac:chgData name="Jahnavi reddy" userId="2322ce0e682a051e" providerId="LiveId" clId="{17625DF2-AB34-4CB1-96F4-C9AE74ABAD10}" dt="2026-08-12T10:59:02.914" v="159" actId="1076"/>
          <ac:spMkLst>
            <pc:docMk/>
            <pc:sldMk cId="387066297" sldId="285"/>
            <ac:spMk id="11" creationId="{1B474164-C3F3-8054-82CA-D29A29E829C2}"/>
          </ac:spMkLst>
        </pc:spChg>
        <pc:picChg chg="del">
          <ac:chgData name="Jahnavi reddy" userId="2322ce0e682a051e" providerId="LiveId" clId="{17625DF2-AB34-4CB1-96F4-C9AE74ABAD10}" dt="2026-08-12T11:04:00.704" v="237" actId="478"/>
          <ac:picMkLst>
            <pc:docMk/>
            <pc:sldMk cId="387066297" sldId="285"/>
            <ac:picMk id="6" creationId="{530AE059-1F0F-2CB9-3403-82FAECBD80B4}"/>
          </ac:picMkLst>
        </pc:picChg>
        <pc:picChg chg="add mod">
          <ac:chgData name="Jahnavi reddy" userId="2322ce0e682a051e" providerId="LiveId" clId="{17625DF2-AB34-4CB1-96F4-C9AE74ABAD10}" dt="2026-08-12T11:04:30.413" v="246" actId="14100"/>
          <ac:picMkLst>
            <pc:docMk/>
            <pc:sldMk cId="387066297" sldId="285"/>
            <ac:picMk id="14" creationId="{4F0DA660-B370-FEFA-7C5A-1EBE7BBF95A3}"/>
          </ac:picMkLst>
        </pc:picChg>
      </pc:sldChg>
      <pc:sldChg chg="addSp delSp modSp mod">
        <pc:chgData name="Jahnavi reddy" userId="2322ce0e682a051e" providerId="LiveId" clId="{17625DF2-AB34-4CB1-96F4-C9AE74ABAD10}" dt="2026-08-12T11:03:37.564" v="236" actId="1076"/>
        <pc:sldMkLst>
          <pc:docMk/>
          <pc:sldMk cId="1721663141" sldId="286"/>
        </pc:sldMkLst>
        <pc:spChg chg="mod">
          <ac:chgData name="Jahnavi reddy" userId="2322ce0e682a051e" providerId="LiveId" clId="{17625DF2-AB34-4CB1-96F4-C9AE74ABAD10}" dt="2026-08-12T10:59:16.794" v="166" actId="20577"/>
          <ac:spMkLst>
            <pc:docMk/>
            <pc:sldMk cId="1721663141" sldId="286"/>
            <ac:spMk id="2" creationId="{D304B58D-7B4A-D8A3-5CD6-C261F07BD3E9}"/>
          </ac:spMkLst>
        </pc:spChg>
        <pc:spChg chg="del">
          <ac:chgData name="Jahnavi reddy" userId="2322ce0e682a051e" providerId="LiveId" clId="{17625DF2-AB34-4CB1-96F4-C9AE74ABAD10}" dt="2026-08-12T10:59:07.752" v="160" actId="478"/>
          <ac:spMkLst>
            <pc:docMk/>
            <pc:sldMk cId="1721663141" sldId="286"/>
            <ac:spMk id="10" creationId="{B727878B-060F-B3CF-63C5-BEAC37B38172}"/>
          </ac:spMkLst>
        </pc:spChg>
        <pc:spChg chg="add mod">
          <ac:chgData name="Jahnavi reddy" userId="2322ce0e682a051e" providerId="LiveId" clId="{17625DF2-AB34-4CB1-96F4-C9AE74ABAD10}" dt="2026-08-12T10:59:12.708" v="162" actId="1076"/>
          <ac:spMkLst>
            <pc:docMk/>
            <pc:sldMk cId="1721663141" sldId="286"/>
            <ac:spMk id="11" creationId="{8EB9D442-2EA2-B411-B92B-DA84186B0BB7}"/>
          </ac:spMkLst>
        </pc:spChg>
        <pc:picChg chg="add mod">
          <ac:chgData name="Jahnavi reddy" userId="2322ce0e682a051e" providerId="LiveId" clId="{17625DF2-AB34-4CB1-96F4-C9AE74ABAD10}" dt="2026-08-12T11:03:37.564" v="236" actId="1076"/>
          <ac:picMkLst>
            <pc:docMk/>
            <pc:sldMk cId="1721663141" sldId="286"/>
            <ac:picMk id="14" creationId="{4392F466-D56E-8AA6-BC38-E9E5F9A2A7A4}"/>
          </ac:picMkLst>
        </pc:picChg>
        <pc:picChg chg="del">
          <ac:chgData name="Jahnavi reddy" userId="2322ce0e682a051e" providerId="LiveId" clId="{17625DF2-AB34-4CB1-96F4-C9AE74ABAD10}" dt="2026-08-12T11:03:15.041" v="230" actId="478"/>
          <ac:picMkLst>
            <pc:docMk/>
            <pc:sldMk cId="1721663141" sldId="286"/>
            <ac:picMk id="16" creationId="{EAF7A663-4F63-C6FF-75DA-39A0EB04D2F0}"/>
          </ac:picMkLst>
        </pc:picChg>
      </pc:sldChg>
      <pc:sldChg chg="addSp delSp modSp mod">
        <pc:chgData name="Jahnavi reddy" userId="2322ce0e682a051e" providerId="LiveId" clId="{17625DF2-AB34-4CB1-96F4-C9AE74ABAD10}" dt="2026-08-12T11:03:03.970" v="229" actId="14100"/>
        <pc:sldMkLst>
          <pc:docMk/>
          <pc:sldMk cId="2965933650" sldId="287"/>
        </pc:sldMkLst>
        <pc:spChg chg="mod">
          <ac:chgData name="Jahnavi reddy" userId="2322ce0e682a051e" providerId="LiveId" clId="{17625DF2-AB34-4CB1-96F4-C9AE74ABAD10}" dt="2026-08-12T10:59:45.889" v="176" actId="20577"/>
          <ac:spMkLst>
            <pc:docMk/>
            <pc:sldMk cId="2965933650" sldId="287"/>
            <ac:spMk id="2" creationId="{92487D93-4D65-CFAC-9B8A-8FF702FA4D50}"/>
          </ac:spMkLst>
        </pc:spChg>
        <pc:spChg chg="del">
          <ac:chgData name="Jahnavi reddy" userId="2322ce0e682a051e" providerId="LiveId" clId="{17625DF2-AB34-4CB1-96F4-C9AE74ABAD10}" dt="2026-08-12T10:59:26.404" v="167" actId="478"/>
          <ac:spMkLst>
            <pc:docMk/>
            <pc:sldMk cId="2965933650" sldId="287"/>
            <ac:spMk id="10" creationId="{4DC0B060-D1DC-8BEF-DC44-EBE3D4549227}"/>
          </ac:spMkLst>
        </pc:spChg>
        <pc:spChg chg="add mod">
          <ac:chgData name="Jahnavi reddy" userId="2322ce0e682a051e" providerId="LiveId" clId="{17625DF2-AB34-4CB1-96F4-C9AE74ABAD10}" dt="2026-08-12T10:59:42.238" v="172" actId="1076"/>
          <ac:spMkLst>
            <pc:docMk/>
            <pc:sldMk cId="2965933650" sldId="287"/>
            <ac:spMk id="11" creationId="{06BE8DBB-6AA2-0D0C-586D-1CF03DFB8EBC}"/>
          </ac:spMkLst>
        </pc:spChg>
        <pc:picChg chg="del">
          <ac:chgData name="Jahnavi reddy" userId="2322ce0e682a051e" providerId="LiveId" clId="{17625DF2-AB34-4CB1-96F4-C9AE74ABAD10}" dt="2026-08-12T11:01:50.970" v="221" actId="478"/>
          <ac:picMkLst>
            <pc:docMk/>
            <pc:sldMk cId="2965933650" sldId="287"/>
            <ac:picMk id="6" creationId="{741B72F1-AA4E-81F2-C228-6B287126D7E1}"/>
          </ac:picMkLst>
        </pc:picChg>
        <pc:picChg chg="mod">
          <ac:chgData name="Jahnavi reddy" userId="2322ce0e682a051e" providerId="LiveId" clId="{17625DF2-AB34-4CB1-96F4-C9AE74ABAD10}" dt="2026-08-12T10:59:38.808" v="171" actId="14100"/>
          <ac:picMkLst>
            <pc:docMk/>
            <pc:sldMk cId="2965933650" sldId="287"/>
            <ac:picMk id="13" creationId="{B5072232-E33B-9BD7-5671-6495F1337A8E}"/>
          </ac:picMkLst>
        </pc:picChg>
        <pc:picChg chg="add mod">
          <ac:chgData name="Jahnavi reddy" userId="2322ce0e682a051e" providerId="LiveId" clId="{17625DF2-AB34-4CB1-96F4-C9AE74ABAD10}" dt="2026-08-12T11:03:03.970" v="229" actId="14100"/>
          <ac:picMkLst>
            <pc:docMk/>
            <pc:sldMk cId="2965933650" sldId="287"/>
            <ac:picMk id="14" creationId="{D1702F8C-1921-3B8D-58D7-2E3BBAB75A9C}"/>
          </ac:picMkLst>
        </pc:picChg>
      </pc:sldChg>
      <pc:sldChg chg="addSp delSp modSp mod">
        <pc:chgData name="Jahnavi reddy" userId="2322ce0e682a051e" providerId="LiveId" clId="{17625DF2-AB34-4CB1-96F4-C9AE74ABAD10}" dt="2026-08-12T11:01:06.414" v="208" actId="1076"/>
        <pc:sldMkLst>
          <pc:docMk/>
          <pc:sldMk cId="1574032915" sldId="288"/>
        </pc:sldMkLst>
        <pc:spChg chg="mod">
          <ac:chgData name="Jahnavi reddy" userId="2322ce0e682a051e" providerId="LiveId" clId="{17625DF2-AB34-4CB1-96F4-C9AE74ABAD10}" dt="2026-08-12T11:00:00.594" v="183" actId="20577"/>
          <ac:spMkLst>
            <pc:docMk/>
            <pc:sldMk cId="1574032915" sldId="288"/>
            <ac:spMk id="2" creationId="{66CD407D-573C-9313-CB5E-11443AF2C3B2}"/>
          </ac:spMkLst>
        </pc:spChg>
        <pc:spChg chg="del">
          <ac:chgData name="Jahnavi reddy" userId="2322ce0e682a051e" providerId="LiveId" clId="{17625DF2-AB34-4CB1-96F4-C9AE74ABAD10}" dt="2026-08-12T10:59:52.056" v="177" actId="478"/>
          <ac:spMkLst>
            <pc:docMk/>
            <pc:sldMk cId="1574032915" sldId="288"/>
            <ac:spMk id="10" creationId="{517A86D9-E38B-DE52-1046-0E395331A411}"/>
          </ac:spMkLst>
        </pc:spChg>
        <pc:spChg chg="add mod">
          <ac:chgData name="Jahnavi reddy" userId="2322ce0e682a051e" providerId="LiveId" clId="{17625DF2-AB34-4CB1-96F4-C9AE74ABAD10}" dt="2026-08-12T10:59:57.013" v="179" actId="1076"/>
          <ac:spMkLst>
            <pc:docMk/>
            <pc:sldMk cId="1574032915" sldId="288"/>
            <ac:spMk id="11" creationId="{D888626F-A156-4564-832E-FFD104DB67D0}"/>
          </ac:spMkLst>
        </pc:spChg>
        <pc:picChg chg="add mod">
          <ac:chgData name="Jahnavi reddy" userId="2322ce0e682a051e" providerId="LiveId" clId="{17625DF2-AB34-4CB1-96F4-C9AE74ABAD10}" dt="2026-08-12T11:01:06.414" v="208" actId="1076"/>
          <ac:picMkLst>
            <pc:docMk/>
            <pc:sldMk cId="1574032915" sldId="288"/>
            <ac:picMk id="14" creationId="{BB31C6ED-D802-C7EB-0722-BA48DD8B63E2}"/>
          </ac:picMkLst>
        </pc:picChg>
        <pc:picChg chg="del">
          <ac:chgData name="Jahnavi reddy" userId="2322ce0e682a051e" providerId="LiveId" clId="{17625DF2-AB34-4CB1-96F4-C9AE74ABAD10}" dt="2026-08-12T11:00:52.567" v="200" actId="478"/>
          <ac:picMkLst>
            <pc:docMk/>
            <pc:sldMk cId="1574032915" sldId="288"/>
            <ac:picMk id="16" creationId="{7515D0B2-BAF5-78F9-DA17-953FA1059253}"/>
          </ac:picMkLst>
        </pc:picChg>
      </pc:sldChg>
      <pc:sldChg chg="addSp delSp modSp mod">
        <pc:chgData name="Jahnavi reddy" userId="2322ce0e682a051e" providerId="LiveId" clId="{17625DF2-AB34-4CB1-96F4-C9AE74ABAD10}" dt="2026-08-12T11:00:38.684" v="199" actId="14100"/>
        <pc:sldMkLst>
          <pc:docMk/>
          <pc:sldMk cId="1047535215" sldId="289"/>
        </pc:sldMkLst>
        <pc:spChg chg="mod">
          <ac:chgData name="Jahnavi reddy" userId="2322ce0e682a051e" providerId="LiveId" clId="{17625DF2-AB34-4CB1-96F4-C9AE74ABAD10}" dt="2026-08-12T11:00:16.710" v="192" actId="20577"/>
          <ac:spMkLst>
            <pc:docMk/>
            <pc:sldMk cId="1047535215" sldId="289"/>
            <ac:spMk id="2" creationId="{1906C431-0BBF-1A25-044B-F44D06F78976}"/>
          </ac:spMkLst>
        </pc:spChg>
        <pc:spChg chg="del">
          <ac:chgData name="Jahnavi reddy" userId="2322ce0e682a051e" providerId="LiveId" clId="{17625DF2-AB34-4CB1-96F4-C9AE74ABAD10}" dt="2026-08-12T11:00:07.284" v="184" actId="478"/>
          <ac:spMkLst>
            <pc:docMk/>
            <pc:sldMk cId="1047535215" sldId="289"/>
            <ac:spMk id="10" creationId="{9E0F184E-5ED0-13D5-165B-A3DBF2507EFF}"/>
          </ac:spMkLst>
        </pc:spChg>
        <pc:spChg chg="add mod">
          <ac:chgData name="Jahnavi reddy" userId="2322ce0e682a051e" providerId="LiveId" clId="{17625DF2-AB34-4CB1-96F4-C9AE74ABAD10}" dt="2026-08-12T11:00:11.861" v="186" actId="1076"/>
          <ac:spMkLst>
            <pc:docMk/>
            <pc:sldMk cId="1047535215" sldId="289"/>
            <ac:spMk id="11" creationId="{CD82040F-A9AF-CD5B-DBD2-AF12EDD844F9}"/>
          </ac:spMkLst>
        </pc:spChg>
        <pc:picChg chg="del">
          <ac:chgData name="Jahnavi reddy" userId="2322ce0e682a051e" providerId="LiveId" clId="{17625DF2-AB34-4CB1-96F4-C9AE74ABAD10}" dt="2026-08-12T11:00:22.029" v="193" actId="478"/>
          <ac:picMkLst>
            <pc:docMk/>
            <pc:sldMk cId="1047535215" sldId="289"/>
            <ac:picMk id="6" creationId="{9ED85844-EEE4-FE68-CE0D-1700AB79B156}"/>
          </ac:picMkLst>
        </pc:picChg>
        <pc:picChg chg="add mod">
          <ac:chgData name="Jahnavi reddy" userId="2322ce0e682a051e" providerId="LiveId" clId="{17625DF2-AB34-4CB1-96F4-C9AE74ABAD10}" dt="2026-08-12T11:00:38.684" v="199" actId="14100"/>
          <ac:picMkLst>
            <pc:docMk/>
            <pc:sldMk cId="1047535215" sldId="289"/>
            <ac:picMk id="14" creationId="{7D6CBE0F-C82C-0956-9EEE-C6E9FE8157CA}"/>
          </ac:picMkLst>
        </pc:picChg>
      </pc:sldChg>
      <pc:sldChg chg="addSp delSp modSp mod">
        <pc:chgData name="Jahnavi reddy" userId="2322ce0e682a051e" providerId="LiveId" clId="{17625DF2-AB34-4CB1-96F4-C9AE74ABAD10}" dt="2026-08-12T11:01:46.685" v="220" actId="1076"/>
        <pc:sldMkLst>
          <pc:docMk/>
          <pc:sldMk cId="1129148166" sldId="291"/>
        </pc:sldMkLst>
        <pc:picChg chg="add mod">
          <ac:chgData name="Jahnavi reddy" userId="2322ce0e682a051e" providerId="LiveId" clId="{17625DF2-AB34-4CB1-96F4-C9AE74ABAD10}" dt="2026-08-12T11:01:46.685" v="220" actId="1076"/>
          <ac:picMkLst>
            <pc:docMk/>
            <pc:sldMk cId="1129148166" sldId="291"/>
            <ac:picMk id="11" creationId="{378393B5-7CC8-C52D-9F31-C5CA8FCF822E}"/>
          </ac:picMkLst>
        </pc:picChg>
        <pc:picChg chg="del">
          <ac:chgData name="Jahnavi reddy" userId="2322ce0e682a051e" providerId="LiveId" clId="{17625DF2-AB34-4CB1-96F4-C9AE74ABAD10}" dt="2026-08-12T11:01:15.379" v="209" actId="478"/>
          <ac:picMkLst>
            <pc:docMk/>
            <pc:sldMk cId="1129148166" sldId="291"/>
            <ac:picMk id="16" creationId="{0B4EFABA-09FC-CD70-63B4-FB067E251348}"/>
          </ac:picMkLst>
        </pc:pic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FIO–RBS</c:v>
          </c:tx>
          <c:spPr>
            <a:solidFill>
              <a:srgbClr val="0F766E"/>
            </a:solidFill>
          </c:spPr>
          <c:invertIfNegative val="1"/>
          <c:cat>
            <c:strLit>
              <c:ptCount val="3"/>
              <c:pt idx="0">
                <c:v>σ=10⁻⁵</c:v>
              </c:pt>
              <c:pt idx="1">
                <c:v>σ=10⁻⁶</c:v>
              </c:pt>
              <c:pt idx="2">
                <c:v>σ=10⁻⁷</c:v>
              </c:pt>
            </c:strLit>
          </c:cat>
          <c:val>
            <c:numLit>
              <c:formatCode>General</c:formatCode>
              <c:ptCount val="3"/>
              <c:pt idx="0">
                <c:v>0.47798170000000001</c:v>
              </c:pt>
              <c:pt idx="1">
                <c:v>0.27583000000000002</c:v>
              </c:pt>
              <c:pt idx="2">
                <c:v>0.52449959999999995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E6B-4005-B335-7CC9733F2F65}"/>
            </c:ext>
          </c:extLst>
        </c:ser>
        <c:ser>
          <c:idx val="1"/>
          <c:order val="1"/>
          <c:tx>
            <c:v>FIO–asymptotic</c:v>
          </c:tx>
          <c:spPr>
            <a:solidFill>
              <a:srgbClr val="B45309"/>
            </a:solidFill>
          </c:spPr>
          <c:invertIfNegative val="1"/>
          <c:cat>
            <c:strLit>
              <c:ptCount val="3"/>
              <c:pt idx="0">
                <c:v>σ=10⁻⁵</c:v>
              </c:pt>
              <c:pt idx="1">
                <c:v>σ=10⁻⁶</c:v>
              </c:pt>
              <c:pt idx="2">
                <c:v>σ=10⁻⁷</c:v>
              </c:pt>
            </c:strLit>
          </c:cat>
          <c:val>
            <c:numLit>
              <c:formatCode>General</c:formatCode>
              <c:ptCount val="3"/>
              <c:pt idx="0">
                <c:v>2.191522</c:v>
              </c:pt>
              <c:pt idx="1">
                <c:v>2.7907039999999999</c:v>
              </c:pt>
              <c:pt idx="2">
                <c:v>1.4162600000000001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E6B-4005-B335-7CC9733F2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11827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.2"/>
          <c:min val="0"/>
        </c:scaling>
        <c:delete val="0"/>
        <c:axPos val="l"/>
        <c:majorGridlines>
          <c:spPr>
            <a:ln w="9525">
              <a:solidFill>
                <a:srgbClr val="D8DEE6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IN"/>
                  <a:t>RMS relative parameter error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0.8"/>
      </c:valAx>
      <c:spPr>
        <a:noFill/>
        <a:ln w="0">
          <a:noFill/>
          <a:prstDash val="solid"/>
        </a:ln>
      </c:spPr>
    </c:plotArea>
    <c:legend>
      <c:legendPos val="b"/>
      <c:overlay val="0"/>
    </c:legend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Open with the central problem: reliable MeOH kinetics need informative experiments, but full CFD makes adaptive experiment design expensive.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Stress that speed alone is not the goal. The decision loop must be both physically credible and information efficient.</a:t>
            </a:r>
            <a:r>
              <a:rPr lang="en-IN" dirty="0"/>
              <a:t> </a:t>
            </a:r>
          </a:p>
          <a:p>
            <a:r>
              <a:rPr lang="en-IN" dirty="0"/>
              <a:t>where:</a:t>
            </a:r>
          </a:p>
          <a:p>
            <a:pPr lvl="0"/>
            <a:r>
              <a:rPr lang="en-IN" dirty="0"/>
              <a:t>y is the measured reactor output,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G is nonlinear forward-model function</a:t>
            </a:r>
          </a:p>
          <a:p>
            <a:pPr lvl="0"/>
            <a:r>
              <a:rPr lang="en-IN" dirty="0"/>
              <a:t>theta is the unknown kinetic parameter vector,</a:t>
            </a:r>
          </a:p>
          <a:p>
            <a:pPr lvl="0"/>
            <a:r>
              <a:rPr lang="en-IN" dirty="0"/>
              <a:t>d is the experimental design, -operating conditions</a:t>
            </a:r>
          </a:p>
          <a:p>
            <a:pPr lvl="0"/>
            <a:r>
              <a:rPr lang="en-IN" dirty="0"/>
              <a:t>epsilon represents measurement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contribution is the combined workflow: physics-based reduction, kinetic inversion, and optimal experimental design.</a:t>
            </a:r>
            <a:endParaRPr lang="en-IN" dirty="0"/>
          </a:p>
          <a:p>
            <a:r>
              <a:rPr lang="en-IN" dirty="0"/>
              <a:t>The thesis develops a fast, physics-based route to select experiments for methanol kinetic estimation.</a:t>
            </a:r>
          </a:p>
          <a:p>
            <a:r>
              <a:rPr lang="en-IN" dirty="0"/>
              <a:t>Use three objectives:</a:t>
            </a:r>
          </a:p>
          <a:p>
            <a:pPr lvl="0"/>
            <a:r>
              <a:rPr lang="en-IN" dirty="0"/>
              <a:t>Develop a ROM/RBS forward model for the reacting CO_2–H_2 system.</a:t>
            </a:r>
          </a:p>
          <a:p>
            <a:pPr lvl="0"/>
            <a:r>
              <a:rPr lang="en-IN" dirty="0"/>
              <a:t>Estimate nine methanol kinetic parameters from noisy synthetic outlet data.</a:t>
            </a:r>
          </a:p>
          <a:p>
            <a:pPr lvl="0"/>
            <a:r>
              <a:rPr lang="en-IN" dirty="0"/>
              <a:t>Select experimental conditions using Bayesian optimization and D-optimal information.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Introduce the physical system before discussing computation. N2 is inert; CO2 hydrogenation follows methanol synthesis and RWGS pathways.</a:t>
            </a:r>
            <a:endParaRPr lang="en-IN" dirty="0"/>
          </a:p>
          <a:p>
            <a:r>
              <a:rPr lang="en-IN" dirty="0"/>
              <a:t>Parabolic </a:t>
            </a:r>
            <a:r>
              <a:rPr lang="en-IN" dirty="0" err="1"/>
              <a:t>hagen</a:t>
            </a:r>
            <a:r>
              <a:rPr lang="en-IN" dirty="0"/>
              <a:t> Poiseuille velocity = max at </a:t>
            </a:r>
            <a:r>
              <a:rPr lang="en-IN" dirty="0" err="1"/>
              <a:t>center</a:t>
            </a:r>
            <a:r>
              <a:rPr lang="en-IN" dirty="0"/>
              <a:t> 4u and 0 velocity at the walls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dirty="0"/>
                  <a:t>The timing values are from the ROM-paper benchmark and motivate the offline-online reduction. They are not a claim about the exact runtime of this thesis code.</a:t>
                </a:r>
              </a:p>
              <a:p>
                <a:pPr lvl="0"/>
                <a:r>
                  <a:rPr lang="en-IN" dirty="0"/>
                  <a:t>Flow transports reactants.--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200" i="0" dirty="0">
                            <a:solidFill>
                              <a:srgbClr val="11182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IN" sz="1200" i="0" dirty="0">
                            <a:solidFill>
                              <a:srgbClr val="11182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</m:e>
                      <m:sup>
                        <m:r>
                          <a:rPr lang="ar-AE" sz="120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en-IN" dirty="0"/>
                  <a:t>Diffusive species mass flux , </a:t>
                </a:r>
                <a:r>
                  <a:rPr lang="en-IN" sz="1200" b="0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∇ - </a:t>
                </a:r>
                <a:r>
                  <a:rPr lang="en-IN" dirty="0"/>
                  <a:t>Divergence operator</a:t>
                </a:r>
              </a:p>
              <a:p>
                <a:pPr lvl="0"/>
                <a:r>
                  <a:rPr lang="en-IN" dirty="0"/>
                  <a:t>Diffusion.-- </a:t>
                </a:r>
                <a14:m>
                  <m:oMath xmlns:m="http://schemas.openxmlformats.org/officeDocument/2006/math">
                    <m:r>
                      <a:rPr lang="ar-AE" sz="1200" b="0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Cambria Math"/>
                      </a:rPr>
                      <m:t>𝐷</m:t>
                    </m:r>
                  </m:oMath>
                </a14:m>
                <a:r>
                  <a:rPr lang="en-IN" dirty="0"/>
                  <a:t>-Multicomponent diffusion coefficient, </a:t>
                </a:r>
              </a:p>
              <a:p>
                <a:pPr lvl="0"/>
                <a:r>
                  <a:rPr lang="en-IN" dirty="0"/>
                  <a:t>Reaction of catalyst surface -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200" i="0" dirty="0" smtClean="0">
                        <a:solidFill>
                          <a:srgbClr val="111827"/>
                        </a:solidFill>
                        <a:latin typeface="Cambria Math"/>
                        <a:ea typeface="Cambria Math"/>
                        <a:cs typeface="Cambria Math"/>
                      </a:rPr>
                      <m:t>n·Jᵅ </m:t>
                    </m:r>
                  </m:oMath>
                </a14:m>
                <a:r>
                  <a:rPr lang="en-IN" dirty="0"/>
                  <a:t> - Normal diffusive flux to/from the catalyst</a:t>
                </a:r>
              </a:p>
              <a:p>
                <a:pPr lvl="0"/>
                <a:r>
                  <a:rPr lang="en-IN" dirty="0"/>
                  <a:t>Nonlinear kinetics determine surface consumption and production.</a:t>
                </a:r>
              </a:p>
              <a:p>
                <a:pPr lvl="0"/>
                <a:r>
                  <a:rPr lang="en-IN" dirty="0"/>
                  <a:t>The equations must be solved repeatedly during estimation and design.</a:t>
                </a:r>
              </a:p>
              <a:p>
                <a:pPr lvl="0"/>
                <a:r>
                  <a:rPr lang="en-IN" dirty="0"/>
                  <a:t>A single full CFD simulation may be manageable. Hundreds or thousands of simulations inside parameter estimation or experimental design become computationally expensive.</a:t>
                </a:r>
              </a:p>
              <a:p>
                <a:pPr lvl="0"/>
                <a:r>
                  <a:rPr lang="en-IN" dirty="0"/>
                  <a:t>Replace repeated expensive CFD calculations with a fast physics-based reduced-order model while retaining the important transport and reaction </a:t>
                </a:r>
                <a:r>
                  <a:rPr lang="en-IN" dirty="0" err="1"/>
                  <a:t>behavior</a:t>
                </a:r>
                <a:r>
                  <a:rPr lang="en-IN" dirty="0"/>
                  <a:t> along with intelligent experiment selection.</a:t>
                </a:r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dirty="0"/>
                  <a:t>The timing values are from the ROM-paper benchmark and motivate the offline-online reduction. They are not a claim about the exact runtime of this thesis code.</a:t>
                </a:r>
              </a:p>
              <a:p>
                <a:pPr lvl="0"/>
                <a:r>
                  <a:rPr lang="en-IN" dirty="0"/>
                  <a:t>Flow transports reactants.--</a:t>
                </a:r>
                <a:r>
                  <a:rPr lang="en-IN" sz="1200" i="0" dirty="0">
                    <a:solidFill>
                      <a:srgbClr val="111827"/>
                    </a:solidFill>
                    <a:latin typeface="Cambria Math"/>
                    <a:ea typeface="Cambria Math"/>
                  </a:rPr>
                  <a:t>"</a:t>
                </a:r>
                <a:r>
                  <a:rPr lang="en-IN" sz="1200" i="0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J</a:t>
                </a:r>
                <a:r>
                  <a:rPr lang="en-IN" sz="1200" i="0" dirty="0">
                    <a:solidFill>
                      <a:srgbClr val="111827"/>
                    </a:solidFill>
                    <a:latin typeface="Cambria Math" panose="02040503050406030204" pitchFamily="18" charset="0"/>
                    <a:ea typeface="Cambria Math"/>
                    <a:cs typeface="Cambria Math"/>
                  </a:rPr>
                  <a:t>" ^</a:t>
                </a:r>
                <a:r>
                  <a:rPr lang="ar-AE" sz="1200" i="0" dirty="0">
                    <a:solidFill>
                      <a:srgbClr val="11182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𝛼</a:t>
                </a:r>
                <a:r>
                  <a:rPr lang="en-IN" dirty="0"/>
                  <a:t>Diffusive species mass flux , </a:t>
                </a:r>
                <a:r>
                  <a:rPr lang="en-IN" sz="1200" b="0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∇ - </a:t>
                </a:r>
                <a:r>
                  <a:rPr lang="en-IN" dirty="0"/>
                  <a:t>Divergence operator</a:t>
                </a:r>
              </a:p>
              <a:p>
                <a:pPr lvl="0"/>
                <a:r>
                  <a:rPr lang="en-IN" dirty="0"/>
                  <a:t>Diffusion.-- </a:t>
                </a:r>
                <a:r>
                  <a:rPr lang="ar-AE" sz="1200" b="0" i="0" dirty="0">
                    <a:solidFill>
                      <a:srgbClr val="111827"/>
                    </a:solidFill>
                    <a:latin typeface="Cambria Math" panose="02040503050406030204" pitchFamily="18" charset="0"/>
                    <a:ea typeface="Cambria Math"/>
                  </a:rPr>
                  <a:t>𝐷</a:t>
                </a:r>
                <a:r>
                  <a:rPr lang="en-IN" dirty="0"/>
                  <a:t>-Multicomponent diffusion coefficient, </a:t>
                </a:r>
              </a:p>
              <a:p>
                <a:pPr lvl="0"/>
                <a:r>
                  <a:rPr lang="en-IN" dirty="0"/>
                  <a:t>Reaction of catalyst surface - </a:t>
                </a:r>
                <a:r>
                  <a:rPr lang="en-IN" sz="1200" i="0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"n·Jᵅ "</a:t>
                </a:r>
                <a:r>
                  <a:rPr lang="en-IN" dirty="0"/>
                  <a:t> - Normal diffusive flux to/from the catalyst</a:t>
                </a:r>
              </a:p>
              <a:p>
                <a:pPr lvl="0"/>
                <a:r>
                  <a:rPr lang="en-IN" dirty="0"/>
                  <a:t>Nonlinear kinetics determine surface consumption and production.</a:t>
                </a:r>
              </a:p>
              <a:p>
                <a:pPr lvl="0"/>
                <a:r>
                  <a:rPr lang="en-IN" dirty="0"/>
                  <a:t>The equations must be solved repeatedly during estimation and design.</a:t>
                </a:r>
              </a:p>
              <a:p>
                <a:pPr lvl="0"/>
                <a:r>
                  <a:rPr lang="en-IN" dirty="0"/>
                  <a:t>A single full CFD simulation may be manageable. Hundreds or thousands of simulations inside parameter estimation or experimental design become computationally expensive.</a:t>
                </a:r>
              </a:p>
              <a:p>
                <a:pPr lvl="0"/>
                <a:r>
                  <a:rPr lang="en-IN" dirty="0"/>
                  <a:t>Replace repeated expensive CFD calculations with a fast physics-based reduced-order model while retaining the important transport and reaction </a:t>
                </a:r>
                <a:r>
                  <a:rPr lang="en-IN" dirty="0" err="1"/>
                  <a:t>behavior</a:t>
                </a:r>
                <a:r>
                  <a:rPr lang="en-IN" dirty="0"/>
                  <a:t> along with intelligent experiment selection.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dirty="0"/>
                  <a:t>thesis uses both the asymptotic ROM and a fuller reduced-basis representation. The online model remains much cheaper than the full PDE system.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200" b="0" i="0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200" b="0" i="0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200" b="0" i="0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ZRS</m:t>
                        </m:r>
                      </m:sub>
                    </m:sSub>
                  </m:oMath>
                </a14:m>
                <a:r>
                  <a:rPr lang="en-IN" dirty="0"/>
                  <a:t> - Zero-reaction solution - Species field solved with catalytic reaction rates set to zero. It captures convection and diffusion only.</a:t>
                </a:r>
                <a:endParaRPr dirty="0"/>
              </a:p>
              <a:p>
                <a:r>
                  <a:rPr lang="en-IN" dirty="0"/>
                  <a:t>\(\</a:t>
                </a:r>
                <a:r>
                  <a:rPr lang="en-IN" dirty="0" err="1"/>
                  <a:t>phi_r</a:t>
                </a:r>
                <a:r>
                  <a:rPr lang="en-IN" dirty="0"/>
                  <a:t>\) - Reduced-basis response field</a:t>
                </a:r>
              </a:p>
              <a:p>
                <a:r>
                  <a:rPr lang="en-IN" dirty="0"/>
                  <a:t> \(</a:t>
                </a:r>
                <a:r>
                  <a:rPr lang="en-IN" dirty="0" err="1"/>
                  <a:t>a_r</a:t>
                </a:r>
                <a:r>
                  <a:rPr lang="en-IN" dirty="0"/>
                  <a:t>\) - Online basis coefficient</a:t>
                </a:r>
                <a:endParaRPr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dirty="0"/>
                  <a:t>thesis uses both the asymptotic ROM and a fuller reduced-basis representation. The online model remains much cheaper than the full PDE system.</a:t>
                </a:r>
                <a:endParaRPr lang="en-IN" dirty="0"/>
              </a:p>
              <a:p>
                <a:r>
                  <a:rPr lang="en-IN" sz="1200" b="0" i="0" dirty="0">
                    <a:solidFill>
                      <a:srgbClr val="111827"/>
                    </a:solidFill>
                    <a:latin typeface="Cambria Math" panose="02040503050406030204" pitchFamily="18" charset="0"/>
                    <a:ea typeface="Cambria Math"/>
                  </a:rPr>
                  <a:t>Y_ZRS</a:t>
                </a:r>
                <a:r>
                  <a:rPr lang="en-IN" dirty="0"/>
                  <a:t> - Zero-reaction solution - Species field solved with catalytic reaction rates set to zero. It captures convection and diffusion only.</a:t>
                </a:r>
                <a:endParaRPr dirty="0"/>
              </a:p>
              <a:p>
                <a:r>
                  <a:rPr lang="en-IN" dirty="0"/>
                  <a:t>\(\</a:t>
                </a:r>
                <a:r>
                  <a:rPr lang="en-IN" dirty="0" err="1"/>
                  <a:t>phi_r</a:t>
                </a:r>
                <a:r>
                  <a:rPr lang="en-IN" dirty="0"/>
                  <a:t>\) - Reduced-basis response field</a:t>
                </a:r>
              </a:p>
              <a:p>
                <a:r>
                  <a:rPr lang="en-IN" dirty="0"/>
                  <a:t> \(</a:t>
                </a:r>
                <a:r>
                  <a:rPr lang="en-IN" dirty="0" err="1"/>
                  <a:t>a_r</a:t>
                </a:r>
                <a:r>
                  <a:rPr lang="en-IN" dirty="0"/>
                  <a:t>\) - Online basis coefficient</a:t>
                </a:r>
                <a:endParaRPr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implemented model</a:t>
            </a:r>
            <a:r>
              <a:rPr lang="en-IN" dirty="0"/>
              <a:t>:</a:t>
            </a:r>
            <a:r>
              <a:rPr dirty="0"/>
              <a:t>. The current Julia code maps p2 into the denominator and p6/p9 into temperature factors</a:t>
            </a:r>
            <a:r>
              <a:rPr lang="en-IN" dirty="0"/>
              <a:t>.</a:t>
            </a:r>
          </a:p>
          <a:p>
            <a:r>
              <a:rPr lang="en-IN" dirty="0"/>
              <a:t>The outlet response is determined by two coupled Langmuir–Hinshelwood-type rates.</a:t>
            </a:r>
          </a:p>
          <a:p>
            <a:r>
              <a:rPr lang="en-IN" dirty="0"/>
              <a:t>adsorption/inhibition contribution of surface species – D </a:t>
            </a:r>
          </a:p>
          <a:p>
            <a:r>
              <a:rPr lang="en-IN" sz="1200" kern="1200" dirty="0">
                <a:effectLst/>
              </a:rPr>
              <a:t>cubic - dependence - methanol-forming rate - availability of free catalytic sites and adsorbed intermediates.</a:t>
            </a:r>
            <a:endParaRPr lang="en-IN" dirty="0"/>
          </a:p>
          <a:p>
            <a:r>
              <a:rPr lang="en-IN" dirty="0"/>
              <a:t>r</a:t>
            </a:r>
            <a:r>
              <a:rPr lang="en-IN"/>
              <a:t> </a:t>
            </a:r>
            <a:r>
              <a:rPr lang="en-IN" dirty="0"/>
              <a:t>- MeOH formation rate</a:t>
            </a:r>
            <a:endParaRPr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dirty="0"/>
                  <a:t>Explain synthetic-noise testing: because the true vector is known, estimation error can be measured directly. Real experimental data would require uncertainty intervals instead.</a:t>
                </a:r>
                <a:endParaRPr lang="en-IN" dirty="0"/>
              </a:p>
              <a:p>
                <a:r>
                  <a:rPr lang="en-IN" dirty="0"/>
                  <a:t>Parameter-estimation problem:- Nine positive kinetic parameters are estimated from repeated noisy outlet-composition measurements.</a:t>
                </a:r>
                <a:endParaRPr dirty="0"/>
              </a:p>
              <a:p>
                <a:r>
                  <a:rPr lang="en-IN" dirty="0"/>
                  <a:t>unknown kinetic parameter Estimator: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IN" sz="1200" b="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IN" sz="1200" b="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𝜃</m:t>
                        </m:r>
                      </m:e>
                    </m:acc>
                  </m:oMath>
                </a14:m>
                <a:endParaRPr lang="en-IN" dirty="0"/>
              </a:p>
              <a:p>
                <a:r>
                  <a:rPr lang="en-IN" dirty="0"/>
                  <a:t>This avoids numerical imbalance between parameters spanning many orders of magnitude</a:t>
                </a:r>
                <a:endParaRPr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dirty="0"/>
                  <a:t>Explain synthetic-noise testing: because the true vector is known, estimation error can be measured directly. Real experimental data would require uncertainty intervals instead.</a:t>
                </a:r>
                <a:endParaRPr lang="en-IN" dirty="0"/>
              </a:p>
              <a:p>
                <a:r>
                  <a:rPr lang="en-IN" dirty="0"/>
                  <a:t>Parameter-estimation problem:- Nine positive kinetic parameters are estimated from repeated noisy outlet-composition measurements.</a:t>
                </a:r>
                <a:endParaRPr dirty="0"/>
              </a:p>
              <a:p>
                <a:r>
                  <a:rPr lang="en-IN" dirty="0"/>
                  <a:t>Estimator:</a:t>
                </a:r>
                <a:r>
                  <a:rPr lang="en-IN" sz="1200" b="0" i="0" dirty="0">
                    <a:solidFill>
                      <a:srgbClr val="111827"/>
                    </a:solidFill>
                    <a:latin typeface="Cambria Math" panose="02040503050406030204" pitchFamily="18" charset="0"/>
                    <a:ea typeface="Cambria Math"/>
                  </a:rPr>
                  <a:t>𝜃 ˆ</a:t>
                </a:r>
                <a:endParaRPr lang="en-IN" dirty="0"/>
              </a:p>
              <a:p>
                <a:r>
                  <a:rPr lang="en-IN" dirty="0"/>
                  <a:t>This avoids numerical imbalance between parameters spanning many orders of magnitude</a:t>
                </a:r>
                <a:endParaRPr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dirty="0"/>
                  <a:t>The FIM is calculated by finite differences in normalized parameter space. The information objective is local and depends on the nominal parameter vector.</a:t>
                </a:r>
                <a:endParaRPr lang="en-IN" dirty="0"/>
              </a:p>
              <a:p>
                <a:r>
                  <a:rPr lang="en-IN" dirty="0"/>
                  <a:t>The best experiment is the one expected to distinguish the nine parameters most strongly.</a:t>
                </a:r>
                <a:endParaRPr dirty="0"/>
              </a:p>
              <a:p>
                <a:r>
                  <a:rPr lang="en-IN" dirty="0"/>
                  <a:t>Sensitivity </a:t>
                </a:r>
                <a:r>
                  <a:rPr lang="en-IN" dirty="0" err="1"/>
                  <a:t>matrix:J</a:t>
                </a:r>
                <a:r>
                  <a:rPr lang="en-IN" dirty="0"/>
                  <a:t>(d,</a:t>
                </a:r>
                <a:r>
                  <a:rPr lang="en-IN" b="0" dirty="0"/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dirty="0"/>
                  <a:t>)</a:t>
                </a:r>
              </a:p>
              <a:p>
                <a:r>
                  <a:rPr lang="en-IN" dirty="0"/>
                  <a:t>Sensitivity Jacobian – J(d)</a:t>
                </a:r>
              </a:p>
              <a:p>
                <a:r>
                  <a:rPr lang="en-IN" dirty="0"/>
                  <a:t>Fisher information matrix: F(d)</a:t>
                </a:r>
              </a:p>
              <a:p>
                <a:r>
                  <a:rPr lang="en-IN" dirty="0"/>
                  <a:t>U(d)-- Fisher-information objective / utility - D-optimal information gain </a:t>
                </a:r>
              </a:p>
              <a:p>
                <a:r>
                  <a:rPr lang="en-IN" dirty="0"/>
                  <a:t>P0 - Prior precision matrix</a:t>
                </a:r>
                <a:endParaRPr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dirty="0"/>
                  <a:t>The FIM is calculated by finite differences in normalized parameter space. The information objective is local and depends on the nominal parameter vector.</a:t>
                </a:r>
                <a:endParaRPr lang="en-IN" dirty="0"/>
              </a:p>
              <a:p>
                <a:r>
                  <a:rPr lang="en-IN" dirty="0"/>
                  <a:t>The best experiment is the one expected to distinguish the nine parameters most strongly.</a:t>
                </a:r>
                <a:endParaRPr dirty="0"/>
              </a:p>
              <a:p>
                <a:r>
                  <a:rPr lang="en-IN" dirty="0"/>
                  <a:t>Sensitivity </a:t>
                </a:r>
                <a:r>
                  <a:rPr lang="en-IN" dirty="0" err="1"/>
                  <a:t>matrix:J</a:t>
                </a:r>
                <a:r>
                  <a:rPr lang="en-IN" dirty="0"/>
                  <a:t>(d,</a:t>
                </a:r>
                <a:r>
                  <a:rPr lang="en-IN" b="0" dirty="0"/>
                  <a:t> </a:t>
                </a:r>
                <a:r>
                  <a:rPr lang="en-IN" b="0" i="0">
                    <a:latin typeface="Cambria Math" panose="02040503050406030204" pitchFamily="18" charset="0"/>
                  </a:rPr>
                  <a:t>𝜃</a:t>
                </a:r>
                <a:r>
                  <a:rPr lang="en-IN" dirty="0"/>
                  <a:t>)</a:t>
                </a:r>
              </a:p>
              <a:p>
                <a:r>
                  <a:rPr lang="en-IN" dirty="0"/>
                  <a:t>Sensitivity Jacobian – J(d)</a:t>
                </a:r>
              </a:p>
              <a:p>
                <a:r>
                  <a:rPr lang="en-IN" dirty="0"/>
                  <a:t>Fisher information matrix: F(d)</a:t>
                </a:r>
              </a:p>
              <a:p>
                <a:r>
                  <a:rPr lang="en-IN" dirty="0"/>
                  <a:t>U(d)-- Fisher-information objective / utility - D-optimal information gain </a:t>
                </a:r>
              </a:p>
              <a:p>
                <a:r>
                  <a:rPr lang="en-IN" dirty="0"/>
                  <a:t>P0 - Prior precision matrix</a:t>
                </a:r>
                <a:endParaRPr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dirty="0"/>
                  <a:t>Clarify the distinction: Bayesian optimization searches experimental conditions d; the inner inverse problem estimates the parameter vector theta.</a:t>
                </a:r>
                <a:endParaRPr lang="en-IN" dirty="0"/>
              </a:p>
              <a:p>
                <a:pPr lvl="0"/>
                <a:r>
                  <a:rPr lang="en-IN" dirty="0"/>
                  <a:t>\(\mu(d)\): predicted objective value;</a:t>
                </a:r>
              </a:p>
              <a:p>
                <a:pPr lvl="0"/>
                <a:r>
                  <a:rPr lang="en-IN" dirty="0"/>
                  <a:t>\(\sigma(d)\): uncertainty in that prediction.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sz="1200" b="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IN" sz="1200" b="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200" b="0" i="0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best</m:t>
                        </m:r>
                      </m:sub>
                    </m:sSub>
                  </m:oMath>
                </a14:m>
                <a:r>
                  <a:rPr lang="en-IN" dirty="0"/>
                  <a:t> - Best observed objective value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sz="1200" b="0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Cambria Math"/>
                      </a:rPr>
                      <m:t>𝜉</m:t>
                    </m:r>
                  </m:oMath>
                </a14:m>
                <a:r>
                  <a:rPr lang="en-IN" dirty="0"/>
                  <a:t> - Exploration parameter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 b="0" i="0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Cambria Math"/>
                      </a:rPr>
                      <m:t>Φ</m:t>
                    </m:r>
                    <m:d>
                      <m:dPr>
                        <m:ctrlPr>
                          <a:rPr lang="en-IN" sz="1200" b="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IN" sz="1200" b="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𝑧</m:t>
                        </m:r>
                      </m:e>
                    </m:d>
                  </m:oMath>
                </a14:m>
                <a:r>
                  <a:rPr lang="en-IN" dirty="0"/>
                  <a:t> - Standard normal CDF - Probability that the candidate improves on the current best value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sz="1200" b="0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Cambria Math"/>
                      </a:rPr>
                      <m:t>𝜙</m:t>
                    </m:r>
                    <m:d>
                      <m:dPr>
                        <m:ctrlPr>
                          <a:rPr lang="en-IN" sz="1200" b="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IN" sz="1200" b="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𝑧</m:t>
                        </m:r>
                      </m:e>
                    </m:d>
                  </m:oMath>
                </a14:m>
                <a:r>
                  <a:rPr lang="en-IN" dirty="0"/>
                  <a:t> - Standard normal PDF - Gives value to unexplored, uncertain regions</a:t>
                </a:r>
              </a:p>
              <a:p>
                <a:r>
                  <a:rPr lang="en-IN" dirty="0"/>
                  <a:t>Each BO iteration selects a design, generates noisy MeOH data, updates kinetics, and proposes the next experiment.</a:t>
                </a:r>
                <a:endParaRPr dirty="0"/>
              </a:p>
              <a:p>
                <a:r>
                  <a:rPr lang="en-IN" sz="1200" kern="1200" dirty="0">
                    <a:effectLst/>
                  </a:rPr>
                  <a:t>A["Initial MeOH designs"] --&gt; B["ROM/RBS forward model"]</a:t>
                </a:r>
                <a:br>
                  <a:rPr lang="en-IN" sz="1200" kern="1200" dirty="0">
                    <a:effectLst/>
                  </a:rPr>
                </a:br>
                <a:r>
                  <a:rPr lang="en-IN" sz="1200" kern="1200" dirty="0">
                    <a:effectLst/>
                  </a:rPr>
                  <a:t>    B --&gt; C["Synthetic outlet data + Gaussian noise"]</a:t>
                </a:r>
                <a:br>
                  <a:rPr lang="en-IN" sz="1200" kern="1200" dirty="0">
                    <a:effectLst/>
                  </a:rPr>
                </a:br>
                <a:r>
                  <a:rPr lang="en-IN" sz="1200" kern="1200" dirty="0">
                    <a:effectLst/>
                  </a:rPr>
                  <a:t>    C --&gt; D["Julia/</a:t>
                </a:r>
                <a:r>
                  <a:rPr lang="en-IN" sz="1200" kern="1200" dirty="0" err="1">
                    <a:effectLst/>
                  </a:rPr>
                  <a:t>Ipopt</a:t>
                </a:r>
                <a:r>
                  <a:rPr lang="en-IN" sz="1200" kern="1200" dirty="0">
                    <a:effectLst/>
                  </a:rPr>
                  <a:t> parameter estimation"]</a:t>
                </a:r>
                <a:br>
                  <a:rPr lang="en-IN" sz="1200" kern="1200" dirty="0">
                    <a:effectLst/>
                  </a:rPr>
                </a:br>
                <a:r>
                  <a:rPr lang="en-IN" sz="1200" kern="1200" dirty="0">
                    <a:effectLst/>
                  </a:rPr>
                  <a:t>    D --&gt; E["FIM and D-optimal information"]</a:t>
                </a:r>
                <a:br>
                  <a:rPr lang="en-IN" sz="1200" kern="1200" dirty="0">
                    <a:effectLst/>
                  </a:rPr>
                </a:br>
                <a:r>
                  <a:rPr lang="en-IN" sz="1200" kern="1200" dirty="0">
                    <a:effectLst/>
                  </a:rPr>
                  <a:t>    E --&gt; F["Gaussian-process surrogate"]</a:t>
                </a:r>
                <a:br>
                  <a:rPr lang="en-IN" sz="1200" kern="1200" dirty="0">
                    <a:effectLst/>
                  </a:rPr>
                </a:br>
                <a:r>
                  <a:rPr lang="en-IN" sz="1200" kern="1200" dirty="0">
                    <a:effectLst/>
                  </a:rPr>
                  <a:t>    F --&gt; G["Expected-improvement acquisition"]</a:t>
                </a:r>
                <a:br>
                  <a:rPr lang="en-IN" sz="1200" kern="1200" dirty="0">
                    <a:effectLst/>
                  </a:rPr>
                </a:br>
                <a:r>
                  <a:rPr lang="en-IN" sz="1200" kern="1200" dirty="0">
                    <a:effectLst/>
                  </a:rPr>
                  <a:t>    G --&gt; H["Next batch of four experiments"]</a:t>
                </a:r>
                <a:br>
                  <a:rPr lang="en-IN" sz="1200" kern="1200" dirty="0">
                    <a:effectLst/>
                  </a:rPr>
                </a:br>
                <a:r>
                  <a:rPr lang="en-IN" sz="1200" kern="1200" dirty="0">
                    <a:effectLst/>
                  </a:rPr>
                  <a:t>    H --&gt; B</a:t>
                </a:r>
                <a:endParaRPr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dirty="0"/>
                  <a:t>Clarify the distinction: Bayesian optimization searches experimental conditions d; the inner inverse problem estimates the parameter vector theta.</a:t>
                </a:r>
                <a:endParaRPr lang="en-IN" dirty="0"/>
              </a:p>
              <a:p>
                <a:pPr lvl="0"/>
                <a:r>
                  <a:rPr lang="en-IN" dirty="0"/>
                  <a:t>\(\mu(d)\): predicted objective value;</a:t>
                </a:r>
              </a:p>
              <a:p>
                <a:pPr lvl="0"/>
                <a:r>
                  <a:rPr lang="en-IN" dirty="0"/>
                  <a:t>\(\sigma(d)\): uncertainty in that prediction.</a:t>
                </a:r>
              </a:p>
              <a:p>
                <a:pPr lvl="0"/>
                <a:r>
                  <a:rPr lang="en-IN" sz="1200" b="0" i="0" dirty="0">
                    <a:solidFill>
                      <a:srgbClr val="111827"/>
                    </a:solidFill>
                    <a:latin typeface="Cambria Math" panose="02040503050406030204" pitchFamily="18" charset="0"/>
                    <a:ea typeface="Cambria Math"/>
                  </a:rPr>
                  <a:t>𝑓_best</a:t>
                </a:r>
                <a:r>
                  <a:rPr lang="en-IN" dirty="0"/>
                  <a:t> - Best observed objective value</a:t>
                </a:r>
              </a:p>
              <a:p>
                <a:pPr lvl="0"/>
                <a:r>
                  <a:rPr lang="en-IN" sz="1200" b="0" i="0" dirty="0">
                    <a:solidFill>
                      <a:srgbClr val="111827"/>
                    </a:solidFill>
                    <a:latin typeface="Cambria Math" panose="02040503050406030204" pitchFamily="18" charset="0"/>
                    <a:ea typeface="Cambria Math"/>
                  </a:rPr>
                  <a:t>𝜉</a:t>
                </a:r>
                <a:r>
                  <a:rPr lang="en-IN" dirty="0"/>
                  <a:t> - Exploration parameter</a:t>
                </a:r>
              </a:p>
              <a:p>
                <a:pPr lvl="0"/>
                <a:r>
                  <a:rPr lang="en-IN" sz="1200" b="0" i="0" dirty="0">
                    <a:solidFill>
                      <a:srgbClr val="111827"/>
                    </a:solidFill>
                    <a:latin typeface="Cambria Math" panose="02040503050406030204" pitchFamily="18" charset="0"/>
                    <a:ea typeface="Cambria Math"/>
                  </a:rPr>
                  <a:t>Φ(𝑧)</a:t>
                </a:r>
                <a:r>
                  <a:rPr lang="en-IN" dirty="0"/>
                  <a:t> - Standard normal CDF - Probability that the candidate improves on the current best value</a:t>
                </a:r>
              </a:p>
              <a:p>
                <a:pPr lvl="0"/>
                <a:r>
                  <a:rPr lang="en-IN" sz="1200" b="0" i="0" dirty="0">
                    <a:solidFill>
                      <a:srgbClr val="111827"/>
                    </a:solidFill>
                    <a:latin typeface="Cambria Math" panose="02040503050406030204" pitchFamily="18" charset="0"/>
                    <a:ea typeface="Cambria Math"/>
                  </a:rPr>
                  <a:t>𝜙(𝑧)</a:t>
                </a:r>
                <a:r>
                  <a:rPr lang="en-IN" dirty="0"/>
                  <a:t> - Standard normal PDF - Gives value to unexplored, uncertain regions</a:t>
                </a:r>
              </a:p>
              <a:p>
                <a:r>
                  <a:rPr lang="en-IN" dirty="0"/>
                  <a:t>Each BO iteration selects a design, generates noisy MeOH data, updates kinetics, and proposes the next experiment.</a:t>
                </a:r>
                <a:endParaRPr dirty="0"/>
              </a:p>
              <a:p>
                <a:r>
                  <a:rPr lang="en-IN" sz="1200" kern="1200" dirty="0">
                    <a:effectLst/>
                  </a:rPr>
                  <a:t>A["Initial MeOH designs"] --&gt; B["ROM/RBS forward model"]</a:t>
                </a:r>
                <a:br>
                  <a:rPr lang="en-IN" sz="1200" kern="1200" dirty="0">
                    <a:effectLst/>
                  </a:rPr>
                </a:br>
                <a:r>
                  <a:rPr lang="en-IN" sz="1200" kern="1200" dirty="0">
                    <a:effectLst/>
                  </a:rPr>
                  <a:t>    B --&gt; C["Synthetic outlet data + Gaussian noise"]</a:t>
                </a:r>
                <a:br>
                  <a:rPr lang="en-IN" sz="1200" kern="1200" dirty="0">
                    <a:effectLst/>
                  </a:rPr>
                </a:br>
                <a:r>
                  <a:rPr lang="en-IN" sz="1200" kern="1200" dirty="0">
                    <a:effectLst/>
                  </a:rPr>
                  <a:t>    C --&gt; D["Julia/</a:t>
                </a:r>
                <a:r>
                  <a:rPr lang="en-IN" sz="1200" kern="1200" dirty="0" err="1">
                    <a:effectLst/>
                  </a:rPr>
                  <a:t>Ipopt</a:t>
                </a:r>
                <a:r>
                  <a:rPr lang="en-IN" sz="1200" kern="1200" dirty="0">
                    <a:effectLst/>
                  </a:rPr>
                  <a:t> parameter estimation"]</a:t>
                </a:r>
                <a:br>
                  <a:rPr lang="en-IN" sz="1200" kern="1200" dirty="0">
                    <a:effectLst/>
                  </a:rPr>
                </a:br>
                <a:r>
                  <a:rPr lang="en-IN" sz="1200" kern="1200" dirty="0">
                    <a:effectLst/>
                  </a:rPr>
                  <a:t>    D --&gt; E["FIM and D-optimal information"]</a:t>
                </a:r>
                <a:br>
                  <a:rPr lang="en-IN" sz="1200" kern="1200" dirty="0">
                    <a:effectLst/>
                  </a:rPr>
                </a:br>
                <a:r>
                  <a:rPr lang="en-IN" sz="1200" kern="1200" dirty="0">
                    <a:effectLst/>
                  </a:rPr>
                  <a:t>    E --&gt; F["Gaussian-process surrogate"]</a:t>
                </a:r>
                <a:br>
                  <a:rPr lang="en-IN" sz="1200" kern="1200" dirty="0">
                    <a:effectLst/>
                  </a:rPr>
                </a:br>
                <a:r>
                  <a:rPr lang="en-IN" sz="1200" kern="1200" dirty="0">
                    <a:effectLst/>
                  </a:rPr>
                  <a:t>    F --&gt; G["Expected-improvement acquisition"]</a:t>
                </a:r>
                <a:br>
                  <a:rPr lang="en-IN" sz="1200" kern="1200" dirty="0">
                    <a:effectLst/>
                  </a:rPr>
                </a:br>
                <a:r>
                  <a:rPr lang="en-IN" sz="1200" kern="1200" dirty="0">
                    <a:effectLst/>
                  </a:rPr>
                  <a:t>    G --&gt; H["Next batch of four experiments"]</a:t>
                </a:r>
                <a:br>
                  <a:rPr lang="en-IN" sz="1200" kern="1200" dirty="0">
                    <a:effectLst/>
                  </a:rPr>
                </a:br>
                <a:r>
                  <a:rPr lang="en-IN" sz="1200" kern="1200" dirty="0">
                    <a:effectLst/>
                  </a:rPr>
                  <a:t>    H --&gt; B</a:t>
                </a:r>
                <a:endParaRPr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Use this slide for the code architecture. Explain that Python passes physical experiment arrays to Julia; scaled variables are used only inside the GP </a:t>
            </a:r>
            <a:r>
              <a:rPr dirty="0" err="1"/>
              <a:t>surroga</a:t>
            </a:r>
            <a:r>
              <a:rPr lang="en-IN" dirty="0" err="1"/>
              <a:t>te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mass-action model is a verification benchmark showing that the workflow can identify two known parameters under controlled conditions.</a:t>
            </a:r>
          </a:p>
          <a:p>
            <a:r>
              <a:rPr lang="en-IN" dirty="0"/>
              <a:t>At \(\sigma=10^{-5}\), the RBS benchmark recovered both parameters within approximately \(0.3\%\). This establishes workflow feasibility; it does not prove nine-parameter methanol identifiability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B89D2-D452-1D54-AB65-4E46BBB81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AC13D-D480-27CF-18D2-104BD2E62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EA24D-00A6-2E28-B2EF-3E106FB4B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appendix is intentionally transparent about the current naming inconsistency. Resolve it before submission.</a:t>
            </a:r>
          </a:p>
          <a:p>
            <a:endParaRPr/>
          </a:p>
          <a:p>
            <a:r>
              <a:t>[Sources]</a:t>
            </a:r>
          </a:p>
          <a:p>
            <a:r>
              <a:t>- thesis codes/src/reaction_kinetics.jl</a:t>
            </a:r>
          </a:p>
          <a:p>
            <a:r>
              <a:t>- thesis codes/bayes_design_meoh_FIO_RBS_final.py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867A0-1588-578A-2AF0-2E5D618B0CA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69029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plotted design space is a 3D projection of a seven-dimensional design vector. </a:t>
            </a:r>
            <a:endParaRPr lang="en-IN" dirty="0"/>
          </a:p>
          <a:p>
            <a:r>
              <a:rPr lang="en-IN" dirty="0"/>
              <a:t>The OED search varies composition, temperature, and pressure within an experimentally feasible MeOH domain.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6A202-F10E-4150-BF1A-F8038D265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4C626A-6A52-459B-938E-479579A3D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EDA44-1230-B187-00F0-63732D756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Its design-selection rule is simply uniform random sampling over the feasible operating space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BD9FB-44F3-304B-4918-4831CE800BB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80463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Discuss the monotonic accumulation of information. Lower assumed measurement noise increases the information scale because the FIM is weighted by 1/sigma squared.</a:t>
            </a:r>
          </a:p>
          <a:p>
            <a:r>
              <a:rPr lang="en-IN" dirty="0"/>
              <a:t>The FIO strategy systematically increases the expected information contained in the experiment set.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For the same FIO designs, the RBS estimator produces substantially lower overall error than the asymptotic ROM estimator.</a:t>
            </a:r>
          </a:p>
          <a:p>
            <a:r>
              <a:rPr dirty="0"/>
              <a:t>it shows materially better recovery for the RBS </a:t>
            </a:r>
            <a:r>
              <a:rPr lang="en-IN" sz="1200" kern="1200" dirty="0">
                <a:effectLst/>
              </a:rPr>
              <a:t>(Reduced Basis Strategy more robust) </a:t>
            </a:r>
            <a:r>
              <a:rPr dirty="0"/>
              <a:t>estimator under this synthetic-design study.</a:t>
            </a:r>
            <a:endParaRPr lang="en-IN" dirty="0"/>
          </a:p>
          <a:p>
            <a:r>
              <a:rPr lang="en-IN" dirty="0"/>
              <a:t>For example, at \(\sigma=10^{-6}\), FIO-RBS estimates \(p_6\)–\(p_9\) within approximately \(0.3\%\)–\(4.4\%\), while \(p_1\)–\(p_5\) retain larger errors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Explain that several adsorption and pre-exponential terms can compensate one another in the outlet response.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slide explains why the thesis should foreground the FIO method: a high-yield condition may not separate the kinetic parameters well.</a:t>
            </a:r>
          </a:p>
          <a:p>
            <a:r>
              <a:rPr lang="en-IN" sz="1200" b="0" dirty="0"/>
              <a:t>Selecting experiments for high methanol yield alone does not necessarily yield the best kinetic estimates.</a:t>
            </a:r>
            <a:endParaRPr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Be transparent: the random baseline is valuable, but the current outputs do not support an uncontrolled headline claim that BO universally beats random design. State the needed controlled reanalysis.</a:t>
            </a:r>
          </a:p>
          <a:p>
            <a:r>
              <a:rPr lang="en-IN" dirty="0"/>
              <a:t>At an approximately equal experiment budget, FIO-based design reduced the RMS relative kinetic-parameter error at the two lower noise levels. The high-noise result was unstable, and the present comparison is preliminary because the two workflows must still be harmonized with respect to repeat count, initialization, exact budget, and multiple random seeds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For a stronger Bayesian extension, use posterior samples rather than the true parameters.</a:t>
            </a:r>
          </a:p>
          <a:p>
            <a:r>
              <a:rPr lang="en-IN" dirty="0"/>
              <a:t>Include these limitations:</a:t>
            </a:r>
          </a:p>
          <a:p>
            <a:pPr lvl="0"/>
            <a:r>
              <a:rPr lang="en-IN" dirty="0"/>
              <a:t>In real experiments, true parameters are unknown.</a:t>
            </a:r>
          </a:p>
          <a:p>
            <a:pPr lvl="0"/>
            <a:r>
              <a:rPr lang="en-IN" dirty="0"/>
              <a:t>Results are not monotonic with decreasing noise; this indicates nonconvexity, parameter correlation, model discrepancy, or optimizer/bound effects.</a:t>
            </a:r>
          </a:p>
          <a:p>
            <a:pPr lvl="0"/>
            <a:r>
              <a:rPr lang="en-IN" dirty="0"/>
              <a:t>The ROM is isothermal and assumes conditions where the asymptotic reduction remains valid.</a:t>
            </a:r>
          </a:p>
          <a:p>
            <a:pPr lvl="0"/>
            <a:r>
              <a:rPr lang="en-IN" dirty="0"/>
              <a:t>RBS improves recovery, but does not make every parameter identifiable.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feasibility and improvement are demonstrated; complete identifiability and real-experiment deployment remain future work.</a:t>
            </a:r>
            <a:endParaRPr lang="en-IN" dirty="0"/>
          </a:p>
          <a:p>
            <a:r>
              <a:rPr lang="en-IN" dirty="0"/>
              <a:t>ROM-enabled information-based experiment design is feasible for methanol kinetic estimation, with RBS providing the strongest current results.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Future work emphasize posterior updating and fair benchmarking, then physical extensions toward plant-relevant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 Keep appendix slides available for detailed equations and parameter mappings.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B1B43-7FC1-1AF9-1407-11E22DB70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5A239-8D60-1F8A-96CB-F8CE7A74A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EB077-A943-B308-C2EF-EA783FFFB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appendix is intentionally transparent about the current naming inconsistency. Resolve it before submission.</a:t>
            </a:r>
          </a:p>
          <a:p>
            <a:endParaRPr/>
          </a:p>
          <a:p>
            <a:r>
              <a:t>[Sources]</a:t>
            </a:r>
          </a:p>
          <a:p>
            <a:r>
              <a:t>- thesis codes/src/reaction_kinetics.jl</a:t>
            </a:r>
          </a:p>
          <a:p>
            <a:r>
              <a:t>- thesis codes/bayes_design_meoh_FIO_RBS_final.py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1ACEC-773F-8568-6EE0-F6D6D1B5589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85984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only if asked for the full CFD formulation.</a:t>
            </a:r>
          </a:p>
          <a:p>
            <a:endParaRPr/>
          </a:p>
          <a:p>
            <a:r>
              <a:t>[Sources]</a:t>
            </a:r>
          </a:p>
          <a:p>
            <a:r>
              <a:t>- Qureshi et al. (2025), uploaded ROM model-main 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appendix is intentionally transparent about the current naming inconsistency. Resolve it before submission.</a:t>
            </a:r>
          </a:p>
          <a:p>
            <a:endParaRPr/>
          </a:p>
          <a:p>
            <a:r>
              <a:t>[Sources]</a:t>
            </a:r>
          </a:p>
          <a:p>
            <a:r>
              <a:t>- thesis codes/src/reaction_kinetics.jl</a:t>
            </a:r>
          </a:p>
          <a:p>
            <a:r>
              <a:t>- thesis codes/bayes_design_meoh_FIO_RBS_final.py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F309E-3E21-399B-AB01-FA092B4C3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9214E-B6F5-4562-0383-EE637EC33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DFAFE-ED80-C65A-F3F2-09A6E3DC8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\(A_1\) is the </a:t>
            </a:r>
            <a:r>
              <a:rPr lang="en-IN" b="1" dirty="0"/>
              <a:t>pre-exponential rate coefficient for methanol formation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B8690-82C8-2B7D-F58B-8A092442CA6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53462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87941-3394-57D2-BF87-6E7465BBE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524F29-3235-2DE0-38CB-7F2CBC28A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0297A-F1C1-CDC9-8588-48ED9B34D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activation energy – E1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01A6A-F4AF-A3B0-A91D-08DC622AADE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71769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BD099-D8E1-A7D5-C54D-D68569BE2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66E275-BD1E-6267-62DA-8087FD9B4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58C825-08E5-1730-2F05-1E15952B4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K_H_2: hydrogen adsorption coefficient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6AEC2-2E78-0F0F-4675-6D636622B42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2576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E0F7B-6662-E075-B333-113130E98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80DEB-F585-D737-09C2-243A21FE9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50E9A-9ECA-12D1-6DB3-5F16458DB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appendix is intentionally transparent about the current naming inconsistency. Resolve it before submission.</a:t>
            </a:r>
          </a:p>
          <a:p>
            <a:endParaRPr/>
          </a:p>
          <a:p>
            <a:r>
              <a:t>[Sources]</a:t>
            </a:r>
          </a:p>
          <a:p>
            <a:r>
              <a:t>- thesis codes/src/reaction_kinetics.jl</a:t>
            </a:r>
          </a:p>
          <a:p>
            <a:r>
              <a:t>- thesis codes/bayes_design_meoh_FIO_RBS_final.py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60742-2DF6-D5D5-4ACA-C85613C3F0F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22064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EAE91-639B-A003-3370-5D6D0B9B6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4FA9AB-A2E6-6FB9-00C4-3C4055C7A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DCFA9-95DA-9FE3-3165-F859839AC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appendix is intentionally transparent about the current naming inconsistency. Resolve it before submission.</a:t>
            </a:r>
          </a:p>
          <a:p>
            <a:endParaRPr/>
          </a:p>
          <a:p>
            <a:r>
              <a:t>[Sources]</a:t>
            </a:r>
          </a:p>
          <a:p>
            <a:r>
              <a:t>- thesis codes/src/reaction_kinetics.jl</a:t>
            </a:r>
          </a:p>
          <a:p>
            <a:r>
              <a:t>- thesis codes/bayes_design_meoh_FIO_RBS_final.py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EBACD-247A-ADB5-A6C6-3163E65C311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98841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1CD14-CA97-1CA2-6A33-DC4CF1FAD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544A8-CD4E-939E-6C0F-8338C190C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741D62-AC68-709D-268F-82F5C5F90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appendix is intentionally transparent about the current naming inconsistency. Resolve it before submission.</a:t>
            </a:r>
          </a:p>
          <a:p>
            <a:endParaRPr/>
          </a:p>
          <a:p>
            <a:r>
              <a:t>[Sources]</a:t>
            </a:r>
          </a:p>
          <a:p>
            <a:r>
              <a:t>- thesis codes/src/reaction_kinetics.jl</a:t>
            </a:r>
          </a:p>
          <a:p>
            <a:r>
              <a:t>- thesis codes/bayes_design_meoh_FIO_RBS_final.py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55A5B-212D-D94C-9E52-F7547B87851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80019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803C2-CC92-DB27-89DD-3E4FED025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8B5FB-9B4D-8224-03C5-ED6BFBFF8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A110EB-A827-8C71-191C-8D9EC10F7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appendix is intentionally transparent about the current naming inconsistency. Resolve it before submission.</a:t>
            </a:r>
          </a:p>
          <a:p>
            <a:endParaRPr/>
          </a:p>
          <a:p>
            <a:r>
              <a:t>[Sources]</a:t>
            </a:r>
          </a:p>
          <a:p>
            <a:r>
              <a:t>- thesis codes/src/reaction_kinetics.jl</a:t>
            </a:r>
          </a:p>
          <a:p>
            <a:r>
              <a:t>- thesis codes/bayes_design_meoh_FIO_RBS_final.py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671BE-4B11-CA27-6175-1DB7FB3EA23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31651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6A153-D0F8-F26F-A414-2384D87D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DC7FD-3413-0A95-2783-F997AA23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6B1DDB-68C6-B576-1D0F-CDE40EBC0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appendix is intentionally transparent about the current naming inconsistency. Resolve it before submission.</a:t>
            </a:r>
          </a:p>
          <a:p>
            <a:endParaRPr/>
          </a:p>
          <a:p>
            <a:r>
              <a:t>[Sources]</a:t>
            </a:r>
          </a:p>
          <a:p>
            <a:r>
              <a:t>- thesis codes/src/reaction_kinetics.jl</a:t>
            </a:r>
          </a:p>
          <a:p>
            <a:r>
              <a:t>- thesis codes/bayes_design_meoh_FIO_RBS_final.py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49888-787C-ED27-1555-F868A16458D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20038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96669-C43E-6A63-9F3A-010EAE241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06AF96-39EA-6107-E9A8-2735383D0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86B2F-47BA-BEAA-2C15-5594315D7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RWGS temperature coefficient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92C0E-A5EE-E702-0F1F-0704B0C6C97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2703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bta.tu-berlin.de/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05FF913D-7BB5-1E28-FD2B-489617FEDD44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504255" y="419653"/>
            <a:ext cx="1429511" cy="782612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C1106BFB-9AF1-17BA-F3C4-EBB21A29576B}"/>
              </a:ext>
            </a:extLst>
          </p:cNvPr>
          <p:cNvSpPr txBox="1"/>
          <p:nvPr userDrawn="1"/>
        </p:nvSpPr>
        <p:spPr>
          <a:xfrm>
            <a:off x="10504255" y="5923150"/>
            <a:ext cx="1490345" cy="582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585">
              <a:lnSpc>
                <a:spcPts val="3145"/>
              </a:lnSpc>
            </a:pPr>
            <a:r>
              <a:rPr sz="2800" b="1" spc="-10" dirty="0">
                <a:solidFill>
                  <a:srgbClr val="336699"/>
                </a:solidFill>
                <a:latin typeface="Arial"/>
                <a:cs typeface="Arial"/>
              </a:rPr>
              <a:t>d|b|t|a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ts val="1330"/>
              </a:lnSpc>
            </a:pPr>
            <a:r>
              <a:rPr sz="1200" spc="-20" dirty="0">
                <a:solidFill>
                  <a:srgbClr val="336699"/>
                </a:solidFill>
                <a:latin typeface="Arial MT"/>
                <a:cs typeface="Arial MT"/>
                <a:hlinkClick r:id="rId3"/>
              </a:rPr>
              <a:t>www.dbta.tu-</a:t>
            </a:r>
            <a:r>
              <a:rPr sz="1200" spc="-10" dirty="0">
                <a:solidFill>
                  <a:srgbClr val="336699"/>
                </a:solidFill>
                <a:latin typeface="Arial MT"/>
                <a:cs typeface="Arial MT"/>
                <a:hlinkClick r:id="rId3"/>
              </a:rPr>
              <a:t>berlin.de</a:t>
            </a:r>
            <a:endParaRPr sz="1200" dirty="0">
              <a:latin typeface="Arial MT"/>
              <a:cs typeface="Arial M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E1B3F-0422-6567-9175-5B22CEFB9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598C9-176D-133C-B7F9-7C81099A7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3FAD1-3384-F6C6-F156-390A6250C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521C-D242-4442-AF56-1E0B10B5361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EBB4B-B20E-C029-06A0-742DFC8D9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B3184-D11C-4D7A-FEFE-C2D32C48B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3B40-5DD5-4BC8-AA54-8B5019BACC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395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69D3-75D0-035E-7404-B9B42BA62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5B21A-2450-42A4-A424-A0AA536BF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FB921-0386-5E97-93DF-4B08893CB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521C-D242-4442-AF56-1E0B10B5361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860FF-AD68-4DCF-2834-ED727408D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43F02-66A7-4EB9-6BB9-A9BFF6A17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3B40-5DD5-4BC8-AA54-8B5019BACC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24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92E39-21AC-00F7-78CD-FC3302DBD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8EB78-B485-2E10-4A1D-A5DE7689C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E54B7-221D-320D-B44F-699502C02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521C-D242-4442-AF56-1E0B10B5361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9B4CF-03E9-C2E1-386D-2EB754E97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8BBAF-8BA6-9244-3B5A-EBFB7FC70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3B40-5DD5-4BC8-AA54-8B5019BACC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40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99E79-D0F1-367B-603A-B5A45DEC9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920E2-1000-D449-7758-FED4DD9B0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E0E53E-B30D-7E24-989A-6DF2F4A6D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8256F-D133-FABB-6CF1-2AF6BC03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521C-D242-4442-AF56-1E0B10B5361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0F09C-BAC6-2B7D-E338-A1BDB3913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36614-8BC7-970D-00BC-3BB95365C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3B40-5DD5-4BC8-AA54-8B5019BACC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139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AB14C-56CF-E00F-A75A-D5349566A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D75CA-B618-084C-7F5E-1993BAF01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893E2C-9674-87EA-2EDF-05A7E5EED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83369-E9F6-095B-F405-CA195AC420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F9842D-F988-2C1E-B579-A7942FF39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9AC5EC-F76B-B608-0210-48BEC2ACB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521C-D242-4442-AF56-1E0B10B5361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1AF096-DF58-3993-8D92-56627DB5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BABB50-DEB9-D6F3-6BB4-91F0CFF04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3B40-5DD5-4BC8-AA54-8B5019BACC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582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FBB85-1F7B-D580-6450-549AE58C6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8A2548-2D3D-0095-20D9-DA94912C7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521C-D242-4442-AF56-1E0B10B5361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DC859-25FB-A025-B023-99AC3A15B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C2FE9-B69A-C3D5-638E-2C1F6AB7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3B40-5DD5-4BC8-AA54-8B5019BACC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524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2D1616-3AE8-793F-3420-9F88FB382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521C-D242-4442-AF56-1E0B10B5361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79D35D-2DDA-3F9B-0778-775750D8F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A36BA-75B8-F9C2-4DAF-1EA358316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3B40-5DD5-4BC8-AA54-8B5019BACC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305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CA7B6-66BA-B2B4-6D50-57CE219C4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49715-FE70-7E7C-8F11-168F62409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BEF481-A989-210C-1B04-FDA6BA864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2849E-F1B4-EAA5-78A2-2E355E0D3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521C-D242-4442-AF56-1E0B10B5361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C666D-207B-6AAA-50AB-8FF0848F0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B692A-0CC2-A87F-FAA0-7A4F9372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3B40-5DD5-4BC8-AA54-8B5019BACC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95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90AA3-A093-FD9D-327A-7C4C802EA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208F4-57AD-775A-D718-4386C9803B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7354B-3383-0B5A-5144-617AE5863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4A108-6441-4B2F-847E-4B4B204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521C-D242-4442-AF56-1E0B10B5361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F4A56-8316-53D6-4BE9-A8345B9F3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6C8F0-43EC-18DE-11C5-06025BE41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3B40-5DD5-4BC8-AA54-8B5019BACC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517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E19C1-A7B8-9B28-4009-29252FD52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FEB16-571F-2C90-9D4A-886A0DC2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55960-1B8D-A8AA-CAF1-34FC8F69A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521C-D242-4442-AF56-1E0B10B5361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9A08F-176B-E75E-EB9F-2B702ACA4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BD808-0C79-246B-558D-1EA31DE9A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3B40-5DD5-4BC8-AA54-8B5019BACC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511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2FC196-A69B-7402-2367-F1C67BB918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E4C5D-603C-F8C1-19EC-F2B4454FB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5B20A-FB25-E73B-691A-054527DE3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521C-D242-4442-AF56-1E0B10B5361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9D399-2576-CF41-E5C4-861684D12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3167B-A71B-FD24-625C-8D5423CDD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F3B40-5DD5-4BC8-AA54-8B5019BACC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274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EBC98-36FC-FD05-48D6-6EE8362AAA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5CA8A-FD5E-EB04-68F7-8177E54086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F81CD-5B21-7A92-DD53-57C1B06BF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3186-9502-4330-AD64-23589C0C0C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82728-838A-DC99-4B1E-44E59DD50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B673E-5BF7-69F0-21E0-C215F273B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76B2-4BC2-45FB-9FC4-DB60FD01F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577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11AB7-3E0F-A9E4-3BFB-59265B485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B6D59-67CD-F879-4795-E9A462528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4F01E-4D93-0143-9E2D-04D195989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3186-9502-4330-AD64-23589C0C0C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1FCC9-A5A5-5FFD-1DB4-3936A60AD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9F47C-DE2C-541D-ED35-22613208F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76B2-4BC2-45FB-9FC4-DB60FD01F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121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927FD-608C-B639-FD4D-2F64E13EC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F3259-C0DD-D546-D097-4156375FA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286D1-EA4F-0FAA-98C0-9FC816B3C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3186-9502-4330-AD64-23589C0C0C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BD914-40B0-5A61-86CD-8EE808FC9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270A5-2213-3245-C6A3-1AAB442DC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76B2-4BC2-45FB-9FC4-DB60FD01F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169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E4E74-471D-2D91-B5FB-DE204867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BD3D4-3BFB-7E6C-89D8-28E03FB17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315C3-601A-2EF0-5379-4236061E7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EAF4F-1262-C867-E430-82643B56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3186-9502-4330-AD64-23589C0C0C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05610-AC9C-1663-5EA9-ECD605385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1EA6B-39AB-82C0-4AA3-B9E3E86F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76B2-4BC2-45FB-9FC4-DB60FD01F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0248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E69B-ADB2-F479-4344-975D0F746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A27A6-DF56-5ED0-D70D-D72C211CF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40470-3F6B-585B-6BC3-97D669129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5356CD-1759-4BEB-0D30-80F9EB6BC2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730DFD-EF7A-546D-E891-2CB10AEF65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68FF8-8247-7512-4A79-4C5FC5DEB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3186-9502-4330-AD64-23589C0C0C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4E890-7A92-608D-81FC-6DB31B99B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CBA3A8-49CE-87DE-CCB8-74524035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76B2-4BC2-45FB-9FC4-DB60FD01F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9249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64C8C-2A0E-F359-94FF-B197EA99E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4C2F6-8C26-81B7-CD76-C02FC699D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3186-9502-4330-AD64-23589C0C0C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A96FB2-54A7-F96B-67EB-CFFF7EE57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B4D841-4247-64A3-BDC9-EE253203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76B2-4BC2-45FB-9FC4-DB60FD01F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9431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6E673-A9DC-2633-7C04-BE6A8BFB4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3186-9502-4330-AD64-23589C0C0C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44D4E9-D67A-95F2-6DE3-AB4630195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49220-703F-4222-9E4F-5FC3F9ED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76B2-4BC2-45FB-9FC4-DB60FD01F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3795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1AB8F-A466-E0C3-9E7B-9BADFC06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82724-A7F8-B068-DBFE-030535540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D444CC-6977-CB7B-47EA-6CFC6F4B4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F469C-381B-8549-F068-76873271A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3186-9502-4330-AD64-23589C0C0C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2386C-E9CF-86D1-C135-FF05EF0F0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D03A8-C6C9-5941-91D8-C0B2C6DCA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76B2-4BC2-45FB-9FC4-DB60FD01F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3364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A2B03-A955-1EC4-B77F-DBDC5D349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B9E137-1BE9-BB25-3FCC-5E7394A66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2FA4D3-8E04-C2FF-E7E3-4C3136A48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F1213-B6C6-D986-401A-4ADBF7C82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3186-9502-4330-AD64-23589C0C0C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6694C-2E29-9F2B-394E-A38216B73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036EB-DD6A-284F-4930-916ABF833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76B2-4BC2-45FB-9FC4-DB60FD01F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0081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5EB05-F6DC-AEF7-03A7-438466E50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DC4C8-687E-CD88-88D6-9AFF721F1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30424-D44F-7855-BAD9-4ADC35C87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3186-9502-4330-AD64-23589C0C0C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AF99B-33B9-53B5-3BA9-34305A23E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FEF5C-05FB-6EF8-C6F5-EC18CCBCD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76B2-4BC2-45FB-9FC4-DB60FD01F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5051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94CA88-BF1A-2D4E-E49A-8D5EC7C935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A17FE-BE4A-CE90-A991-7D529EA46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848C1-E6C9-C19F-4342-014685825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3186-9502-4330-AD64-23589C0C0C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62B09-874F-B789-99A3-87D6E8B5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F60BF-58EC-C1D4-57C9-41FA30500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276B2-4BC2-45FB-9FC4-DB60FD01F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256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804D8-7AB6-AC87-CF4C-1E8324821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D119F-7069-B8E3-BE33-3DAAF5D32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A902-36D4-DFDA-93BB-3D308223E7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5521C-D242-4442-AF56-1E0B10B5361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FCE79-9C05-0962-0066-1ACC710930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6157B-D8F3-C5E7-A313-4C5CB36EA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F3B40-5DD5-4BC8-AA54-8B5019BACC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5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0E6604-F031-0FC9-284E-A6F40786D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70132-EAF7-3A79-BF8F-77931C8D9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5367-3536-0480-7069-28395ABEE4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F3186-9502-4330-AD64-23589C0C0C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F6DC7-4B02-37FA-6028-9D0F83CEAF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1D597-651B-FB24-AFC0-1CB440970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276B2-4BC2-45FB-9FC4-DB60FD01F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40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5281/zenodo.3529808" TargetMode="External"/><Relationship Id="rId3" Type="http://schemas.openxmlformats.org/officeDocument/2006/relationships/hyperlink" Target="https://doi.org/10.1016/j.cej.2024.158684" TargetMode="External"/><Relationship Id="rId7" Type="http://schemas.openxmlformats.org/officeDocument/2006/relationships/hyperlink" Target="http://www.gaussianprocess.org/gpml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23/A:1008306431147" TargetMode="External"/><Relationship Id="rId5" Type="http://schemas.openxmlformats.org/officeDocument/2006/relationships/hyperlink" Target="https://doi.org/10.1214/ss/1177009939" TargetMode="External"/><Relationship Id="rId4" Type="http://schemas.openxmlformats.org/officeDocument/2006/relationships/hyperlink" Target="https://doi.org/10.1006/jcat.1996.0156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5A8601-2902-47F7-8D94-1D48E78230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D65330-A962-4B55-8551-B1B13E762BF9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MASTER’S THESIS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BD9F90-52BB-4BB2-A39A-976B98F5B8DC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8582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Optimal experimental design using Bayesian optimization for kinetic parameter estimation with Reduced Order CFD models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4C2037-90BA-4F0B-81F2-A558F92D6483}"/>
              </a:ext>
            </a:extLst>
          </p:cNvPr>
          <p:cNvSpPr>
            <a:spLocks noGrp="1"/>
          </p:cNvSpPr>
          <p:nvPr/>
        </p:nvSpPr>
        <p:spPr>
          <a:xfrm>
            <a:off x="723900" y="4038600"/>
            <a:ext cx="657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21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Methanol synthesis from CO₂ hydrogenation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F4054B-8558-4644-AC95-CA7F24D45616}"/>
              </a:ext>
            </a:extLst>
          </p:cNvPr>
          <p:cNvSpPr>
            <a:spLocks noGrp="1"/>
          </p:cNvSpPr>
          <p:nvPr/>
        </p:nvSpPr>
        <p:spPr>
          <a:xfrm>
            <a:off x="723900" y="466725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Reduced-order CFD · Reduced basis solver · Fisher-information design</a:t>
            </a:r>
            <a:endParaRPr lang="en-IN" sz="135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endParaRPr lang="en-IN" sz="135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endParaRPr sz="135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8DB730-53D1-4B6E-87A3-73C91BDB3759}"/>
              </a:ext>
            </a:extLst>
          </p:cNvPr>
          <p:cNvSpPr>
            <a:spLocks noGrp="1"/>
          </p:cNvSpPr>
          <p:nvPr/>
        </p:nvSpPr>
        <p:spPr>
          <a:xfrm>
            <a:off x="8558784" y="1322070"/>
            <a:ext cx="2781300" cy="4411218"/>
          </a:xfrm>
          <a:prstGeom prst="rect">
            <a:avLst/>
          </a:prstGeom>
          <a:solidFill>
            <a:srgbClr val="E8F4F2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41C14B-6E16-4B3D-9A39-FAA326826204}"/>
              </a:ext>
            </a:extLst>
          </p:cNvPr>
          <p:cNvSpPr>
            <a:spLocks noGrp="1"/>
          </p:cNvSpPr>
          <p:nvPr/>
        </p:nvSpPr>
        <p:spPr>
          <a:xfrm>
            <a:off x="8806434" y="2228850"/>
            <a:ext cx="2286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0F766E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dirty="0">
                <a:solidFill>
                  <a:srgbClr val="0F766E"/>
                </a:solidFill>
                <a:latin typeface="Cambria Math"/>
                <a:ea typeface="Cambria Math"/>
                <a:cs typeface="Cambria Math"/>
              </a:rPr>
              <a:t>CO₂ + 3H₂</a:t>
            </a:r>
          </a:p>
          <a:p>
            <a:pPr algn="ctr">
              <a:defRPr sz="2550" b="1">
                <a:solidFill>
                  <a:srgbClr val="0F766E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dirty="0">
                <a:solidFill>
                  <a:srgbClr val="0F766E"/>
                </a:solidFill>
                <a:latin typeface="Cambria Math"/>
                <a:ea typeface="Cambria Math"/>
                <a:cs typeface="Cambria Math"/>
              </a:rPr>
              <a:t>⇌</a:t>
            </a:r>
          </a:p>
          <a:p>
            <a:pPr algn="ctr">
              <a:defRPr sz="2550" b="1">
                <a:solidFill>
                  <a:srgbClr val="0F766E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dirty="0">
                <a:solidFill>
                  <a:srgbClr val="0F766E"/>
                </a:solidFill>
                <a:latin typeface="Cambria Math"/>
                <a:ea typeface="Cambria Math"/>
                <a:cs typeface="Cambria Math"/>
              </a:rPr>
              <a:t>CH₃OH + H₂O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471B75-6887-4294-9331-393D5FB67B91}"/>
              </a:ext>
            </a:extLst>
          </p:cNvPr>
          <p:cNvSpPr>
            <a:spLocks noGrp="1"/>
          </p:cNvSpPr>
          <p:nvPr/>
        </p:nvSpPr>
        <p:spPr>
          <a:xfrm>
            <a:off x="723900" y="5181600"/>
            <a:ext cx="5841492" cy="14386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defense</a:t>
            </a:r>
            <a:endParaRPr lang="en-IN" sz="120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endParaRPr lang="en-IN" sz="120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sz="16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Presented by: Jahnavi Reddy Pocha (PEESE)</a:t>
            </a:r>
          </a:p>
          <a:p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endParaRPr lang="en-IN" sz="160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sz="16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Guidance by: Muhammad Uzair Qureshi, </a:t>
            </a:r>
            <a:r>
              <a:rPr lang="en-IN" sz="16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M.Sc</a:t>
            </a:r>
            <a:endParaRPr lang="en-IN" sz="160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sz="16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Supervised by: Prof. Dr.-</a:t>
            </a:r>
            <a:r>
              <a:rPr lang="en-IN" sz="160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Ing.habil</a:t>
            </a:r>
            <a:r>
              <a:rPr lang="en-IN" sz="16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. Jens-Uwe Repke</a:t>
            </a:r>
          </a:p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endParaRPr sz="120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4" name="object 8">
            <a:extLst>
              <a:ext uri="{FF2B5EF4-FFF2-40B4-BE49-F238E27FC236}">
                <a16:creationId xmlns:a16="http://schemas.microsoft.com/office/drawing/2014/main" id="{32BB30C6-299D-97B6-59D4-1647866724BB}"/>
              </a:ext>
            </a:extLst>
          </p:cNvPr>
          <p:cNvGrpSpPr/>
          <p:nvPr/>
        </p:nvGrpSpPr>
        <p:grpSpPr>
          <a:xfrm>
            <a:off x="4424680" y="492760"/>
            <a:ext cx="3342640" cy="829310"/>
            <a:chOff x="4450067" y="348975"/>
            <a:chExt cx="3342640" cy="829310"/>
          </a:xfrm>
        </p:grpSpPr>
        <p:pic>
          <p:nvPicPr>
            <p:cNvPr id="15" name="object 9">
              <a:extLst>
                <a:ext uri="{FF2B5EF4-FFF2-40B4-BE49-F238E27FC236}">
                  <a16:creationId xmlns:a16="http://schemas.microsoft.com/office/drawing/2014/main" id="{211930EA-C376-45ED-A19C-12C25411AB7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0067" y="348975"/>
              <a:ext cx="3342156" cy="829109"/>
            </a:xfrm>
            <a:prstGeom prst="rect">
              <a:avLst/>
            </a:prstGeom>
          </p:spPr>
        </p:pic>
        <p:pic>
          <p:nvPicPr>
            <p:cNvPr id="16" name="object 10">
              <a:extLst>
                <a:ext uri="{FF2B5EF4-FFF2-40B4-BE49-F238E27FC236}">
                  <a16:creationId xmlns:a16="http://schemas.microsoft.com/office/drawing/2014/main" id="{2A8A5EA8-A848-24A4-3621-9C587608FB9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72939" y="373011"/>
              <a:ext cx="3245992" cy="732777"/>
            </a:xfrm>
            <a:prstGeom prst="rect">
              <a:avLst/>
            </a:prstGeom>
          </p:spPr>
        </p:pic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A4C091DD-68F2-2358-5E32-59E5C5B31F22}"/>
                </a:ext>
              </a:extLst>
            </p:cNvPr>
            <p:cNvSpPr/>
            <p:nvPr/>
          </p:nvSpPr>
          <p:spPr>
            <a:xfrm>
              <a:off x="4469764" y="369836"/>
              <a:ext cx="3252470" cy="739140"/>
            </a:xfrm>
            <a:custGeom>
              <a:avLst/>
              <a:gdLst/>
              <a:ahLst/>
              <a:cxnLst/>
              <a:rect l="l" t="t" r="r" b="b"/>
              <a:pathLst>
                <a:path w="3252470" h="739140">
                  <a:moveTo>
                    <a:pt x="0" y="739127"/>
                  </a:moveTo>
                  <a:lnTo>
                    <a:pt x="3252342" y="739127"/>
                  </a:lnTo>
                  <a:lnTo>
                    <a:pt x="3252342" y="0"/>
                  </a:lnTo>
                  <a:lnTo>
                    <a:pt x="0" y="0"/>
                  </a:lnTo>
                  <a:lnTo>
                    <a:pt x="0" y="739127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3">
            <a:extLst>
              <a:ext uri="{FF2B5EF4-FFF2-40B4-BE49-F238E27FC236}">
                <a16:creationId xmlns:a16="http://schemas.microsoft.com/office/drawing/2014/main" id="{4BD70B12-F62D-B395-A08B-1E28808DB4D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40696" y="446894"/>
            <a:ext cx="1610867" cy="78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35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">
            <a:extLst>
              <a:ext uri="{FF2B5EF4-FFF2-40B4-BE49-F238E27FC236}">
                <a16:creationId xmlns:a16="http://schemas.microsoft.com/office/drawing/2014/main" id="{1F2232DC-CC54-4C82-9D9E-07B0A9AF13A7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718F0D0-907C-4B47-B13A-86E2772C7892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Kinetic estimation is limited by information and computation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EBE6760-3327-4793-A6FD-5B988CADC518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6DDC83-B7EA-4513-A3E5-7B9C0F56240A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B311A0-314B-49AA-A582-BCD67552BB2E}"/>
              </a:ext>
            </a:extLst>
          </p:cNvPr>
          <p:cNvSpPr>
            <a:spLocks noGrp="1"/>
          </p:cNvSpPr>
          <p:nvPr/>
        </p:nvSpPr>
        <p:spPr>
          <a:xfrm>
            <a:off x="533400" y="1466850"/>
            <a:ext cx="619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thesis addresses two coupled bottlenecks.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B6983-E318-44ED-8683-D12333F4D5C6}"/>
              </a:ext>
            </a:extLst>
          </p:cNvPr>
          <p:cNvSpPr>
            <a:spLocks noGrp="1"/>
          </p:cNvSpPr>
          <p:nvPr/>
        </p:nvSpPr>
        <p:spPr>
          <a:xfrm>
            <a:off x="533400" y="2190750"/>
            <a:ext cx="3105150" cy="2114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AF2E72-DE6E-4FCC-BEE0-5FE0A83E746D}"/>
              </a:ext>
            </a:extLst>
          </p:cNvPr>
          <p:cNvSpPr>
            <a:spLocks noGrp="1"/>
          </p:cNvSpPr>
          <p:nvPr/>
        </p:nvSpPr>
        <p:spPr>
          <a:xfrm>
            <a:off x="533400" y="2190750"/>
            <a:ext cx="3105150" cy="6667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848139-58D3-4C9A-9FD7-2D9104733F67}"/>
              </a:ext>
            </a:extLst>
          </p:cNvPr>
          <p:cNvSpPr>
            <a:spLocks noGrp="1"/>
          </p:cNvSpPr>
          <p:nvPr/>
        </p:nvSpPr>
        <p:spPr>
          <a:xfrm>
            <a:off x="704850" y="2409825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Limited information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8F6FDF-98A6-4A58-BE0C-C062DB54564A}"/>
              </a:ext>
            </a:extLst>
          </p:cNvPr>
          <p:cNvSpPr>
            <a:spLocks noGrp="1"/>
          </p:cNvSpPr>
          <p:nvPr/>
        </p:nvSpPr>
        <p:spPr>
          <a:xfrm>
            <a:off x="704850" y="2819400"/>
            <a:ext cx="2762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Arbitrary conditions may not distinguish activation, adsorption, and rate terms.</a:t>
            </a:r>
            <a:endParaRPr lang="en-IN" sz="120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endParaRPr lang="en-IN" sz="120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sz="1200" dirty="0"/>
              <a:t>Poorly selected experiments - Correlated or unidentifiable kinetic parameters</a:t>
            </a:r>
            <a:endParaRPr sz="120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C9A626-830B-4B76-9BB0-DD8A5E986893}"/>
              </a:ext>
            </a:extLst>
          </p:cNvPr>
          <p:cNvSpPr>
            <a:spLocks noGrp="1"/>
          </p:cNvSpPr>
          <p:nvPr/>
        </p:nvSpPr>
        <p:spPr>
          <a:xfrm>
            <a:off x="4543425" y="2190750"/>
            <a:ext cx="3105150" cy="2114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46D368-B5D9-4B0D-963E-0D5B0ABBDF01}"/>
              </a:ext>
            </a:extLst>
          </p:cNvPr>
          <p:cNvSpPr>
            <a:spLocks noGrp="1"/>
          </p:cNvSpPr>
          <p:nvPr/>
        </p:nvSpPr>
        <p:spPr>
          <a:xfrm>
            <a:off x="4543425" y="2190750"/>
            <a:ext cx="3105150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F1F7C0-99E6-403E-AF65-7D5BB16ACB89}"/>
              </a:ext>
            </a:extLst>
          </p:cNvPr>
          <p:cNvSpPr>
            <a:spLocks noGrp="1"/>
          </p:cNvSpPr>
          <p:nvPr/>
        </p:nvSpPr>
        <p:spPr>
          <a:xfrm>
            <a:off x="4714875" y="2409825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Expensive physics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F7B790-2101-451F-B124-2134459DDAED}"/>
              </a:ext>
            </a:extLst>
          </p:cNvPr>
          <p:cNvSpPr>
            <a:spLocks noGrp="1"/>
          </p:cNvSpPr>
          <p:nvPr/>
        </p:nvSpPr>
        <p:spPr>
          <a:xfrm>
            <a:off x="4714875" y="2819400"/>
            <a:ext cx="2762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Each candidate condition requires a nonlinear reacting-flow prediction.</a:t>
            </a:r>
            <a:endParaRPr lang="en-IN" sz="120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endParaRPr lang="en-IN" sz="120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sz="1200" dirty="0"/>
              <a:t>OED becomes computationally impractical</a:t>
            </a:r>
            <a:endParaRPr sz="120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C6F482-569E-4F78-BEF7-7F49789CED6B}"/>
              </a:ext>
            </a:extLst>
          </p:cNvPr>
          <p:cNvSpPr>
            <a:spLocks noGrp="1"/>
          </p:cNvSpPr>
          <p:nvPr/>
        </p:nvSpPr>
        <p:spPr>
          <a:xfrm>
            <a:off x="8553450" y="2190750"/>
            <a:ext cx="3105150" cy="2114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879B6D-2AE8-45D1-82B0-25E3C35AC351}"/>
              </a:ext>
            </a:extLst>
          </p:cNvPr>
          <p:cNvSpPr>
            <a:spLocks noGrp="1"/>
          </p:cNvSpPr>
          <p:nvPr/>
        </p:nvSpPr>
        <p:spPr>
          <a:xfrm>
            <a:off x="8553450" y="2190750"/>
            <a:ext cx="3105150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30E903-DB2F-45FA-A291-B678C41E5C16}"/>
              </a:ext>
            </a:extLst>
          </p:cNvPr>
          <p:cNvSpPr>
            <a:spLocks noGrp="1"/>
          </p:cNvSpPr>
          <p:nvPr/>
        </p:nvSpPr>
        <p:spPr>
          <a:xfrm>
            <a:off x="8724900" y="2409825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Thesis response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EE4911-CF95-4AC8-967A-AA323010B849}"/>
              </a:ext>
            </a:extLst>
          </p:cNvPr>
          <p:cNvSpPr>
            <a:spLocks noGrp="1"/>
          </p:cNvSpPr>
          <p:nvPr/>
        </p:nvSpPr>
        <p:spPr>
          <a:xfrm>
            <a:off x="8724900" y="2819400"/>
            <a:ext cx="2762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ROM accelerates simulations; Bayesian OED selects the next informative experiment.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C3DD454-5CB7-4947-8989-BAC00BD73952}"/>
              </a:ext>
            </a:extLst>
          </p:cNvPr>
          <p:cNvSpPr>
            <a:spLocks noGrp="1"/>
          </p:cNvSpPr>
          <p:nvPr/>
        </p:nvSpPr>
        <p:spPr>
          <a:xfrm>
            <a:off x="3657600" y="3086100"/>
            <a:ext cx="666750" cy="247650"/>
          </a:xfrm>
          <a:prstGeom prst="rightArrow">
            <a:avLst/>
          </a:prstGeom>
          <a:solidFill>
            <a:srgbClr val="D8DEE6"/>
          </a:solidFill>
          <a:ln w="0">
            <a:solidFill>
              <a:srgbClr val="D8DEE6"/>
            </a:solidFill>
            <a:prstDash val="solid"/>
          </a:ln>
        </p:spPr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F71F4DD-E990-4E74-8DE0-C6BC99D87EA1}"/>
              </a:ext>
            </a:extLst>
          </p:cNvPr>
          <p:cNvSpPr>
            <a:spLocks noGrp="1"/>
          </p:cNvSpPr>
          <p:nvPr/>
        </p:nvSpPr>
        <p:spPr>
          <a:xfrm>
            <a:off x="7667625" y="3086100"/>
            <a:ext cx="666750" cy="247650"/>
          </a:xfrm>
          <a:prstGeom prst="rightArrow">
            <a:avLst/>
          </a:prstGeom>
          <a:solidFill>
            <a:srgbClr val="D8DEE6"/>
          </a:solidFill>
          <a:ln w="0">
            <a:solidFill>
              <a:srgbClr val="D8DEE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01DB4D-8BFF-4E1A-8F22-A8FF6D634AD1}"/>
              </a:ext>
            </a:extLst>
          </p:cNvPr>
          <p:cNvSpPr>
            <a:spLocks noGrp="1"/>
          </p:cNvSpPr>
          <p:nvPr/>
        </p:nvSpPr>
        <p:spPr>
          <a:xfrm>
            <a:off x="2857500" y="4953000"/>
            <a:ext cx="6477000" cy="81915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CE85E01-6AD6-4BD2-B3BE-70ABC4DA6F5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028950" y="5086350"/>
                <a:ext cx="6134100" cy="5524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2325" b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 b="0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y = </a:t>
                </a:r>
                <a14:m>
                  <m:oMath xmlns:m="http://schemas.openxmlformats.org/officeDocument/2006/math">
                    <m:r>
                      <a:rPr lang="en-IN" sz="2325" b="0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Cambria Math"/>
                      </a:rPr>
                      <m:t>𝒢</m:t>
                    </m:r>
                  </m:oMath>
                </a14:m>
                <a:r>
                  <a:rPr sz="2325" b="0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(d, θ) + ε</a:t>
                </a: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CE85E01-6AD6-4BD2-B3BE-70ABC4DA6F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8950" y="5086350"/>
                <a:ext cx="6134100" cy="552450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36D37414-C147-48BF-876A-DE6B68B60870}"/>
              </a:ext>
            </a:extLst>
          </p:cNvPr>
          <p:cNvSpPr>
            <a:spLocks noGrp="1"/>
          </p:cNvSpPr>
          <p:nvPr/>
        </p:nvSpPr>
        <p:spPr>
          <a:xfrm>
            <a:off x="2857500" y="5886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Design d controls composition, temperature, and pressure; θ contains the unknown kinetics.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1B652999-6856-4737-A7FB-F563D2D17825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3EF602-EDDC-43C2-B328-D4DD28A09311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Methanol case study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B15D92-E94A-F74B-A6F6-1CFFB1197F29}"/>
              </a:ext>
            </a:extLst>
          </p:cNvPr>
          <p:cNvSpPr txBox="1"/>
          <p:nvPr/>
        </p:nvSpPr>
        <p:spPr>
          <a:xfrm>
            <a:off x="533400" y="461010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Inverse problem</a:t>
            </a:r>
          </a:p>
        </p:txBody>
      </p:sp>
    </p:spTree>
    <p:extLst>
      <p:ext uri="{BB962C8B-B14F-4D97-AF65-F5344CB8AC3E}">
        <p14:creationId xmlns:p14="http://schemas.microsoft.com/office/powerpoint/2010/main" val="2112394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">
            <a:extLst>
              <a:ext uri="{FF2B5EF4-FFF2-40B4-BE49-F238E27FC236}">
                <a16:creationId xmlns:a16="http://schemas.microsoft.com/office/drawing/2014/main" id="{5E0B55A8-0933-496C-BFED-193ABD070F02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AIM AND CONTRIBUTION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72CF329-35EC-482B-B70F-E719A2CB28AB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ROM-enabled OED targets MeOH kinetic learning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EE5A122-81DF-4BF7-BAD1-0C2FA01FE8B5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A958D3-BF9C-41BF-A02C-6C892FC563D6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499976-6F73-43A2-B948-3C79006AEE6D}"/>
              </a:ext>
            </a:extLst>
          </p:cNvPr>
          <p:cNvSpPr>
            <a:spLocks noGrp="1"/>
          </p:cNvSpPr>
          <p:nvPr/>
        </p:nvSpPr>
        <p:spPr>
          <a:xfrm>
            <a:off x="533400" y="16002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3990F99-2FBE-41D1-9363-86C8A4B5ACB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33400" y="2000250"/>
                <a:ext cx="7714488" cy="7620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t"/>
              <a:lstStyle/>
              <a:p>
                <a:pPr algn="l">
                  <a:defRPr sz="2325" b="1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 sz="2325" dirty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rPr>
                  <a:t>C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325" i="0" dirty="0" smtClean="0">
                        <a:solidFill>
                          <a:srgbClr val="111827"/>
                        </a:solidFill>
                        <a:latin typeface="Aptos" panose="020B0004020202020204" pitchFamily="34" charset="0"/>
                      </a:rPr>
                      <m:t>an ROM−based Bayesian OED improve MeOH kinetic estimation at far lower cost than repeated full CFD?</m:t>
                    </m:r>
                  </m:oMath>
                </a14:m>
                <a:endParaRPr lang="en-US" sz="2325" dirty="0">
                  <a:solidFill>
                    <a:srgbClr val="111827"/>
                  </a:solidFill>
                  <a:latin typeface="Aptos" panose="020B0004020202020204" pitchFamily="34" charset="0"/>
                  <a:ea typeface="Aptos"/>
                  <a:cs typeface="Aptos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3990F99-2FBE-41D1-9363-86C8A4B5AC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000250"/>
                <a:ext cx="7714488" cy="762000"/>
              </a:xfrm>
              <a:prstGeom prst="rect">
                <a:avLst/>
              </a:prstGeom>
              <a:blipFill>
                <a:blip r:embed="rId3"/>
                <a:stretch>
                  <a:fillRect l="-2372" t="-11200" b="-560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F13509EB-B939-4569-BB36-CF5F07307285}"/>
              </a:ext>
            </a:extLst>
          </p:cNvPr>
          <p:cNvSpPr>
            <a:spLocks noGrp="1"/>
          </p:cNvSpPr>
          <p:nvPr/>
        </p:nvSpPr>
        <p:spPr>
          <a:xfrm>
            <a:off x="533400" y="3390900"/>
            <a:ext cx="33147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C4ECA0-E1A3-4C55-B782-CB7118B16462}"/>
              </a:ext>
            </a:extLst>
          </p:cNvPr>
          <p:cNvSpPr>
            <a:spLocks noGrp="1"/>
          </p:cNvSpPr>
          <p:nvPr/>
        </p:nvSpPr>
        <p:spPr>
          <a:xfrm>
            <a:off x="533400" y="3390900"/>
            <a:ext cx="3314700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9F7754-1E06-49CA-8FF6-AE05CFF89ACF}"/>
              </a:ext>
            </a:extLst>
          </p:cNvPr>
          <p:cNvSpPr>
            <a:spLocks noGrp="1"/>
          </p:cNvSpPr>
          <p:nvPr/>
        </p:nvSpPr>
        <p:spPr>
          <a:xfrm>
            <a:off x="704850" y="3609975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12247A-6CBE-4317-A66D-36333D976A07}"/>
              </a:ext>
            </a:extLst>
          </p:cNvPr>
          <p:cNvSpPr>
            <a:spLocks noGrp="1"/>
          </p:cNvSpPr>
          <p:nvPr/>
        </p:nvSpPr>
        <p:spPr>
          <a:xfrm>
            <a:off x="704850" y="4019550"/>
            <a:ext cx="29718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 ROM and RBS representations of reacting transport in a 2D catalytic channel.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E46479-D831-4C31-9470-E9F323DE2C60}"/>
              </a:ext>
            </a:extLst>
          </p:cNvPr>
          <p:cNvSpPr>
            <a:spLocks noGrp="1"/>
          </p:cNvSpPr>
          <p:nvPr/>
        </p:nvSpPr>
        <p:spPr>
          <a:xfrm>
            <a:off x="4438650" y="3390900"/>
            <a:ext cx="33147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BE885E-0C6E-4474-ACAB-8A32BFEFB38C}"/>
              </a:ext>
            </a:extLst>
          </p:cNvPr>
          <p:cNvSpPr>
            <a:spLocks noGrp="1"/>
          </p:cNvSpPr>
          <p:nvPr/>
        </p:nvSpPr>
        <p:spPr>
          <a:xfrm>
            <a:off x="4438650" y="3390900"/>
            <a:ext cx="3314700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14913D-9FDB-48D3-A871-83C9E52AED38}"/>
              </a:ext>
            </a:extLst>
          </p:cNvPr>
          <p:cNvSpPr>
            <a:spLocks noGrp="1"/>
          </p:cNvSpPr>
          <p:nvPr/>
        </p:nvSpPr>
        <p:spPr>
          <a:xfrm>
            <a:off x="4610100" y="3609975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Estimate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1539E0-C11B-4A4B-A9AB-16BBA2AEA495}"/>
              </a:ext>
            </a:extLst>
          </p:cNvPr>
          <p:cNvSpPr>
            <a:spLocks noGrp="1"/>
          </p:cNvSpPr>
          <p:nvPr/>
        </p:nvSpPr>
        <p:spPr>
          <a:xfrm>
            <a:off x="4610100" y="4019550"/>
            <a:ext cx="29718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dirty="0"/>
              <a:t>Estimate</a:t>
            </a:r>
            <a:r>
              <a:rPr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nine positive MeOH kinetic parameters from noisy outlet compositions.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45D959-D9FE-4CF4-A642-1961B8728698}"/>
              </a:ext>
            </a:extLst>
          </p:cNvPr>
          <p:cNvSpPr>
            <a:spLocks noGrp="1"/>
          </p:cNvSpPr>
          <p:nvPr/>
        </p:nvSpPr>
        <p:spPr>
          <a:xfrm>
            <a:off x="8343900" y="3390900"/>
            <a:ext cx="33147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8AC60F-411B-4120-B5B1-EA9B5ACEDC43}"/>
              </a:ext>
            </a:extLst>
          </p:cNvPr>
          <p:cNvSpPr>
            <a:spLocks noGrp="1"/>
          </p:cNvSpPr>
          <p:nvPr/>
        </p:nvSpPr>
        <p:spPr>
          <a:xfrm>
            <a:off x="8343900" y="3390900"/>
            <a:ext cx="3314700" cy="6667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01B24B-0E00-49DF-9FC5-D967B3E8B154}"/>
              </a:ext>
            </a:extLst>
          </p:cNvPr>
          <p:cNvSpPr>
            <a:spLocks noGrp="1"/>
          </p:cNvSpPr>
          <p:nvPr/>
        </p:nvSpPr>
        <p:spPr>
          <a:xfrm>
            <a:off x="8515350" y="3609975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29E0AA-D951-4711-B52F-1D35374ED3EB}"/>
              </a:ext>
            </a:extLst>
          </p:cNvPr>
          <p:cNvSpPr>
            <a:spLocks noGrp="1"/>
          </p:cNvSpPr>
          <p:nvPr/>
        </p:nvSpPr>
        <p:spPr>
          <a:xfrm>
            <a:off x="8515350" y="4019550"/>
            <a:ext cx="29718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 GP-based Bayesian optimization </a:t>
            </a:r>
            <a:r>
              <a:rPr lang="en-IN" sz="120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and </a:t>
            </a:r>
            <a:r>
              <a:rPr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maximize D-optimal information</a:t>
            </a:r>
            <a:r>
              <a:rPr lang="en-IN"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.</a:t>
            </a:r>
            <a:endParaRPr sz="120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583178B-F3F9-4283-B69B-90638451C22E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C03FBB-D41F-4241-B7D9-F3B5DEAE4DE0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Methanol case study</a:t>
            </a:r>
          </a:p>
        </p:txBody>
      </p:sp>
    </p:spTree>
    <p:extLst>
      <p:ext uri="{BB962C8B-B14F-4D97-AF65-F5344CB8AC3E}">
        <p14:creationId xmlns:p14="http://schemas.microsoft.com/office/powerpoint/2010/main" val="158687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yebrow">
            <a:extLst>
              <a:ext uri="{FF2B5EF4-FFF2-40B4-BE49-F238E27FC236}">
                <a16:creationId xmlns:a16="http://schemas.microsoft.com/office/drawing/2014/main" id="{48A4E185-471F-44BD-B34B-A6052009BE96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METHANOL CASE STUDY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8B1D9BE-832D-43B8-A48D-B2E0D8F29850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MeOH reactor couples transport and surface reactions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D761CFD-C04D-4C7A-A6DA-DDC3B2E60DDC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881B63-4541-41D9-B862-E09CBEB0F033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D22112-CCB2-4089-A9F9-048EC46B23E9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5000625" cy="4333875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E507EC-31ED-4100-B21A-76D13A58DE8A}"/>
              </a:ext>
            </a:extLst>
          </p:cNvPr>
          <p:cNvSpPr>
            <a:spLocks noGrp="1"/>
          </p:cNvSpPr>
          <p:nvPr/>
        </p:nvSpPr>
        <p:spPr>
          <a:xfrm>
            <a:off x="800100" y="18097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Gas species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9806F4-BCDA-46CC-8221-47D08D3FCD44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3429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CO₂   H₂   H₂O</a:t>
            </a:r>
          </a:p>
          <a:p>
            <a:pPr algn="l">
              <a:defRPr sz="2325" b="1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CH₃OH   CO   N₂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CF54EA-4ACE-4968-865F-AB115C6405B1}"/>
              </a:ext>
            </a:extLst>
          </p:cNvPr>
          <p:cNvSpPr>
            <a:spLocks noGrp="1"/>
          </p:cNvSpPr>
          <p:nvPr/>
        </p:nvSpPr>
        <p:spPr>
          <a:xfrm>
            <a:off x="800100" y="35433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Surface reactions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3C2463-465F-41A2-B4A9-18DD53C2EA17}"/>
              </a:ext>
            </a:extLst>
          </p:cNvPr>
          <p:cNvSpPr>
            <a:spLocks noGrp="1"/>
          </p:cNvSpPr>
          <p:nvPr/>
        </p:nvSpPr>
        <p:spPr>
          <a:xfrm>
            <a:off x="800100" y="4019550"/>
            <a:ext cx="4095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CO₂ + 3H₂  ⇌  CH₃OH + H₂O</a:t>
            </a:r>
          </a:p>
          <a:p>
            <a:pPr algn="l">
              <a:defRPr sz="18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CO₂ + H₂  ⇌  CO + H₂O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31A9A8-5F37-4767-8E50-841F5E29FC76}"/>
              </a:ext>
            </a:extLst>
          </p:cNvPr>
          <p:cNvSpPr>
            <a:spLocks noGrp="1"/>
          </p:cNvSpPr>
          <p:nvPr/>
        </p:nvSpPr>
        <p:spPr>
          <a:xfrm>
            <a:off x="6096000" y="1524000"/>
            <a:ext cx="5562600" cy="4333875"/>
          </a:xfrm>
          <a:prstGeom prst="rect">
            <a:avLst/>
          </a:prstGeom>
          <a:solidFill>
            <a:srgbClr val="E8F4F2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A27C05-B0A4-4BC6-A5E2-CA560AC90961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2D catalytic channel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546C0A-5A72-4DCC-B1C8-968EFC8A24D8}"/>
              </a:ext>
            </a:extLst>
          </p:cNvPr>
          <p:cNvSpPr>
            <a:spLocks noGrp="1"/>
          </p:cNvSpPr>
          <p:nvPr/>
        </p:nvSpPr>
        <p:spPr>
          <a:xfrm>
            <a:off x="6600825" y="3019425"/>
            <a:ext cx="438150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A9E528-3980-4796-B894-562C8508024C}"/>
              </a:ext>
            </a:extLst>
          </p:cNvPr>
          <p:cNvSpPr>
            <a:spLocks noGrp="1"/>
          </p:cNvSpPr>
          <p:nvPr/>
        </p:nvSpPr>
        <p:spPr>
          <a:xfrm>
            <a:off x="7905750" y="4210050"/>
            <a:ext cx="1676400" cy="23812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D8B758-68C8-48A2-B0D2-57C97F25A76B}"/>
              </a:ext>
            </a:extLst>
          </p:cNvPr>
          <p:cNvSpPr>
            <a:spLocks noGrp="1"/>
          </p:cNvSpPr>
          <p:nvPr/>
        </p:nvSpPr>
        <p:spPr>
          <a:xfrm>
            <a:off x="7829550" y="46482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45309"/>
                </a:solidFill>
                <a:latin typeface="Aptos"/>
                <a:ea typeface="Aptos"/>
                <a:cs typeface="Aptos"/>
              </a:rPr>
              <a:t>Catalyst patch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DBB1F4-D6B8-4B15-9106-1F870E9FF0F2}"/>
              </a:ext>
            </a:extLst>
          </p:cNvPr>
          <p:cNvSpPr>
            <a:spLocks noGrp="1"/>
          </p:cNvSpPr>
          <p:nvPr/>
        </p:nvSpPr>
        <p:spPr>
          <a:xfrm>
            <a:off x="6248400" y="34766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Inlet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2101D5-2E44-439D-8945-EB8F0462A7C9}"/>
              </a:ext>
            </a:extLst>
          </p:cNvPr>
          <p:cNvSpPr>
            <a:spLocks noGrp="1"/>
          </p:cNvSpPr>
          <p:nvPr/>
        </p:nvSpPr>
        <p:spPr>
          <a:xfrm>
            <a:off x="11039475" y="347662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Outlet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D803E-534D-4A46-AAF5-AF2C643C1083}"/>
              </a:ext>
            </a:extLst>
          </p:cNvPr>
          <p:cNvSpPr>
            <a:spLocks noGrp="1"/>
          </p:cNvSpPr>
          <p:nvPr/>
        </p:nvSpPr>
        <p:spPr>
          <a:xfrm>
            <a:off x="6477000" y="5238750"/>
            <a:ext cx="466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Parabolic gas velocity transports reactants to the catalyst; diffusion and surface kinetics determine outlet composition.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FA74F91F-0D6C-4FE6-8FB1-640D3F30DBD8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255BB3-7086-4EAA-80C8-E293B92DA057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Methanol case study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884B94-3013-6DD7-EB87-FC513C71FA24}"/>
              </a:ext>
            </a:extLst>
          </p:cNvPr>
          <p:cNvSpPr txBox="1"/>
          <p:nvPr/>
        </p:nvSpPr>
        <p:spPr>
          <a:xfrm>
            <a:off x="630174" y="4947849"/>
            <a:ext cx="4408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CO2 hydrogenation follows methanol synthesis and reverse water gas shift pathways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3416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">
            <a:extLst>
              <a:ext uri="{FF2B5EF4-FFF2-40B4-BE49-F238E27FC236}">
                <a16:creationId xmlns:a16="http://schemas.microsoft.com/office/drawing/2014/main" id="{A8EC99EB-8DAF-4DB9-B4D2-D2C484F7CC70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lang="en-IN" sz="975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Problem</a:t>
            </a:r>
            <a:endParaRPr sz="975" b="1" dirty="0">
              <a:solidFill>
                <a:srgbClr val="0F76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9784D22-2932-4B1B-8DD7-2430CF84ED07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Full CFD is too costly inside an OED loop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06637D5-66BB-4C85-958F-2EFB9CB1E80E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B3C95F-D373-4544-955A-092D336C29A4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370BFC-F672-45FD-A0FB-380A54CEFEFB}"/>
              </a:ext>
            </a:extLst>
          </p:cNvPr>
          <p:cNvSpPr>
            <a:spLocks noGrp="1"/>
          </p:cNvSpPr>
          <p:nvPr/>
        </p:nvSpPr>
        <p:spPr>
          <a:xfrm>
            <a:off x="533400" y="1666875"/>
            <a:ext cx="4476750" cy="87630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6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2ADE4C5-3B66-4398-A8B9-13E2D61843C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04850" y="1800225"/>
                <a:ext cx="4133850" cy="6096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2250" b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00" b="0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∇·(ρ v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00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ar-AE" sz="200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𝑌</m:t>
                        </m:r>
                      </m:e>
                      <m:sup>
                        <m:r>
                          <a:rPr lang="ar-AE" sz="200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sz="2100" b="0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100" i="0" dirty="0">
                            <a:solidFill>
                              <a:srgbClr val="11182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IN" sz="2100" i="0" dirty="0">
                            <a:solidFill>
                              <a:srgbClr val="11182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</m:e>
                      <m:sup>
                        <m:r>
                          <a:rPr lang="ar-AE" sz="210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sz="2100" b="0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) = 0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2ADE4C5-3B66-4398-A8B9-13E2D61843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" y="1800225"/>
                <a:ext cx="4133850" cy="609600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8596EC54-FA43-47A4-B9E8-F4B01C5CCC00}"/>
              </a:ext>
            </a:extLst>
          </p:cNvPr>
          <p:cNvSpPr>
            <a:spLocks noGrp="1"/>
          </p:cNvSpPr>
          <p:nvPr/>
        </p:nvSpPr>
        <p:spPr>
          <a:xfrm>
            <a:off x="533400" y="2800350"/>
            <a:ext cx="4476750" cy="87630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6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40E525F-DE04-48A1-A1B4-1FE38A911C8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04850" y="2933700"/>
                <a:ext cx="4133850" cy="6096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2100" b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2100" i="0" dirty="0">
                            <a:solidFill>
                              <a:srgbClr val="11182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IN" sz="2100" i="0" dirty="0">
                            <a:solidFill>
                              <a:srgbClr val="11182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</m:e>
                      <m:sup>
                        <m:r>
                          <a:rPr lang="ar-AE" sz="210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en-IN" sz="2100" b="0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 = −</a:t>
                </a:r>
                <a:r>
                  <a:rPr lang="el-GR" sz="2100" b="0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ρ Σᵦ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100" b="0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ar-AE" sz="2100" b="0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𝐷</m:t>
                        </m:r>
                      </m:e>
                      <m:sup>
                        <m:r>
                          <a:rPr lang="ar-AE" sz="2100" b="0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𝛼𝛽</m:t>
                        </m:r>
                      </m:sup>
                    </m:sSup>
                  </m:oMath>
                </a14:m>
                <a:r>
                  <a:rPr lang="el-GR" sz="2100" b="0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∇</a:t>
                </a:r>
                <a:r>
                  <a:rPr lang="en-IN" sz="2100" b="0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Y</a:t>
                </a:r>
                <a:r>
                  <a:rPr lang="el-GR" sz="2100" b="0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ᵝ</a:t>
                </a:r>
                <a:endParaRPr sz="2100" b="0" dirty="0">
                  <a:solidFill>
                    <a:srgbClr val="111827"/>
                  </a:solidFill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40E525F-DE04-48A1-A1B4-1FE38A911C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" y="2933700"/>
                <a:ext cx="4133850" cy="609600"/>
              </a:xfrm>
              <a:prstGeom prst="rect">
                <a:avLst/>
              </a:prstGeom>
              <a:blipFill>
                <a:blip r:embed="rId4"/>
                <a:stretch>
                  <a:fillRect b="-500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22A3D4BE-9AAC-4BFF-89AD-D0D82D2FBBBC}"/>
              </a:ext>
            </a:extLst>
          </p:cNvPr>
          <p:cNvSpPr>
            <a:spLocks noGrp="1"/>
          </p:cNvSpPr>
          <p:nvPr/>
        </p:nvSpPr>
        <p:spPr>
          <a:xfrm>
            <a:off x="533400" y="3933825"/>
            <a:ext cx="4476750" cy="87630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6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87E4FD2-AE11-42E4-AE3D-5EC8B2A0EC1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04850" y="4067175"/>
                <a:ext cx="4133850" cy="6096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IN" sz="2100" i="0" dirty="0" smtClean="0">
                          <a:solidFill>
                            <a:srgbClr val="11182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−n·Jᵅ 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sz="2100" b="0" i="1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N" sz="2100" b="0" i="1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IN" sz="2100" b="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SupPr>
                            <m:e>
                              <m:r>
                                <a:rPr lang="en-IN" sz="2100" b="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sz="2100" b="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210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en-IN" sz="2100" i="0" dirty="0" smtClean="0">
                              <a:solidFill>
                                <a:srgbClr val="11182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100" b="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IN" sz="2100" b="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sz="2100" b="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sz="2100" dirty="0">
                  <a:solidFill>
                    <a:srgbClr val="111827"/>
                  </a:solidFill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87E4FD2-AE11-42E4-AE3D-5EC8B2A0EC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" y="4067175"/>
                <a:ext cx="4133850" cy="609600"/>
              </a:xfrm>
              <a:prstGeom prst="rect">
                <a:avLst/>
              </a:prstGeom>
              <a:blipFill>
                <a:blip r:embed="rId5"/>
                <a:stretch>
                  <a:fillRect b="-1400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DAC953AC-6187-4564-B929-F013ED4CD9C4}"/>
              </a:ext>
            </a:extLst>
          </p:cNvPr>
          <p:cNvSpPr>
            <a:spLocks noGrp="1"/>
          </p:cNvSpPr>
          <p:nvPr/>
        </p:nvSpPr>
        <p:spPr>
          <a:xfrm>
            <a:off x="533400" y="5105399"/>
            <a:ext cx="4800600" cy="12001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IN" sz="1425" b="1" dirty="0"/>
              <a:t>species mass-balance equation</a:t>
            </a:r>
            <a:r>
              <a:rPr sz="1425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IN" sz="1425" b="1" dirty="0"/>
              <a:t>multicomponent </a:t>
            </a:r>
            <a:r>
              <a:rPr lang="en-IN" sz="1425" b="1" dirty="0" err="1"/>
              <a:t>Fickian</a:t>
            </a:r>
            <a:r>
              <a:rPr lang="en-IN" sz="1425" b="1" dirty="0"/>
              <a:t> diffusion-flux law</a:t>
            </a:r>
            <a:r>
              <a:rPr sz="1425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 + nonlinear catalytic boundary kinetics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CDAE8D-F148-4744-92A6-ABD191255B98}"/>
              </a:ext>
            </a:extLst>
          </p:cNvPr>
          <p:cNvSpPr>
            <a:spLocks noGrp="1"/>
          </p:cNvSpPr>
          <p:nvPr/>
        </p:nvSpPr>
        <p:spPr>
          <a:xfrm>
            <a:off x="5753100" y="1666875"/>
            <a:ext cx="5905500" cy="371475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7AFAC8-7E57-4BBE-8F4C-0B03506141FB}"/>
              </a:ext>
            </a:extLst>
          </p:cNvPr>
          <p:cNvSpPr>
            <a:spLocks noGrp="1"/>
          </p:cNvSpPr>
          <p:nvPr/>
        </p:nvSpPr>
        <p:spPr>
          <a:xfrm>
            <a:off x="6076950" y="1962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OED becomes difficult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D8BCEF-A245-43C9-9BBB-B6B3AF313333}"/>
              </a:ext>
            </a:extLst>
          </p:cNvPr>
          <p:cNvSpPr>
            <a:spLocks noGrp="1"/>
          </p:cNvSpPr>
          <p:nvPr/>
        </p:nvSpPr>
        <p:spPr>
          <a:xfrm>
            <a:off x="6096000" y="2495550"/>
            <a:ext cx="5048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Each candidate design needs a new nonlinear reacting-flow solution.</a:t>
            </a:r>
          </a:p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Parameter estimation requires repeated model evaluations.</a:t>
            </a:r>
          </a:p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</a:t>
            </a:r>
            <a:r>
              <a:rPr lang="en-IN" sz="157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lang="en-IN" sz="1575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Requires </a:t>
            </a:r>
            <a:r>
              <a:rPr sz="157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many candidate objective evaluations.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0F9A5D-94EC-4484-B2E7-528B061688B1}"/>
              </a:ext>
            </a:extLst>
          </p:cNvPr>
          <p:cNvSpPr>
            <a:spLocks noGrp="1"/>
          </p:cNvSpPr>
          <p:nvPr/>
        </p:nvSpPr>
        <p:spPr>
          <a:xfrm>
            <a:off x="6096000" y="4295775"/>
            <a:ext cx="2381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5BACA3-0A12-47E6-BCC2-9E84E9879511}"/>
              </a:ext>
            </a:extLst>
          </p:cNvPr>
          <p:cNvSpPr>
            <a:spLocks noGrp="1"/>
          </p:cNvSpPr>
          <p:nvPr/>
        </p:nvSpPr>
        <p:spPr>
          <a:xfrm>
            <a:off x="6096000" y="4295775"/>
            <a:ext cx="57150" cy="990600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A7414F-51A2-4633-B436-6A1872A35B6C}"/>
              </a:ext>
            </a:extLst>
          </p:cNvPr>
          <p:cNvSpPr>
            <a:spLocks noGrp="1"/>
          </p:cNvSpPr>
          <p:nvPr/>
        </p:nvSpPr>
        <p:spPr>
          <a:xfrm>
            <a:off x="6305550" y="4524375"/>
            <a:ext cx="203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32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~4,958 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D18A8E-89D8-4A44-B87D-1EFEB2A11B2B}"/>
              </a:ext>
            </a:extLst>
          </p:cNvPr>
          <p:cNvSpPr>
            <a:spLocks noGrp="1"/>
          </p:cNvSpPr>
          <p:nvPr/>
        </p:nvSpPr>
        <p:spPr>
          <a:xfrm>
            <a:off x="6305550" y="5057775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Fine-grid FOM benchmark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7C0B71-7A2C-40F8-92A7-AC3444FB436F}"/>
              </a:ext>
            </a:extLst>
          </p:cNvPr>
          <p:cNvSpPr>
            <a:spLocks noGrp="1"/>
          </p:cNvSpPr>
          <p:nvPr/>
        </p:nvSpPr>
        <p:spPr>
          <a:xfrm>
            <a:off x="8763000" y="4295775"/>
            <a:ext cx="2381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94FB82-7655-4CE5-980F-2D03A9BC091E}"/>
              </a:ext>
            </a:extLst>
          </p:cNvPr>
          <p:cNvSpPr>
            <a:spLocks noGrp="1"/>
          </p:cNvSpPr>
          <p:nvPr/>
        </p:nvSpPr>
        <p:spPr>
          <a:xfrm>
            <a:off x="8763000" y="4295775"/>
            <a:ext cx="57150" cy="990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264A11-8A0C-40D5-9331-9C670EA4C648}"/>
              </a:ext>
            </a:extLst>
          </p:cNvPr>
          <p:cNvSpPr>
            <a:spLocks noGrp="1"/>
          </p:cNvSpPr>
          <p:nvPr/>
        </p:nvSpPr>
        <p:spPr>
          <a:xfrm>
            <a:off x="8972550" y="4524375"/>
            <a:ext cx="203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2.55×10⁻⁴ 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D517ED-00B6-4D08-9F6A-5FBD82D1A18F}"/>
              </a:ext>
            </a:extLst>
          </p:cNvPr>
          <p:cNvSpPr>
            <a:spLocks noGrp="1"/>
          </p:cNvSpPr>
          <p:nvPr/>
        </p:nvSpPr>
        <p:spPr>
          <a:xfrm>
            <a:off x="8972550" y="5057775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ROM online benchmark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C8B0415F-CFDA-4AFA-8FCE-A57BDEB9CD06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15A5AC-B629-41CA-A3CD-5FD68E8D116C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Methanol case study</a:t>
            </a:r>
          </a:p>
        </p:txBody>
      </p:sp>
    </p:spTree>
    <p:extLst>
      <p:ext uri="{BB962C8B-B14F-4D97-AF65-F5344CB8AC3E}">
        <p14:creationId xmlns:p14="http://schemas.microsoft.com/office/powerpoint/2010/main" val="1326554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yebrow">
            <a:extLst>
              <a:ext uri="{FF2B5EF4-FFF2-40B4-BE49-F238E27FC236}">
                <a16:creationId xmlns:a16="http://schemas.microsoft.com/office/drawing/2014/main" id="{2EBA1BB4-2A13-43EB-90DD-D043FC2D8750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REDUCED-ORDER CFD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17A7E50-FE17-4D39-83A8-7D3F96AA9DC7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ROM shifts transport offline and kinetics online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CC8E788-B6A3-4BA0-82EB-99B27D48BC6A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3274FA-5F33-45AD-BF93-4917B6700BB7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5DFDD2-AE01-4E93-BEAA-1682BA20DD52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5353050" cy="1047747"/>
          </a:xfrm>
          <a:prstGeom prst="rect">
            <a:avLst/>
          </a:prstGeom>
          <a:solidFill>
            <a:srgbClr val="E8F4F2"/>
          </a:solidFill>
          <a:ln w="9525">
            <a:solidFill>
              <a:srgbClr val="0F766E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2B9D86F-1EE2-4294-AF12-C391BFAF448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23900" y="1704975"/>
                <a:ext cx="4800600" cy="6381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2250" b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IN" sz="160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IN" sz="160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𝑌</m:t>
                          </m:r>
                        </m:e>
                        <m:sup>
                          <m:r>
                            <a:rPr lang="en-IN" sz="160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𝛼</m:t>
                          </m:r>
                        </m:sup>
                      </m:sSup>
                      <m:r>
                        <a:rPr lang="en-IN" sz="1600" i="1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sSubSup>
                        <m:sSubSupPr>
                          <m:ctrlPr>
                            <a:rPr lang="en-IN" sz="160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SupPr>
                        <m:e>
                          <m:r>
                            <a:rPr lang="en-IN" sz="160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ZRS</m:t>
                          </m:r>
                        </m:sub>
                        <m:sup>
                          <m:r>
                            <a:rPr lang="en-IN" sz="160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𝛼</m:t>
                          </m:r>
                        </m:sup>
                      </m:sSubSup>
                      <m:r>
                        <a:rPr lang="en-IN" sz="1600" i="1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+</m:t>
                      </m:r>
                      <m:r>
                        <a:rPr lang="en-IN" sz="1600" i="1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𝜖</m:t>
                      </m:r>
                      <m:sSubSup>
                        <m:sSubSupPr>
                          <m:ctrlPr>
                            <a:rPr lang="en-IN" sz="160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SupPr>
                        <m:e>
                          <m:r>
                            <a:rPr lang="en-IN" sz="160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IN" sz="160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𝑟</m:t>
                          </m:r>
                          <m:r>
                            <a:rPr lang="en-IN" sz="160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,1</m:t>
                          </m:r>
                        </m:sub>
                        <m:sup>
                          <m:r>
                            <a:rPr lang="en-IN" sz="160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𝛼</m:t>
                          </m:r>
                        </m:sup>
                      </m:sSubSup>
                      <m:r>
                        <a:rPr lang="en-IN" sz="1600" i="1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+</m:t>
                      </m:r>
                      <m:r>
                        <a:rPr lang="en-IN" sz="1600" i="1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𝑂</m:t>
                      </m:r>
                      <m:d>
                        <m:dPr>
                          <m:ctrlPr>
                            <a:rPr lang="en-IN" sz="160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60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IN" sz="160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𝜖</m:t>
                              </m:r>
                            </m:e>
                            <m:sup>
                              <m:r>
                                <a:rPr lang="en-IN" sz="160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1600" dirty="0">
                  <a:solidFill>
                    <a:srgbClr val="111827"/>
                  </a:solidFill>
                  <a:latin typeface="Cambria Math"/>
                  <a:ea typeface="Cambria Math"/>
                  <a:cs typeface="Cambria Math"/>
                </a:endParaRPr>
              </a:p>
              <a:p>
                <a:pPr algn="ctr">
                  <a:defRPr sz="2250" b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6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ROM</m:t>
                          </m:r>
                        </m:sub>
                      </m:sSub>
                      <m:r>
                        <a:rPr lang="en-IN" sz="1600" b="0" i="0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en-IN" sz="1600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ZRS</m:t>
                          </m:r>
                        </m:sub>
                      </m:sSub>
                      <m:r>
                        <a:rPr lang="en-IN" sz="1600" b="0" i="0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16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en-IN" sz="16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𝑟</m:t>
                          </m:r>
                          <m:r>
                            <a:rPr lang="en-IN" sz="1600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IN" sz="16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IN" sz="16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600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rxn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IN" sz="16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IN" sz="16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sz="16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𝑟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IN" sz="16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IN" sz="16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𝜙</m:t>
                          </m:r>
                        </m:e>
                        <m:sub>
                          <m:r>
                            <a:rPr lang="en-IN" sz="16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sz="1600" dirty="0">
                  <a:solidFill>
                    <a:srgbClr val="111827"/>
                  </a:solidFill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2B9D86F-1EE2-4294-AF12-C391BFAF44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704975"/>
                <a:ext cx="4800600" cy="638175"/>
              </a:xfrm>
              <a:prstGeom prst="rect">
                <a:avLst/>
              </a:prstGeom>
              <a:blipFill>
                <a:blip r:embed="rId3"/>
                <a:stretch>
                  <a:fillRect t="-24038" b="-25962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00FDFEAE-5FD5-4439-8ABF-72A9DC3AAE24}"/>
              </a:ext>
            </a:extLst>
          </p:cNvPr>
          <p:cNvSpPr>
            <a:spLocks noGrp="1"/>
          </p:cNvSpPr>
          <p:nvPr/>
        </p:nvSpPr>
        <p:spPr>
          <a:xfrm>
            <a:off x="590550" y="2686050"/>
            <a:ext cx="5048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zero-reaction solution supplies the transport background; basis responses represent the reaction-induced perturbation.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0D543C-F499-4880-8301-84451AAF6183}"/>
              </a:ext>
            </a:extLst>
          </p:cNvPr>
          <p:cNvSpPr>
            <a:spLocks noGrp="1"/>
          </p:cNvSpPr>
          <p:nvPr/>
        </p:nvSpPr>
        <p:spPr>
          <a:xfrm>
            <a:off x="552450" y="4095750"/>
            <a:ext cx="22860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2CEED5-444F-4834-A6A3-CA636DC6D513}"/>
              </a:ext>
            </a:extLst>
          </p:cNvPr>
          <p:cNvSpPr>
            <a:spLocks noGrp="1"/>
          </p:cNvSpPr>
          <p:nvPr/>
        </p:nvSpPr>
        <p:spPr>
          <a:xfrm>
            <a:off x="552450" y="4095750"/>
            <a:ext cx="2286000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FC8322-7278-4151-9C90-5032B34FBF05}"/>
              </a:ext>
            </a:extLst>
          </p:cNvPr>
          <p:cNvSpPr>
            <a:spLocks noGrp="1"/>
          </p:cNvSpPr>
          <p:nvPr/>
        </p:nvSpPr>
        <p:spPr>
          <a:xfrm>
            <a:off x="723900" y="4314825"/>
            <a:ext cx="194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Zero reaction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CE43C2-24ED-49B8-ADD5-441BD04B76B4}"/>
              </a:ext>
            </a:extLst>
          </p:cNvPr>
          <p:cNvSpPr>
            <a:spLocks noGrp="1"/>
          </p:cNvSpPr>
          <p:nvPr/>
        </p:nvSpPr>
        <p:spPr>
          <a:xfrm>
            <a:off x="742950" y="4614294"/>
            <a:ext cx="1943100" cy="7905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Solve flow and multicomponent transport.</a:t>
            </a:r>
            <a:r>
              <a:rPr lang="en-IN"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lang="en-IN" dirty="0"/>
              <a:t>catalytic reaction rates set to 0</a:t>
            </a:r>
            <a:endParaRPr sz="120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4ABF23-07F7-41B8-A824-3647231D399D}"/>
              </a:ext>
            </a:extLst>
          </p:cNvPr>
          <p:cNvSpPr>
            <a:spLocks noGrp="1"/>
          </p:cNvSpPr>
          <p:nvPr/>
        </p:nvSpPr>
        <p:spPr>
          <a:xfrm>
            <a:off x="3619500" y="4095750"/>
            <a:ext cx="22860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1C4316-9E6E-46E0-8C0E-3AA90DBCA8F8}"/>
              </a:ext>
            </a:extLst>
          </p:cNvPr>
          <p:cNvSpPr>
            <a:spLocks noGrp="1"/>
          </p:cNvSpPr>
          <p:nvPr/>
        </p:nvSpPr>
        <p:spPr>
          <a:xfrm>
            <a:off x="3619500" y="4095750"/>
            <a:ext cx="2286000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290702-A285-49E5-9E38-5DBB09CA6C1F}"/>
              </a:ext>
            </a:extLst>
          </p:cNvPr>
          <p:cNvSpPr>
            <a:spLocks noGrp="1"/>
          </p:cNvSpPr>
          <p:nvPr/>
        </p:nvSpPr>
        <p:spPr>
          <a:xfrm>
            <a:off x="3790950" y="4314825"/>
            <a:ext cx="194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Basis responses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7173F5-C660-43D6-9012-9D519832CE92}"/>
              </a:ext>
            </a:extLst>
          </p:cNvPr>
          <p:cNvSpPr>
            <a:spLocks noGrp="1"/>
          </p:cNvSpPr>
          <p:nvPr/>
        </p:nvSpPr>
        <p:spPr>
          <a:xfrm>
            <a:off x="3790950" y="4724400"/>
            <a:ext cx="1943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Precompute reaction-related spatial modes.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3AABE3-0BD8-4EC4-AB07-408080C14476}"/>
              </a:ext>
            </a:extLst>
          </p:cNvPr>
          <p:cNvSpPr>
            <a:spLocks noGrp="1"/>
          </p:cNvSpPr>
          <p:nvPr/>
        </p:nvSpPr>
        <p:spPr>
          <a:xfrm>
            <a:off x="6686550" y="4095750"/>
            <a:ext cx="22860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7B6765-916A-4D98-B9C4-AAC042D8F29F}"/>
              </a:ext>
            </a:extLst>
          </p:cNvPr>
          <p:cNvSpPr>
            <a:spLocks noGrp="1"/>
          </p:cNvSpPr>
          <p:nvPr/>
        </p:nvSpPr>
        <p:spPr>
          <a:xfrm>
            <a:off x="6686550" y="4095750"/>
            <a:ext cx="2286000" cy="6667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AF59F4-ED0B-4115-BC43-06E6BFB84363}"/>
              </a:ext>
            </a:extLst>
          </p:cNvPr>
          <p:cNvSpPr>
            <a:spLocks noGrp="1"/>
          </p:cNvSpPr>
          <p:nvPr/>
        </p:nvSpPr>
        <p:spPr>
          <a:xfrm>
            <a:off x="6858000" y="4314825"/>
            <a:ext cx="194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Online solve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0919C9-15CC-4B66-AF4C-07A7766D9584}"/>
              </a:ext>
            </a:extLst>
          </p:cNvPr>
          <p:cNvSpPr>
            <a:spLocks noGrp="1"/>
          </p:cNvSpPr>
          <p:nvPr/>
        </p:nvSpPr>
        <p:spPr>
          <a:xfrm>
            <a:off x="6858000" y="4724400"/>
            <a:ext cx="1943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Slove </a:t>
            </a:r>
            <a:r>
              <a:rPr lang="en-IN" sz="1200" dirty="0"/>
              <a:t>small nonlinear kinetic system</a:t>
            </a:r>
            <a:endParaRPr sz="120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BF761D-F658-447F-9A7F-8EE196A4DD9E}"/>
              </a:ext>
            </a:extLst>
          </p:cNvPr>
          <p:cNvSpPr>
            <a:spLocks noGrp="1"/>
          </p:cNvSpPr>
          <p:nvPr/>
        </p:nvSpPr>
        <p:spPr>
          <a:xfrm>
            <a:off x="9753600" y="4095750"/>
            <a:ext cx="19050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4AF008-6141-45B8-BE88-978152F9C751}"/>
              </a:ext>
            </a:extLst>
          </p:cNvPr>
          <p:cNvSpPr>
            <a:spLocks noGrp="1"/>
          </p:cNvSpPr>
          <p:nvPr/>
        </p:nvSpPr>
        <p:spPr>
          <a:xfrm>
            <a:off x="9753600" y="4095750"/>
            <a:ext cx="1905000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C88FAB-AF37-4722-93E3-8151AD783FB8}"/>
              </a:ext>
            </a:extLst>
          </p:cNvPr>
          <p:cNvSpPr>
            <a:spLocks noGrp="1"/>
          </p:cNvSpPr>
          <p:nvPr/>
        </p:nvSpPr>
        <p:spPr>
          <a:xfrm>
            <a:off x="9925050" y="4314825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4. Output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8EBB87-D1B9-4624-8BDA-A1E802A99FF4}"/>
              </a:ext>
            </a:extLst>
          </p:cNvPr>
          <p:cNvSpPr>
            <a:spLocks noGrp="1"/>
          </p:cNvSpPr>
          <p:nvPr/>
        </p:nvSpPr>
        <p:spPr>
          <a:xfrm>
            <a:off x="9925050" y="4724400"/>
            <a:ext cx="1562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Recover outlet composition</a:t>
            </a:r>
            <a:r>
              <a:rPr lang="en-IN"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lang="en-IN" sz="1200" dirty="0"/>
              <a:t>and concentration field</a:t>
            </a:r>
            <a:r>
              <a:rPr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822BB8E-CD7C-4262-970A-3F4470D9DD51}"/>
              </a:ext>
            </a:extLst>
          </p:cNvPr>
          <p:cNvSpPr>
            <a:spLocks noGrp="1"/>
          </p:cNvSpPr>
          <p:nvPr/>
        </p:nvSpPr>
        <p:spPr>
          <a:xfrm>
            <a:off x="2905125" y="4638675"/>
            <a:ext cx="495300" cy="247650"/>
          </a:xfrm>
          <a:prstGeom prst="rightArrow">
            <a:avLst/>
          </a:prstGeom>
          <a:solidFill>
            <a:srgbClr val="D8DEE6"/>
          </a:solidFill>
          <a:ln w="0">
            <a:solidFill>
              <a:srgbClr val="D8DEE6"/>
            </a:solidFill>
            <a:prstDash val="solid"/>
          </a:ln>
        </p:spPr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9B6D621-35B1-4EED-B358-52D870A685FF}"/>
              </a:ext>
            </a:extLst>
          </p:cNvPr>
          <p:cNvSpPr>
            <a:spLocks noGrp="1"/>
          </p:cNvSpPr>
          <p:nvPr/>
        </p:nvSpPr>
        <p:spPr>
          <a:xfrm>
            <a:off x="5972175" y="4638675"/>
            <a:ext cx="495300" cy="247650"/>
          </a:xfrm>
          <a:prstGeom prst="rightArrow">
            <a:avLst/>
          </a:prstGeom>
          <a:solidFill>
            <a:srgbClr val="D8DEE6"/>
          </a:solidFill>
          <a:ln w="0">
            <a:solidFill>
              <a:srgbClr val="D8DEE6"/>
            </a:solidFill>
            <a:prstDash val="solid"/>
          </a:ln>
        </p:spPr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6C0956FF-41C0-4CDF-A285-63687E2C8D53}"/>
              </a:ext>
            </a:extLst>
          </p:cNvPr>
          <p:cNvSpPr>
            <a:spLocks noGrp="1"/>
          </p:cNvSpPr>
          <p:nvPr/>
        </p:nvSpPr>
        <p:spPr>
          <a:xfrm>
            <a:off x="9039225" y="4638675"/>
            <a:ext cx="495300" cy="247650"/>
          </a:xfrm>
          <a:prstGeom prst="rightArrow">
            <a:avLst/>
          </a:prstGeom>
          <a:solidFill>
            <a:srgbClr val="D8DEE6"/>
          </a:solidFill>
          <a:ln w="0">
            <a:solidFill>
              <a:srgbClr val="D8DEE6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071A5D35-B3FF-48EA-85AF-9C9AD451A39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E3D877-FC2C-4692-82CD-99BB2E032D82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Methanol case study</a:t>
            </a:r>
          </a:p>
        </p:txBody>
      </p:sp>
    </p:spTree>
    <p:extLst>
      <p:ext uri="{BB962C8B-B14F-4D97-AF65-F5344CB8AC3E}">
        <p14:creationId xmlns:p14="http://schemas.microsoft.com/office/powerpoint/2010/main" val="1446465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yebrow">
            <a:extLst>
              <a:ext uri="{FF2B5EF4-FFF2-40B4-BE49-F238E27FC236}">
                <a16:creationId xmlns:a16="http://schemas.microsoft.com/office/drawing/2014/main" id="{004E37C1-5B49-4221-BD5C-B88EC319082F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METHANOL KINETICS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C9D14FF-4740-4907-94B4-5257A755DEB3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Nine parameters define the coupled MeOH kinetic law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563B8CD-8A93-499A-AB1F-57916BAD0A33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64D27A-CD73-4BB9-9281-87BF63A69106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22A3B2-8B80-4018-9FD5-FD971887E3D8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11125200" cy="68580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FCF4CE5-08B9-4DE9-9700-4F51ED757BC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04850" y="1657350"/>
                <a:ext cx="10782300" cy="4191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725" b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IN" sz="1725" b="0" i="1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𝐷</m:t>
                      </m:r>
                      <m:r>
                        <a:rPr lang="en-IN" sz="1725" b="0" i="1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=1+</m:t>
                      </m:r>
                      <m:sSub>
                        <m:sSubPr>
                          <m:ctrlPr>
                            <a:rPr lang="en-IN" sz="17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IN" sz="17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IN" sz="17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IN" sz="17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𝑝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725" b="0" i="1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1725" b="0" i="1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IN" sz="1725" b="0" i="1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𝑂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𝑝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725" b="0" i="1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1725" b="0" i="1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IN" sz="1725" b="0" i="1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725" b="0" i="1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IN" sz="17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IN" sz="17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IN" sz="17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IN" sz="17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IN" sz="17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IN" sz="17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7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𝛥</m:t>
                              </m:r>
                            </m:e>
                            <m:sub>
                              <m: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𝑇</m:t>
                              </m:r>
                            </m:sub>
                          </m:sSub>
                        </m:sup>
                      </m:sSup>
                      <m:rad>
                        <m:radPr>
                          <m:degHide m:val="on"/>
                          <m:ctrlPr>
                            <a:rPr lang="en-IN" sz="1725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𝑝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725" b="0" i="1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1725" b="0" i="1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IN" sz="1725" b="0" i="1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rad>
                      <m:r>
                        <a:rPr lang="en-IN" sz="1725" b="0" i="1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IN" sz="17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IN" sz="17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IN" sz="17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4</m:t>
                          </m:r>
                        </m:sub>
                      </m:sSub>
                      <m:sSup>
                        <m:sSupPr>
                          <m:ctrlPr>
                            <a:rPr lang="en-IN" sz="17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IN" sz="17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IN" sz="17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8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𝛥</m:t>
                              </m:r>
                            </m:e>
                            <m:sub>
                              <m: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𝑇</m:t>
                              </m:r>
                            </m:sub>
                          </m:sSub>
                        </m:sup>
                      </m:sSup>
                      <m:sSub>
                        <m:sSubPr>
                          <m:ctrlPr>
                            <a:rPr lang="en-IN" sz="17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IN" sz="17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𝑝</m:t>
                          </m:r>
                        </m:e>
                        <m:sub>
                          <m:sSub>
                            <m:sSubPr>
                              <m:ctrlP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IN" sz="17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17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sz="1725" i="1" dirty="0">
                  <a:solidFill>
                    <a:srgbClr val="111827"/>
                  </a:solidFill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FCF4CE5-08B9-4DE9-9700-4F51ED757B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" y="1657350"/>
                <a:ext cx="10782300" cy="419100"/>
              </a:xfrm>
              <a:prstGeom prst="rect">
                <a:avLst/>
              </a:prstGeom>
              <a:blipFill>
                <a:blip r:embed="rId3"/>
                <a:stretch>
                  <a:fillRect t="-7246" b="-13043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9A2D3CA4-C18E-435A-BCBA-6372B9019E65}"/>
              </a:ext>
            </a:extLst>
          </p:cNvPr>
          <p:cNvSpPr>
            <a:spLocks noGrp="1"/>
          </p:cNvSpPr>
          <p:nvPr/>
        </p:nvSpPr>
        <p:spPr>
          <a:xfrm>
            <a:off x="533400" y="2419350"/>
            <a:ext cx="11125200" cy="809625"/>
          </a:xfrm>
          <a:prstGeom prst="rect">
            <a:avLst/>
          </a:prstGeom>
          <a:solidFill>
            <a:srgbClr val="E8F4F2"/>
          </a:solidFill>
          <a:ln w="9525">
            <a:solidFill>
              <a:srgbClr val="0F766E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BDD2FE7-F7B8-4E50-9A0F-C2F59CE1337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04850" y="2552700"/>
                <a:ext cx="10782300" cy="5429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425" b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425" b="0" i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425" b="0" i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425" b="0" i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MeOH</m:t>
                          </m:r>
                        </m:sub>
                      </m:sSub>
                      <m:r>
                        <a:rPr lang="en-IN" sz="1425" b="0" i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IN" sz="1425" b="0" i="1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425" b="0" i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25" b="0" i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IN" sz="1425" b="0" i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IN" sz="1425" b="0" i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1425" b="0" i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IN" sz="1425" b="0" i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1425" b="0" i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425" b="0" i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IN" sz="1425" b="0" i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6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425" b="0" i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425" b="0" i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1425" b="0" i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T</m:t>
                                  </m:r>
                                </m:sub>
                              </m:sSub>
                            </m:sup>
                          </m:sSup>
                          <m:sSub>
                            <m:sSubPr>
                              <m:ctrlPr>
                                <a:rPr lang="en-IN" sz="1425" b="0" i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25" b="0" i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425" b="0" i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C</m:t>
                              </m:r>
                              <m:sSub>
                                <m:sSubPr>
                                  <m:ctrlPr>
                                    <a:rPr lang="en-IN" sz="1425" b="0" i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425" b="0" i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O</m:t>
                                  </m:r>
                                </m:e>
                                <m:sub>
                                  <m:r>
                                    <a:rPr lang="en-IN" sz="1425" b="0" i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IN" sz="1425" b="0" i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25" b="0" i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p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25" b="0" i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425" b="0" i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IN" sz="1425" b="0" i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IN" sz="1425" b="0" i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IN" sz="1425" b="0" i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IN" sz="1425" b="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1425" b="0" i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1425" b="0" i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p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1425" b="0" i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1425" b="0" i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IN" sz="1425" b="0" i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en-IN" sz="1425" b="0" i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O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1425" b="0" i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1425" b="0" i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p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IN" sz="1425" b="0" i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C</m:t>
                                      </m:r>
                                      <m:sSub>
                                        <m:sSubPr>
                                          <m:ctrlPr>
                                            <a:rPr lang="en-IN" sz="1425" b="0" i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1425" b="0" i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IN" sz="1425" b="0" i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en-IN" sz="1425" b="0" i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OH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425" b="0" i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1425" b="0" i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IN" sz="1425" b="0" i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eq</m:t>
                                      </m:r>
                                      <m:r>
                                        <a:rPr lang="en-IN" sz="1425" b="0" i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,1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IN" sz="1425" b="0" i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1425" b="0" i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p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1425" b="0" i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1425" b="0" i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IN" sz="1425" b="0" i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IN" sz="1425" b="0" i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3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IN" sz="1425" b="0" i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1425" b="0" i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p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IN" sz="1425" b="0" i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C</m:t>
                                      </m:r>
                                      <m:sSub>
                                        <m:sSubPr>
                                          <m:ctrlPr>
                                            <a:rPr lang="en-IN" sz="1425" b="0" i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1425" b="0" i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O</m:t>
                                          </m:r>
                                        </m:e>
                                        <m:sub>
                                          <m:r>
                                            <a:rPr lang="en-IN" sz="1425" b="0" i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IN" sz="1425" b="0" i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1425" b="0" i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IN" sz="1425" b="0" i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sz="1425" dirty="0">
                  <a:solidFill>
                    <a:srgbClr val="111827"/>
                  </a:solidFill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BDD2FE7-F7B8-4E50-9A0F-C2F59CE13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" y="2552700"/>
                <a:ext cx="10782300" cy="542925"/>
              </a:xfrm>
              <a:prstGeom prst="rect">
                <a:avLst/>
              </a:prstGeom>
              <a:blipFill>
                <a:blip r:embed="rId4"/>
                <a:stretch>
                  <a:fillRect t="-12360" b="-1573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883C7F23-FC81-48CC-89BD-2BA9DA5BFCA3}"/>
              </a:ext>
            </a:extLst>
          </p:cNvPr>
          <p:cNvSpPr>
            <a:spLocks noGrp="1"/>
          </p:cNvSpPr>
          <p:nvPr/>
        </p:nvSpPr>
        <p:spPr>
          <a:xfrm>
            <a:off x="533400" y="3438525"/>
            <a:ext cx="11125200" cy="809625"/>
          </a:xfrm>
          <a:prstGeom prst="rect">
            <a:avLst/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3EFE832-0624-42A6-BB86-340C9AF4F22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04850" y="3571875"/>
                <a:ext cx="10782300" cy="5429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425" b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425" b="0" i="1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IN" sz="1425" b="0" i="1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425" b="0" i="0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RWGS</m:t>
                          </m:r>
                        </m:sub>
                      </m:sSub>
                      <m:r>
                        <a:rPr lang="en-IN" sz="1425" b="0" i="0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IN" sz="1425" b="0" i="1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425" b="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IN" sz="1425" b="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1425" b="0" i="0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5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IN" sz="1425" b="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IN" sz="1425" b="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IN" sz="1425" b="0" i="1" dirty="0" smtClean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1425" b="0" i="1" dirty="0" smtClean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sz="1425" b="0" i="0" dirty="0" smtClean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9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425" b="0" i="0" dirty="0" smtClean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425" b="0" i="0" dirty="0" smtClean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lang="en-IN" sz="1425" b="0" i="1" dirty="0" smtClean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𝑇</m:t>
                                  </m:r>
                                </m:sub>
                              </m:sSub>
                            </m:sup>
                          </m:sSup>
                          <m:sSub>
                            <m:sSubPr>
                              <m:ctrlPr>
                                <a:rPr lang="en-IN" sz="1425" b="0" i="0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25" b="0" i="0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IN" sz="1425" b="0" i="1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lang="en-IN" sz="1425" b="0" i="1" dirty="0" smtClean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1425" b="0" i="1" dirty="0" smtClean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IN" sz="1425" b="0" i="0" dirty="0" smtClean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IN" sz="1425" b="0" i="0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IN" sz="1425" b="0" i="0" dirty="0" smtClean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IN" sz="1425" b="0" i="1" dirty="0" smtClean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1425" b="0" i="0" dirty="0" smtClean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1425" b="0" i="0" dirty="0" smtClean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p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1425" b="0" i="1" dirty="0" smtClean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425" b="0" i="1" dirty="0" smtClean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IN" sz="1425" b="0" i="0" dirty="0" smtClean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IN" sz="1425" b="0" i="1" dirty="0" smtClean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𝑂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1425" b="0" i="0" dirty="0" smtClean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1425" b="0" i="0" dirty="0" smtClean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p</m:t>
                                      </m:r>
                                    </m:e>
                                    <m:sub>
                                      <m:r>
                                        <a:rPr lang="en-IN" sz="1425" b="0" i="1" dirty="0" smtClean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𝐶𝑂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425" b="0" i="1" dirty="0" smtClean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IN" sz="1425" b="0" i="1" dirty="0" smtClean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IN" sz="1425" b="0" i="1" dirty="0" smtClean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𝐾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IN" sz="1425" b="0" i="0" dirty="0" smtClean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eq</m:t>
                                      </m:r>
                                      <m:r>
                                        <a:rPr lang="en-IN" sz="1425" b="0" i="0" dirty="0" smtClean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,2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1425" b="0" i="0" dirty="0" smtClean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1425" b="0" i="0" dirty="0" smtClean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p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sz="1425" b="0" i="1" dirty="0" smtClean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425" b="0" i="1" dirty="0" smtClean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IN" sz="1425" b="0" i="0" dirty="0" smtClean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1425" b="0" i="0" dirty="0" smtClean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1425" b="0" i="0" dirty="0" smtClean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p</m:t>
                                      </m:r>
                                    </m:e>
                                    <m:sub>
                                      <m:r>
                                        <a:rPr lang="en-IN" sz="1425" b="0" i="1" dirty="0" smtClean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𝐶</m:t>
                                      </m:r>
                                      <m:sSub>
                                        <m:sSubPr>
                                          <m:ctrlPr>
                                            <a:rPr lang="en-IN" sz="1425" b="0" i="1" dirty="0" smtClean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425" b="0" i="1" dirty="0" smtClean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𝑂</m:t>
                                          </m:r>
                                        </m:e>
                                        <m:sub>
                                          <m:r>
                                            <a:rPr lang="en-IN" sz="1425" b="0" i="0" dirty="0" smtClean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IN" sz="1425" b="0" i="1" dirty="0" smtClean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sz="1425" dirty="0">
                  <a:solidFill>
                    <a:srgbClr val="111827"/>
                  </a:solidFill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3EFE832-0624-42A6-BB86-340C9AF4F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" y="3571875"/>
                <a:ext cx="10782300" cy="542925"/>
              </a:xfrm>
              <a:prstGeom prst="rect">
                <a:avLst/>
              </a:prstGeom>
              <a:blipFill>
                <a:blip r:embed="rId5"/>
                <a:stretch>
                  <a:fillRect t="-12360" b="-1460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DAC391F3-574D-436B-94D5-CF47591B97B0}"/>
              </a:ext>
            </a:extLst>
          </p:cNvPr>
          <p:cNvSpPr>
            <a:spLocks noGrp="1"/>
          </p:cNvSpPr>
          <p:nvPr/>
        </p:nvSpPr>
        <p:spPr>
          <a:xfrm>
            <a:off x="533400" y="4648200"/>
            <a:ext cx="11061192" cy="25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p₁–p₅ control rate/adsorption terms; p₆–p₉ control temperature-dependent effects. All are estimated simultaneously.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85F9F1C7-A1B5-4B68-B7DE-06C30604A63B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1708FA-367C-45A1-8C3F-EEF873C2D52E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Methanol case study</a:t>
            </a:r>
          </a:p>
        </p:txBody>
      </p:sp>
    </p:spTree>
    <p:extLst>
      <p:ext uri="{BB962C8B-B14F-4D97-AF65-F5344CB8AC3E}">
        <p14:creationId xmlns:p14="http://schemas.microsoft.com/office/powerpoint/2010/main" val="1446668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">
            <a:extLst>
              <a:ext uri="{FF2B5EF4-FFF2-40B4-BE49-F238E27FC236}">
                <a16:creationId xmlns:a16="http://schemas.microsoft.com/office/drawing/2014/main" id="{2E09DF2E-324F-4BC7-958E-0ACC053E3962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INVERSE PROBLEM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B9ED6D3-80F4-4C32-AD20-17A7C0213494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Nine kinetic parameters are estimated in log space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64BFFFA-635E-49F6-BB7A-D06094161129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456D09-2F22-4E9A-AECF-663857CE1EC4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F383B3-47EB-4193-86B8-4B2C5F0F2B4B}"/>
              </a:ext>
            </a:extLst>
          </p:cNvPr>
          <p:cNvSpPr>
            <a:spLocks noGrp="1"/>
          </p:cNvSpPr>
          <p:nvPr/>
        </p:nvSpPr>
        <p:spPr>
          <a:xfrm>
            <a:off x="533400" y="1552575"/>
            <a:ext cx="5715000" cy="83820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6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CF3EE61-FB1C-499D-A0BC-069A704C485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04850" y="1685925"/>
                <a:ext cx="5372100" cy="5715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875" b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N" sz="1875" b="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SupPr>
                      <m:e>
                        <m:r>
                          <a:rPr lang="en-IN" sz="1875" b="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𝑦</m:t>
                        </m:r>
                      </m:e>
                      <m:sub>
                        <m:r>
                          <a:rPr lang="en-IN" sz="1875" b="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𝑒</m:t>
                        </m:r>
                        <m:r>
                          <a:rPr lang="en-IN" sz="1875" b="0" i="0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1875" b="0" i="0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ℓ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1875" b="0" i="0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obs</m:t>
                        </m:r>
                      </m:sup>
                    </m:sSubSup>
                    <m:r>
                      <a:rPr lang="en-IN" sz="1875" b="0" i="0" dirty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IN" sz="1875" b="0" i="1" dirty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Cambria Math"/>
                      </a:rPr>
                      <m:t>𝒢</m:t>
                    </m:r>
                    <m:d>
                      <m:dPr>
                        <m:ctrlPr>
                          <a:rPr lang="en-IN" sz="1875" b="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75" b="0" i="0" dirty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875" b="0" i="0" dirty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d</m:t>
                            </m:r>
                          </m:e>
                          <m:sub>
                            <m:r>
                              <a:rPr lang="en-IN" sz="1875" b="0" i="1" dirty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𝑒</m:t>
                            </m:r>
                          </m:sub>
                        </m:sSub>
                        <m:r>
                          <a:rPr lang="en-IN" sz="1875" b="0" i="0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IN" sz="1875" b="0" i="1" dirty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IN" sz="1875" b="0" i="1" dirty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𝜃</m:t>
                            </m:r>
                          </m:e>
                          <m:sup>
                            <m:r>
                              <a:rPr lang="en-IN" sz="1875" b="0" i="0" dirty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IN" sz="1875" b="0" i="0" dirty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IN" sz="1875" b="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IN" sz="1875" b="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𝜖</m:t>
                        </m:r>
                      </m:e>
                      <m:sub>
                        <m:r>
                          <a:rPr lang="en-IN" sz="1875" b="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𝑒</m:t>
                        </m:r>
                        <m:r>
                          <a:rPr lang="en-IN" sz="1875" b="0" i="0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1875" b="0" i="0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IN" sz="1875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  </a:t>
                </a:r>
              </a:p>
              <a:p>
                <a:pPr algn="ctr">
                  <a:defRPr sz="1875" b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lang="en-IN" sz="1875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75" b="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IN" sz="1875" b="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𝜖</m:t>
                        </m:r>
                      </m:e>
                      <m:sub>
                        <m:r>
                          <a:rPr lang="en-IN" sz="1875" b="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𝑒</m:t>
                        </m:r>
                        <m:r>
                          <a:rPr lang="en-IN" sz="1875" b="0" i="0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1875" b="0" i="0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ℓ</m:t>
                        </m:r>
                      </m:sub>
                    </m:sSub>
                    <m:r>
                      <a:rPr lang="en-IN" sz="1875" b="0" i="0" dirty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Cambria Math"/>
                      </a:rPr>
                      <m:t>∼</m:t>
                    </m:r>
                    <m:r>
                      <a:rPr lang="en-IN" sz="1875" b="0" i="0" dirty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Cambria Math"/>
                      </a:rPr>
                      <m:t>𝒩</m:t>
                    </m:r>
                    <m:d>
                      <m:dPr>
                        <m:ctrlPr>
                          <a:rPr lang="en-IN" sz="1875" b="0" i="0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IN" sz="1875" b="0" i="0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0,</m:t>
                        </m:r>
                        <m:sSup>
                          <m:sSupPr>
                            <m:ctrlPr>
                              <a:rPr lang="en-IN" sz="1875" b="0" i="1" dirty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IN" sz="1875" b="0" i="1" dirty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IN" sz="1875" b="0" i="0" dirty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1875" b="0" i="0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I</m:t>
                        </m:r>
                      </m:e>
                    </m:d>
                  </m:oMath>
                </a14:m>
                <a:endParaRPr sz="1875" dirty="0">
                  <a:solidFill>
                    <a:srgbClr val="111827"/>
                  </a:solidFill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CF3EE61-FB1C-499D-A0BC-069A704C48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" y="1685925"/>
                <a:ext cx="5372100" cy="571500"/>
              </a:xfrm>
              <a:prstGeom prst="rect">
                <a:avLst/>
              </a:prstGeom>
              <a:blipFill>
                <a:blip r:embed="rId3"/>
                <a:stretch>
                  <a:fillRect t="-7527" b="-13978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371D7C3C-3880-46AD-9700-4289BCE889AC}"/>
              </a:ext>
            </a:extLst>
          </p:cNvPr>
          <p:cNvSpPr>
            <a:spLocks noGrp="1"/>
          </p:cNvSpPr>
          <p:nvPr/>
        </p:nvSpPr>
        <p:spPr>
          <a:xfrm>
            <a:off x="533400" y="2667000"/>
            <a:ext cx="5715000" cy="83820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1BA969F-3192-499E-9A99-6B43F0EDE24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04850" y="2800350"/>
                <a:ext cx="5372100" cy="5715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875" b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ˆ"/>
                          <m:ctrlPr>
                            <a:rPr lang="en-IN" sz="187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IN" sz="187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𝜃</m:t>
                          </m:r>
                        </m:e>
                      </m:acc>
                      <m:r>
                        <a:rPr lang="en-IN" sz="1875" b="0" i="0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limLow>
                        <m:limLowPr>
                          <m:ctrlPr>
                            <a:rPr lang="en-IN" sz="187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en-IN" sz="1875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1875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arg</m:t>
                              </m:r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en-IN" sz="1875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min</m:t>
                              </m:r>
                            </m:e>
                          </m:func>
                        </m:e>
                        <m:lim>
                          <m:r>
                            <a:rPr lang="en-IN" sz="187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𝜃</m:t>
                          </m:r>
                          <m:r>
                            <a:rPr lang="en-IN" sz="1875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IN" sz="187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875" b="0" i="0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IN" sz="1875" b="0" i="0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0,1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1875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9</m:t>
                              </m:r>
                            </m:sup>
                          </m:sSup>
                        </m:lim>
                      </m:limLow>
                      <m:nary>
                        <m:naryPr>
                          <m:chr m:val="∑"/>
                          <m:limLoc m:val="undOvr"/>
                          <m:ctrlPr>
                            <a:rPr lang="en-IN" sz="187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en-IN" sz="187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𝑒</m:t>
                          </m:r>
                          <m:r>
                            <a:rPr lang="en-IN" sz="1875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IN" sz="187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IN" sz="187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875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exp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IN" sz="1875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IN" sz="1875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ℓ</m:t>
                              </m:r>
                              <m:r>
                                <a:rPr lang="en-IN" sz="1875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IN" sz="1875" b="0" i="1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IN" sz="1875" b="0" i="1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1875" b="0" i="0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rep</m:t>
                                  </m:r>
                                </m:sub>
                              </m:sSub>
                            </m:sup>
                            <m:e>
                              <m:sSubSup>
                                <m:sSubSupPr>
                                  <m:ctrlPr>
                                    <a:rPr lang="en-IN" sz="1875" b="0" i="1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IN" sz="1875" b="0" i="1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IN" sz="1875" b="0" i="0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1875" b="0" i="0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a:rPr lang="en-IN" sz="1875" b="0" i="1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𝑒</m:t>
                                          </m:r>
                                          <m:r>
                                            <a:rPr lang="en-IN" sz="1875" b="0" i="0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,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1875" b="0" i="0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ℓ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1875" b="0" i="0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obs</m:t>
                                          </m:r>
                                        </m:sup>
                                      </m:sSubSup>
                                      <m:r>
                                        <a:rPr lang="en-IN" sz="1875" b="0" i="0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1875" b="0" i="0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G</m:t>
                                      </m:r>
                                      <m:d>
                                        <m:dPr>
                                          <m:ctrlPr>
                                            <a:rPr lang="en-IN" sz="1875" b="0" i="1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1875" b="0" i="0" dirty="0">
                                                  <a:solidFill>
                                                    <a:srgbClr val="111827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1875" b="0" i="0" dirty="0">
                                                  <a:solidFill>
                                                    <a:srgbClr val="111827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/>
                                                </a:rPr>
                                                <m:t>d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875" b="0" i="1" dirty="0">
                                                  <a:solidFill>
                                                    <a:srgbClr val="111827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/>
                                                </a:rPr>
                                                <m:t>𝑒</m:t>
                                              </m:r>
                                            </m:sub>
                                          </m:sSub>
                                          <m:r>
                                            <a:rPr lang="en-IN" sz="1875" b="0" i="0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,</m:t>
                                          </m:r>
                                          <m:r>
                                            <a:rPr lang="en-IN" sz="1875" b="0" i="1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IN" sz="1875" b="0" i="0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1875" b="0" i="0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sz="1875" dirty="0">
                  <a:solidFill>
                    <a:srgbClr val="111827"/>
                  </a:solidFill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1BA969F-3192-499E-9A99-6B43F0EDE2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" y="2800350"/>
                <a:ext cx="5372100" cy="571500"/>
              </a:xfrm>
              <a:prstGeom prst="rect">
                <a:avLst/>
              </a:prstGeom>
              <a:blipFill>
                <a:blip r:embed="rId4"/>
                <a:stretch>
                  <a:fillRect t="-17021" b="-2234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024FE4C3-6D66-439E-865E-3558097D0F25}"/>
              </a:ext>
            </a:extLst>
          </p:cNvPr>
          <p:cNvSpPr>
            <a:spLocks noGrp="1"/>
          </p:cNvSpPr>
          <p:nvPr/>
        </p:nvSpPr>
        <p:spPr>
          <a:xfrm>
            <a:off x="533400" y="3781425"/>
            <a:ext cx="5715000" cy="838200"/>
          </a:xfrm>
          <a:prstGeom prst="rect">
            <a:avLst/>
          </a:prstGeom>
          <a:solidFill>
            <a:srgbClr val="E8F4F2"/>
          </a:solidFill>
          <a:ln w="9525">
            <a:solidFill>
              <a:srgbClr val="0F766E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84067E2-0180-4C88-AD66-FE4FABE4279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04850" y="3914775"/>
                <a:ext cx="5372100" cy="5715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500" b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0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IN" sz="20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IN" sz="20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𝑖</m:t>
                          </m:r>
                        </m:sub>
                      </m:sSub>
                      <m:r>
                        <a:rPr lang="en-IN" sz="2000" b="0" i="0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IN" sz="2000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IN" sz="2000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10</m:t>
                          </m:r>
                        </m:e>
                        <m:sup>
                          <m:func>
                            <m:funcPr>
                              <m:ctrlPr>
                                <a:rPr lang="en-IN" sz="20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IN" sz="2000" b="0" i="0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000" b="0" i="0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000" b="0" i="0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10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IN" sz="2000" b="0" i="1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000" b="0" i="1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000" b="0" i="1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IN" sz="2000" b="0" i="1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𝑖</m:t>
                                      </m:r>
                                      <m:r>
                                        <a:rPr lang="en-IN" sz="2000" b="0" i="0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000" b="0" i="0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min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IN" sz="2000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0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IN" sz="20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N" sz="20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IN" sz="20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IN" sz="2000" b="0" i="1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IN" sz="2000" b="0" i="0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000" b="0" i="0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IN" sz="2000" b="0" i="0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10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en-IN" sz="2000" b="0" i="1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000" b="0" i="1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000" b="0" i="1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IN" sz="2000" b="0" i="1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𝑖</m:t>
                                          </m:r>
                                          <m:r>
                                            <a:rPr lang="en-IN" sz="2000" b="0" i="0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,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000" b="0" i="0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max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en-IN" sz="2000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IN" sz="2000" b="0" i="1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IN" sz="2000" b="0" i="0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000" b="0" i="0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IN" sz="2000" b="0" i="0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10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en-IN" sz="2000" b="0" i="1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000" b="0" i="1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000" b="0" i="1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IN" sz="2000" b="0" i="1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𝑖</m:t>
                                          </m:r>
                                          <m:r>
                                            <a:rPr lang="en-IN" sz="2000" b="0" i="0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,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000" b="0" i="0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min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</m:sup>
                      </m:sSup>
                    </m:oMath>
                  </m:oMathPara>
                </a14:m>
                <a:endParaRPr sz="2000" dirty="0">
                  <a:solidFill>
                    <a:srgbClr val="111827"/>
                  </a:solidFill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84067E2-0180-4C88-AD66-FE4FABE427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" y="3914775"/>
                <a:ext cx="5372100" cy="5715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EAE3E20A-EA21-4AE4-980D-E35DA62B76ED}"/>
              </a:ext>
            </a:extLst>
          </p:cNvPr>
          <p:cNvSpPr>
            <a:spLocks noGrp="1"/>
          </p:cNvSpPr>
          <p:nvPr/>
        </p:nvSpPr>
        <p:spPr>
          <a:xfrm>
            <a:off x="6915150" y="1552575"/>
            <a:ext cx="4743450" cy="365760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5389CB-12A7-4FB1-BB1A-C38F0CB68F43}"/>
              </a:ext>
            </a:extLst>
          </p:cNvPr>
          <p:cNvSpPr>
            <a:spLocks noGrp="1"/>
          </p:cNvSpPr>
          <p:nvPr/>
        </p:nvSpPr>
        <p:spPr>
          <a:xfrm>
            <a:off x="7239000" y="1838325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MeOH estimation setting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3F7E2D-10A2-4852-8A99-220812794433}"/>
              </a:ext>
            </a:extLst>
          </p:cNvPr>
          <p:cNvSpPr>
            <a:spLocks noGrp="1"/>
          </p:cNvSpPr>
          <p:nvPr/>
        </p:nvSpPr>
        <p:spPr>
          <a:xfrm>
            <a:off x="7239000" y="2343150"/>
            <a:ext cx="4000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9 unknown kinetic parameters</a:t>
            </a:r>
          </a:p>
          <a:p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6 measured outlet species</a:t>
            </a:r>
          </a:p>
          <a:p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10 repeated measurements per experiment</a:t>
            </a:r>
          </a:p>
          <a:p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Noise levels: 10⁻⁵, 10⁻⁶, 10⁻⁷</a:t>
            </a:r>
          </a:p>
          <a:p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Initial designs: 10</a:t>
            </a:r>
          </a:p>
          <a:p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Maximum experiments: 150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BB7D37-1298-4FF6-BCE9-E033E0FE00D7}"/>
              </a:ext>
            </a:extLst>
          </p:cNvPr>
          <p:cNvSpPr>
            <a:spLocks noGrp="1"/>
          </p:cNvSpPr>
          <p:nvPr/>
        </p:nvSpPr>
        <p:spPr>
          <a:xfrm>
            <a:off x="6915150" y="5448300"/>
            <a:ext cx="4743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log transformation prevents parameters with vastly different magnitudes from dominating the optimizer.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B0CEAC37-3A28-4E98-AC28-06E1EF9EDEE3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CC0E6A-E2D1-4868-B877-076279FEA274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Methanol case study</a:t>
            </a:r>
          </a:p>
        </p:txBody>
      </p:sp>
    </p:spTree>
    <p:extLst>
      <p:ext uri="{BB962C8B-B14F-4D97-AF65-F5344CB8AC3E}">
        <p14:creationId xmlns:p14="http://schemas.microsoft.com/office/powerpoint/2010/main" val="23504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">
            <a:extLst>
              <a:ext uri="{FF2B5EF4-FFF2-40B4-BE49-F238E27FC236}">
                <a16:creationId xmlns:a16="http://schemas.microsoft.com/office/drawing/2014/main" id="{7B8E5F7F-FE99-4D59-8673-AB86CD0FC02E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OPTIMAL EXPERIMENTAL DESIGN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EFBAA81-8D1C-4DBA-A67E-916B46E52684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D-optimal design selects informative experiments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13CDF9F-B4DF-4B74-9A4D-767D91FE5B16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67BAFF-31D1-4972-A7E5-073879935DA8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8DE81E-1FEA-44D3-8E1C-A8C9D9DA5971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11125200" cy="74295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566B7D-0B9B-436B-B248-DB6F1305E937}"/>
              </a:ext>
            </a:extLst>
          </p:cNvPr>
          <p:cNvSpPr>
            <a:spLocks noGrp="1"/>
          </p:cNvSpPr>
          <p:nvPr/>
        </p:nvSpPr>
        <p:spPr>
          <a:xfrm>
            <a:off x="704850" y="1752600"/>
            <a:ext cx="10782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endParaRPr sz="1800" b="0" dirty="0">
              <a:solidFill>
                <a:srgbClr val="111827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CB1D7F-BAE4-48DA-B939-8013C50B474C}"/>
              </a:ext>
            </a:extLst>
          </p:cNvPr>
          <p:cNvSpPr>
            <a:spLocks noGrp="1"/>
          </p:cNvSpPr>
          <p:nvPr/>
        </p:nvSpPr>
        <p:spPr>
          <a:xfrm>
            <a:off x="533400" y="2647950"/>
            <a:ext cx="5143500" cy="895350"/>
          </a:xfrm>
          <a:prstGeom prst="rect">
            <a:avLst/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B51B6A5-0F0A-47BC-B2EF-402366FDE9E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04850" y="2781300"/>
                <a:ext cx="4800600" cy="6286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2325" b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IN" sz="2325" b="0" i="1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𝐹</m:t>
                      </m:r>
                      <m:d>
                        <m:dPr>
                          <m:ctrlPr>
                            <a:rPr lang="en-IN" sz="2325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325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d</m:t>
                          </m:r>
                        </m:e>
                      </m:d>
                      <m:r>
                        <a:rPr lang="en-IN" sz="2325" b="0" i="0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IN" sz="23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3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IN" sz="23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325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rep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IN" sz="23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IN" sz="2325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IN" sz="2325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IN" sz="2325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325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J</m:t>
                          </m:r>
                        </m:e>
                        <m:sup>
                          <m:r>
                            <a:rPr lang="en-IN" sz="2325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IN" sz="2325" b="0" i="0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J</m:t>
                      </m:r>
                    </m:oMath>
                  </m:oMathPara>
                </a14:m>
                <a:endParaRPr sz="2325" dirty="0">
                  <a:solidFill>
                    <a:srgbClr val="111827"/>
                  </a:solidFill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B51B6A5-0F0A-47BC-B2EF-402366FDE9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" y="2781300"/>
                <a:ext cx="4800600" cy="628650"/>
              </a:xfrm>
              <a:prstGeom prst="rect">
                <a:avLst/>
              </a:prstGeom>
              <a:blipFill>
                <a:blip r:embed="rId3"/>
                <a:stretch>
                  <a:fillRect b="-3883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4EC63DF9-F49D-4962-8461-62DE681AFB5B}"/>
              </a:ext>
            </a:extLst>
          </p:cNvPr>
          <p:cNvSpPr>
            <a:spLocks noGrp="1"/>
          </p:cNvSpPr>
          <p:nvPr/>
        </p:nvSpPr>
        <p:spPr>
          <a:xfrm>
            <a:off x="6515100" y="2647950"/>
            <a:ext cx="5143500" cy="895350"/>
          </a:xfrm>
          <a:prstGeom prst="rect">
            <a:avLst/>
          </a:prstGeom>
          <a:solidFill>
            <a:srgbClr val="E8F4F2"/>
          </a:solidFill>
          <a:ln w="9525">
            <a:solidFill>
              <a:srgbClr val="0F766E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04E7D54-5ADA-4AEB-B9F1-B07704E2DBA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686550" y="2781300"/>
                <a:ext cx="4800600" cy="6286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2025" b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IN" sz="2025" b="0" i="1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𝑈</m:t>
                      </m:r>
                      <m:d>
                        <m:dPr>
                          <m:ctrlPr>
                            <a:rPr lang="en-IN" sz="2025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025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d</m:t>
                          </m:r>
                        </m:e>
                      </m:d>
                      <m:r>
                        <a:rPr lang="en-IN" sz="2025" b="0" i="0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IN" sz="2025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IN" sz="2025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IN" sz="2025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IN" sz="2025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025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log</m:t>
                          </m:r>
                        </m:fName>
                        <m:e>
                          <m:func>
                            <m:funcPr>
                              <m:ctrlPr>
                                <a:rPr lang="en-IN" sz="2025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025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det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2025" b="0" i="1" dirty="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IN" sz="2025" b="0" i="1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025" b="0" i="0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025" b="0" i="0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P</m:t>
                                          </m:r>
                                        </m:e>
                                        <m:sub>
                                          <m:r>
                                            <a:rPr lang="en-IN" sz="2025" b="0" i="0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IN" sz="2025" b="0" i="0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025" b="0" i="0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F</m:t>
                                      </m:r>
                                      <m:d>
                                        <m:dPr>
                                          <m:ctrlPr>
                                            <a:rPr lang="en-IN" sz="2025" b="0" i="0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025" b="0" i="0" dirty="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d</m:t>
                                          </m:r>
                                        </m:e>
                                      </m:d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IN" sz="2025" b="0" i="0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025" b="0" i="0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P</m:t>
                                      </m:r>
                                    </m:e>
                                    <m:sub>
                                      <m:r>
                                        <a:rPr lang="en-IN" sz="2025" b="0" i="0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IN" sz="2025" b="0" i="0" dirty="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−1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sz="2025" dirty="0">
                  <a:solidFill>
                    <a:srgbClr val="111827"/>
                  </a:solidFill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04E7D54-5ADA-4AEB-B9F1-B07704E2DB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6550" y="2781300"/>
                <a:ext cx="4800600" cy="628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5CE2F949-23D8-4B6B-A355-5BEB062F4953}"/>
              </a:ext>
            </a:extLst>
          </p:cNvPr>
          <p:cNvSpPr>
            <a:spLocks noGrp="1"/>
          </p:cNvSpPr>
          <p:nvPr/>
        </p:nvSpPr>
        <p:spPr>
          <a:xfrm>
            <a:off x="533400" y="4171950"/>
            <a:ext cx="33337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9150FE-E1B2-43A5-8927-8D75D46DAEAD}"/>
              </a:ext>
            </a:extLst>
          </p:cNvPr>
          <p:cNvSpPr>
            <a:spLocks noGrp="1"/>
          </p:cNvSpPr>
          <p:nvPr/>
        </p:nvSpPr>
        <p:spPr>
          <a:xfrm>
            <a:off x="533400" y="4171950"/>
            <a:ext cx="3333750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B6CC2C-7CA5-412F-9FB5-410933905AE6}"/>
              </a:ext>
            </a:extLst>
          </p:cNvPr>
          <p:cNvSpPr>
            <a:spLocks noGrp="1"/>
          </p:cNvSpPr>
          <p:nvPr/>
        </p:nvSpPr>
        <p:spPr>
          <a:xfrm>
            <a:off x="704850" y="4391025"/>
            <a:ext cx="2990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High sensitivity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A0D045-729F-4B69-9390-8890B2F302C1}"/>
              </a:ext>
            </a:extLst>
          </p:cNvPr>
          <p:cNvSpPr>
            <a:spLocks noGrp="1"/>
          </p:cNvSpPr>
          <p:nvPr/>
        </p:nvSpPr>
        <p:spPr>
          <a:xfrm>
            <a:off x="704850" y="4800600"/>
            <a:ext cx="2990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outlet composition changes when a parameter changes.</a:t>
            </a:r>
            <a:r>
              <a:rPr lang="en-IN"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lang="en-IN" sz="1200" dirty="0"/>
              <a:t>Large sensitivity is useful.</a:t>
            </a:r>
            <a:endParaRPr sz="120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6182B9-77E1-4CD4-8DEA-5BD5946B455F}"/>
              </a:ext>
            </a:extLst>
          </p:cNvPr>
          <p:cNvSpPr>
            <a:spLocks noGrp="1"/>
          </p:cNvSpPr>
          <p:nvPr/>
        </p:nvSpPr>
        <p:spPr>
          <a:xfrm>
            <a:off x="4429125" y="4171950"/>
            <a:ext cx="33337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188F37-B854-4177-8CB1-AE25316FC487}"/>
              </a:ext>
            </a:extLst>
          </p:cNvPr>
          <p:cNvSpPr>
            <a:spLocks noGrp="1"/>
          </p:cNvSpPr>
          <p:nvPr/>
        </p:nvSpPr>
        <p:spPr>
          <a:xfrm>
            <a:off x="4429125" y="4171950"/>
            <a:ext cx="3333750" cy="6667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260945-C3A9-48F1-826E-1F07844406C7}"/>
              </a:ext>
            </a:extLst>
          </p:cNvPr>
          <p:cNvSpPr>
            <a:spLocks noGrp="1"/>
          </p:cNvSpPr>
          <p:nvPr/>
        </p:nvSpPr>
        <p:spPr>
          <a:xfrm>
            <a:off x="4600575" y="4391025"/>
            <a:ext cx="2990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Low correlation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6E6559-B191-4E50-8AB4-F4EE516E3F3C}"/>
              </a:ext>
            </a:extLst>
          </p:cNvPr>
          <p:cNvSpPr>
            <a:spLocks noGrp="1"/>
          </p:cNvSpPr>
          <p:nvPr/>
        </p:nvSpPr>
        <p:spPr>
          <a:xfrm>
            <a:off x="4600575" y="4800600"/>
            <a:ext cx="2990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Different parameters alter the outputs in distinguishable ways.</a:t>
            </a:r>
            <a:r>
              <a:rPr lang="en-IN"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lang="en-IN" sz="1200" dirty="0"/>
              <a:t>Independent parameter sensitivities are more useful than correlated sensitivities.</a:t>
            </a:r>
            <a:endParaRPr sz="120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942F62-C8AC-4288-89E0-2B1ADB216FB2}"/>
              </a:ext>
            </a:extLst>
          </p:cNvPr>
          <p:cNvSpPr>
            <a:spLocks noGrp="1"/>
          </p:cNvSpPr>
          <p:nvPr/>
        </p:nvSpPr>
        <p:spPr>
          <a:xfrm>
            <a:off x="8324850" y="4171950"/>
            <a:ext cx="33337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A44C30-1715-4C55-B091-87664D4ABB33}"/>
              </a:ext>
            </a:extLst>
          </p:cNvPr>
          <p:cNvSpPr>
            <a:spLocks noGrp="1"/>
          </p:cNvSpPr>
          <p:nvPr/>
        </p:nvSpPr>
        <p:spPr>
          <a:xfrm>
            <a:off x="8324850" y="4171950"/>
            <a:ext cx="3333750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AC608C-487D-4E8C-B995-0050F857D8E4}"/>
              </a:ext>
            </a:extLst>
          </p:cNvPr>
          <p:cNvSpPr>
            <a:spLocks noGrp="1"/>
          </p:cNvSpPr>
          <p:nvPr/>
        </p:nvSpPr>
        <p:spPr>
          <a:xfrm>
            <a:off x="8496300" y="4391025"/>
            <a:ext cx="2990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High information gain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F77AC9-6660-433D-A557-D0F894A9AF68}"/>
              </a:ext>
            </a:extLst>
          </p:cNvPr>
          <p:cNvSpPr>
            <a:spLocks noGrp="1"/>
          </p:cNvSpPr>
          <p:nvPr/>
        </p:nvSpPr>
        <p:spPr>
          <a:xfrm>
            <a:off x="8496300" y="4800600"/>
            <a:ext cx="2990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chosen condition contracts parameter uncertainty most strongly.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8274DE72-6DBF-4758-B588-E3C396FA664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BFA9B0-1EBA-4F0B-888B-435E0C315507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Methanol case study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3A5E8B-843F-C4DC-867A-C8257FFB3656}"/>
                  </a:ext>
                </a:extLst>
              </p:cNvPr>
              <p:cNvSpPr txBox="1"/>
              <p:nvPr/>
            </p:nvSpPr>
            <p:spPr>
              <a:xfrm>
                <a:off x="3225118" y="1658975"/>
                <a:ext cx="5832879" cy="6640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𝒢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𝒢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𝒢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3A5E8B-843F-C4DC-867A-C8257FFB3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118" y="1658975"/>
                <a:ext cx="5832879" cy="6640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99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yebrow">
            <a:extLst>
              <a:ext uri="{FF2B5EF4-FFF2-40B4-BE49-F238E27FC236}">
                <a16:creationId xmlns:a16="http://schemas.microsoft.com/office/drawing/2014/main" id="{725D00CE-980F-4B61-9F30-4FFC955A5B92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BAYESIAN OPTIMIZATION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BAF1EB-30FC-40E6-8606-20714735A059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IN" sz="2200" b="1" dirty="0"/>
              <a:t>Bayesian optimization concentrates simulations where information is highest</a:t>
            </a:r>
            <a:endParaRPr sz="220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0D983E0-5566-4D0C-B3C4-6ED46939D41B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40122A-8A23-4EE7-98B5-45B185218014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8C6041-EC5C-43C0-B0B9-9397659D3527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4629150" cy="83820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6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4775475-38D0-49CA-B5A1-CC831EE5A5A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04850" y="1752600"/>
                <a:ext cx="4286250" cy="5715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2250" b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IN" sz="1600" b="0" i="1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𝑓</m:t>
                      </m:r>
                      <m:d>
                        <m:dPr>
                          <m:ctrlPr>
                            <a:rPr lang="en-IN" sz="16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IN" sz="16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𝑑</m:t>
                          </m:r>
                        </m:e>
                      </m:d>
                      <m:r>
                        <a:rPr lang="en-IN" sz="1600" b="0" i="1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∼</m:t>
                      </m:r>
                      <m:r>
                        <a:rPr lang="en-IN" sz="1600" b="0" i="1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𝒢𝒫</m:t>
                      </m:r>
                      <m:d>
                        <m:dPr>
                          <m:ctrlPr>
                            <a:rPr lang="en-IN" sz="16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IN" sz="16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𝑚</m:t>
                          </m:r>
                          <m:d>
                            <m:dPr>
                              <m:ctrlPr>
                                <a:rPr lang="en-IN" sz="16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IN" sz="16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𝑑</m:t>
                              </m:r>
                            </m:e>
                          </m:d>
                          <m:r>
                            <a:rPr lang="en-IN" sz="16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,</m:t>
                          </m:r>
                          <m:r>
                            <a:rPr lang="en-IN" sz="16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𝑘</m:t>
                          </m:r>
                          <m:d>
                            <m:dPr>
                              <m:ctrlPr>
                                <a:rPr lang="en-IN" sz="16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IN" sz="16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𝑑</m:t>
                              </m:r>
                              <m:r>
                                <a:rPr lang="en-IN" sz="16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,</m:t>
                              </m:r>
                              <m:r>
                                <a:rPr lang="en-IN" sz="16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𝑑</m:t>
                              </m:r>
                              <m:r>
                                <a:rPr lang="en-IN" sz="16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′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sz="1600" i="1" dirty="0">
                  <a:solidFill>
                    <a:srgbClr val="111827"/>
                  </a:solidFill>
                  <a:latin typeface="Cambria Math" panose="02040503050406030204" pitchFamily="18" charset="0"/>
                  <a:ea typeface="Cambria Math"/>
                </a:endParaRPr>
              </a:p>
              <a:p>
                <a:pPr algn="ctr">
                  <a:defRPr sz="2250" b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IN" sz="1600" b="0" i="1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𝑓</m:t>
                      </m:r>
                      <m:d>
                        <m:dPr>
                          <m:ctrlPr>
                            <a:rPr lang="en-IN" sz="1600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1600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d</m:t>
                          </m:r>
                        </m:e>
                      </m:d>
                      <m:r>
                        <a:rPr lang="en-IN" sz="1600" b="0" i="0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∣</m:t>
                      </m:r>
                      <m:sSub>
                        <m:sSubPr>
                          <m:ctrlPr>
                            <a:rPr lang="en-IN" sz="1600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IN" sz="1600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𝒟</m:t>
                          </m:r>
                        </m:e>
                        <m:sub>
                          <m:r>
                            <a:rPr lang="en-IN" sz="16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𝑛</m:t>
                          </m:r>
                        </m:sub>
                      </m:sSub>
                      <m:r>
                        <a:rPr lang="en-IN" sz="1600" b="0" i="0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∼</m:t>
                      </m:r>
                      <m:r>
                        <a:rPr lang="en-IN" sz="1600" b="0" i="0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𝒩</m:t>
                      </m:r>
                      <m:d>
                        <m:dPr>
                          <m:ctrlPr>
                            <a:rPr lang="en-IN" sz="160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IN" sz="16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IN" sz="16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1600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1600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d</m:t>
                              </m:r>
                            </m:e>
                          </m:d>
                          <m:r>
                            <a:rPr lang="en-IN" sz="1600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IN" sz="16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SupPr>
                            <m:e>
                              <m:r>
                                <a:rPr lang="en-IN" sz="16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IN" sz="160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IN" sz="1600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IN" sz="1600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1600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d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sz="1600" dirty="0">
                  <a:solidFill>
                    <a:srgbClr val="111827"/>
                  </a:solidFill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4775475-38D0-49CA-B5A1-CC831EE5A5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" y="1752600"/>
                <a:ext cx="4286250" cy="571500"/>
              </a:xfrm>
              <a:prstGeom prst="rect">
                <a:avLst/>
              </a:prstGeom>
              <a:blipFill>
                <a:blip r:embed="rId3"/>
                <a:stretch>
                  <a:fillRect b="-11828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85D2D621-64A8-4016-B770-08B803F50DB4}"/>
              </a:ext>
            </a:extLst>
          </p:cNvPr>
          <p:cNvSpPr>
            <a:spLocks noGrp="1"/>
          </p:cNvSpPr>
          <p:nvPr/>
        </p:nvSpPr>
        <p:spPr>
          <a:xfrm>
            <a:off x="533400" y="2705100"/>
            <a:ext cx="4629150" cy="838200"/>
          </a:xfrm>
          <a:prstGeom prst="rect">
            <a:avLst/>
          </a:prstGeom>
          <a:solidFill>
            <a:srgbClr val="E8F4F2"/>
          </a:solidFill>
          <a:ln w="9525">
            <a:solidFill>
              <a:srgbClr val="0F766E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640D52-31B7-4367-9BB4-D69FB72BBD4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04850" y="2838450"/>
                <a:ext cx="4286250" cy="5715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650" b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IN" sz="1650" b="0" i="1" dirty="0" smtClean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𝐸𝐼</m:t>
                      </m:r>
                      <m:d>
                        <m:dPr>
                          <m:ctrlPr>
                            <a:rPr lang="en-IN" sz="1650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1650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d</m:t>
                          </m:r>
                        </m:e>
                      </m:d>
                      <m:r>
                        <a:rPr lang="en-IN" sz="1650" b="0" i="0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65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IN" sz="165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𝜇</m:t>
                          </m:r>
                          <m:d>
                            <m:dPr>
                              <m:ctrlPr>
                                <a:rPr lang="en-IN" sz="1650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1650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d</m:t>
                              </m:r>
                            </m:e>
                          </m:d>
                          <m:r>
                            <a:rPr lang="en-IN" sz="1650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165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IN" sz="1650" b="0" i="1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650" b="0" i="0" dirty="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best</m:t>
                              </m:r>
                            </m:sub>
                          </m:sSub>
                          <m:r>
                            <a:rPr lang="en-IN" sz="1650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−</m:t>
                          </m:r>
                          <m:r>
                            <a:rPr lang="en-IN" sz="165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𝜉</m:t>
                          </m:r>
                        </m:e>
                      </m:d>
                      <m:r>
                        <m:rPr>
                          <m:sty m:val="p"/>
                        </m:rPr>
                        <a:rPr lang="en-IN" sz="1650" b="0" i="0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Φ</m:t>
                      </m:r>
                      <m:d>
                        <m:dPr>
                          <m:ctrlPr>
                            <a:rPr lang="en-IN" sz="165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IN" sz="165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𝑧</m:t>
                          </m:r>
                        </m:e>
                      </m:d>
                      <m:r>
                        <a:rPr lang="en-IN" sz="1650" b="0" i="0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+</m:t>
                      </m:r>
                      <m:r>
                        <a:rPr lang="en-IN" sz="1650" b="0" i="1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𝜎</m:t>
                      </m:r>
                      <m:d>
                        <m:dPr>
                          <m:ctrlPr>
                            <a:rPr lang="en-IN" sz="1650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1650" b="0" i="0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d</m:t>
                          </m:r>
                        </m:e>
                      </m:d>
                      <m:r>
                        <a:rPr lang="en-IN" sz="1650" b="0" i="1" dirty="0">
                          <a:solidFill>
                            <a:srgbClr val="111827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𝜙</m:t>
                      </m:r>
                      <m:d>
                        <m:dPr>
                          <m:ctrlPr>
                            <a:rPr lang="en-IN" sz="165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IN" sz="1650" b="0" i="1" dirty="0">
                              <a:solidFill>
                                <a:srgbClr val="111827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sz="1650" dirty="0">
                  <a:solidFill>
                    <a:srgbClr val="111827"/>
                  </a:solidFill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640D52-31B7-4367-9BB4-D69FB72BBD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" y="2838450"/>
                <a:ext cx="4286250" cy="5715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4306971C-2CF1-41B9-BDF1-0343278362D2}"/>
              </a:ext>
            </a:extLst>
          </p:cNvPr>
          <p:cNvSpPr>
            <a:spLocks noGrp="1"/>
          </p:cNvSpPr>
          <p:nvPr/>
        </p:nvSpPr>
        <p:spPr>
          <a:xfrm>
            <a:off x="533400" y="3790949"/>
            <a:ext cx="46291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EI balances exploitation of promising conditions with exploration of uncertain regions.</a:t>
            </a:r>
            <a:endParaRPr lang="en-IN" sz="1575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endParaRPr lang="en-IN" sz="1575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sz="1575" dirty="0"/>
              <a:t>FIO defines the information objective; EI determines which candidate should be evaluated next.</a:t>
            </a:r>
          </a:p>
          <a:p>
            <a:pPr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endParaRPr lang="en-IN" sz="1575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sz="1575" dirty="0"/>
              <a:t>Random sampling spends simulations without learning from previous experiments. Bayesian optimization updates its search strategy after every batch.</a:t>
            </a:r>
            <a:endParaRPr sz="1575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B829E1-77B6-4505-B837-83056B664E88}"/>
              </a:ext>
            </a:extLst>
          </p:cNvPr>
          <p:cNvSpPr>
            <a:spLocks noGrp="1"/>
          </p:cNvSpPr>
          <p:nvPr/>
        </p:nvSpPr>
        <p:spPr>
          <a:xfrm>
            <a:off x="5905500" y="1714500"/>
            <a:ext cx="2333625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367E94-BC7A-46A2-A6B7-FC13B744674B}"/>
              </a:ext>
            </a:extLst>
          </p:cNvPr>
          <p:cNvSpPr>
            <a:spLocks noGrp="1"/>
          </p:cNvSpPr>
          <p:nvPr/>
        </p:nvSpPr>
        <p:spPr>
          <a:xfrm>
            <a:off x="5905500" y="1714500"/>
            <a:ext cx="233362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E0FC25-B778-4EDE-BA40-49F72EB8697A}"/>
              </a:ext>
            </a:extLst>
          </p:cNvPr>
          <p:cNvSpPr>
            <a:spLocks noGrp="1"/>
          </p:cNvSpPr>
          <p:nvPr/>
        </p:nvSpPr>
        <p:spPr>
          <a:xfrm>
            <a:off x="6076950" y="1933575"/>
            <a:ext cx="1990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5FFD23-D6A2-492E-A59D-C0450E1A0811}"/>
              </a:ext>
            </a:extLst>
          </p:cNvPr>
          <p:cNvSpPr>
            <a:spLocks noGrp="1"/>
          </p:cNvSpPr>
          <p:nvPr/>
        </p:nvSpPr>
        <p:spPr>
          <a:xfrm>
            <a:off x="6076950" y="2343150"/>
            <a:ext cx="19907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Calculate FIO utility for initial MeOH designs.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B64474-C763-4AAB-B51A-62180F891C86}"/>
              </a:ext>
            </a:extLst>
          </p:cNvPr>
          <p:cNvSpPr>
            <a:spLocks noGrp="1"/>
          </p:cNvSpPr>
          <p:nvPr/>
        </p:nvSpPr>
        <p:spPr>
          <a:xfrm>
            <a:off x="9001125" y="1714500"/>
            <a:ext cx="2333625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CFC2AE-E5FD-4A0A-87DB-B229D9569D82}"/>
              </a:ext>
            </a:extLst>
          </p:cNvPr>
          <p:cNvSpPr>
            <a:spLocks noGrp="1"/>
          </p:cNvSpPr>
          <p:nvPr/>
        </p:nvSpPr>
        <p:spPr>
          <a:xfrm>
            <a:off x="9001125" y="1714500"/>
            <a:ext cx="233362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32B4AF-3F2D-4A8C-80E2-3FEC1CB6A4FD}"/>
              </a:ext>
            </a:extLst>
          </p:cNvPr>
          <p:cNvSpPr>
            <a:spLocks noGrp="1"/>
          </p:cNvSpPr>
          <p:nvPr/>
        </p:nvSpPr>
        <p:spPr>
          <a:xfrm>
            <a:off x="9172575" y="1933575"/>
            <a:ext cx="1990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FA34F-762F-469A-8D9F-A0449E269579}"/>
              </a:ext>
            </a:extLst>
          </p:cNvPr>
          <p:cNvSpPr>
            <a:spLocks noGrp="1"/>
          </p:cNvSpPr>
          <p:nvPr/>
        </p:nvSpPr>
        <p:spPr>
          <a:xfrm>
            <a:off x="9172575" y="2343150"/>
            <a:ext cx="19907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Fit a Gaussian-process surrogate</a:t>
            </a:r>
            <a:r>
              <a:rPr lang="en-IN"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. </a:t>
            </a:r>
            <a:r>
              <a:rPr lang="en-IN" sz="1200" dirty="0"/>
              <a:t>Quantify predicted utility and uncertainty.</a:t>
            </a:r>
            <a:endParaRPr sz="120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90DF07-F77D-4064-B8C0-67BFFD83F075}"/>
              </a:ext>
            </a:extLst>
          </p:cNvPr>
          <p:cNvSpPr>
            <a:spLocks noGrp="1"/>
          </p:cNvSpPr>
          <p:nvPr/>
        </p:nvSpPr>
        <p:spPr>
          <a:xfrm>
            <a:off x="5905500" y="4210050"/>
            <a:ext cx="2333625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0D05F4-F907-46D8-B6E4-79468B1A706C}"/>
              </a:ext>
            </a:extLst>
          </p:cNvPr>
          <p:cNvSpPr>
            <a:spLocks noGrp="1"/>
          </p:cNvSpPr>
          <p:nvPr/>
        </p:nvSpPr>
        <p:spPr>
          <a:xfrm>
            <a:off x="5905500" y="4210050"/>
            <a:ext cx="2333625" cy="6667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74D8CD-3462-422B-94C3-1DE734585C15}"/>
              </a:ext>
            </a:extLst>
          </p:cNvPr>
          <p:cNvSpPr>
            <a:spLocks noGrp="1"/>
          </p:cNvSpPr>
          <p:nvPr/>
        </p:nvSpPr>
        <p:spPr>
          <a:xfrm>
            <a:off x="6076950" y="4429125"/>
            <a:ext cx="1990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Acquire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2DCADE-6BBA-4EED-A085-418CC5EC888E}"/>
              </a:ext>
            </a:extLst>
          </p:cNvPr>
          <p:cNvSpPr>
            <a:spLocks noGrp="1"/>
          </p:cNvSpPr>
          <p:nvPr/>
        </p:nvSpPr>
        <p:spPr>
          <a:xfrm>
            <a:off x="6076950" y="4838700"/>
            <a:ext cx="19907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 expected improvement to rank candidates</a:t>
            </a:r>
            <a:r>
              <a:rPr lang="en-IN"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and select </a:t>
            </a:r>
            <a:r>
              <a:rPr lang="en-IN" sz="1200" dirty="0"/>
              <a:t>the next design</a:t>
            </a:r>
            <a:endParaRPr sz="120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9BCA8F-7E80-4570-A6ED-20EB16E746A8}"/>
              </a:ext>
            </a:extLst>
          </p:cNvPr>
          <p:cNvSpPr>
            <a:spLocks noGrp="1"/>
          </p:cNvSpPr>
          <p:nvPr/>
        </p:nvSpPr>
        <p:spPr>
          <a:xfrm>
            <a:off x="9001125" y="4210050"/>
            <a:ext cx="2333625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A6D45D-86E7-4F9F-B430-650783073FE9}"/>
              </a:ext>
            </a:extLst>
          </p:cNvPr>
          <p:cNvSpPr>
            <a:spLocks noGrp="1"/>
          </p:cNvSpPr>
          <p:nvPr/>
        </p:nvSpPr>
        <p:spPr>
          <a:xfrm>
            <a:off x="9001125" y="4210050"/>
            <a:ext cx="233362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A07CB5-2EEA-452D-AF82-29580BB7FFB7}"/>
              </a:ext>
            </a:extLst>
          </p:cNvPr>
          <p:cNvSpPr>
            <a:spLocks noGrp="1"/>
          </p:cNvSpPr>
          <p:nvPr/>
        </p:nvSpPr>
        <p:spPr>
          <a:xfrm>
            <a:off x="9172575" y="4429125"/>
            <a:ext cx="1990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Update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A167F4-604A-4809-8398-76150DE43188}"/>
              </a:ext>
            </a:extLst>
          </p:cNvPr>
          <p:cNvSpPr>
            <a:spLocks noGrp="1"/>
          </p:cNvSpPr>
          <p:nvPr/>
        </p:nvSpPr>
        <p:spPr>
          <a:xfrm>
            <a:off x="9172575" y="4838700"/>
            <a:ext cx="19907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Run the selected batch, estimate parameters, and repeat.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DC85822-C144-4AB7-9F7D-8D096F717B48}"/>
              </a:ext>
            </a:extLst>
          </p:cNvPr>
          <p:cNvSpPr>
            <a:spLocks noGrp="1"/>
          </p:cNvSpPr>
          <p:nvPr/>
        </p:nvSpPr>
        <p:spPr>
          <a:xfrm>
            <a:off x="8324850" y="2438400"/>
            <a:ext cx="457200" cy="247650"/>
          </a:xfrm>
          <a:prstGeom prst="rightArrow">
            <a:avLst/>
          </a:prstGeom>
          <a:solidFill>
            <a:srgbClr val="D8DEE6"/>
          </a:solidFill>
          <a:ln w="0">
            <a:solidFill>
              <a:srgbClr val="D8DEE6"/>
            </a:solidFill>
            <a:prstDash val="solid"/>
          </a:ln>
        </p:spPr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C7A103A3-55C6-4C36-9511-574048EAA9CF}"/>
              </a:ext>
            </a:extLst>
          </p:cNvPr>
          <p:cNvSpPr>
            <a:spLocks noGrp="1"/>
          </p:cNvSpPr>
          <p:nvPr/>
        </p:nvSpPr>
        <p:spPr>
          <a:xfrm>
            <a:off x="9658350" y="3562350"/>
            <a:ext cx="0" cy="247650"/>
          </a:xfrm>
          <a:prstGeom prst="rightArrow">
            <a:avLst/>
          </a:prstGeom>
          <a:solidFill>
            <a:srgbClr val="D8DEE6"/>
          </a:solidFill>
          <a:ln w="0">
            <a:solidFill>
              <a:srgbClr val="D8DEE6"/>
            </a:solidFill>
            <a:prstDash val="solid"/>
          </a:ln>
        </p:spPr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C0B4978-4B14-4AD8-A492-0E8401B39A55}"/>
              </a:ext>
            </a:extLst>
          </p:cNvPr>
          <p:cNvSpPr>
            <a:spLocks noGrp="1"/>
          </p:cNvSpPr>
          <p:nvPr/>
        </p:nvSpPr>
        <p:spPr>
          <a:xfrm>
            <a:off x="9944100" y="3543300"/>
            <a:ext cx="400050" cy="457200"/>
          </a:xfrm>
          <a:prstGeom prst="downArrow">
            <a:avLst/>
          </a:prstGeom>
          <a:solidFill>
            <a:srgbClr val="D8DEE6"/>
          </a:solidFill>
          <a:ln w="0">
            <a:solidFill>
              <a:srgbClr val="D8DEE6"/>
            </a:solidFill>
            <a:prstDash val="solid"/>
          </a:ln>
        </p:spPr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37ACABCF-0611-491D-9ED4-62C5A174A8B9}"/>
              </a:ext>
            </a:extLst>
          </p:cNvPr>
          <p:cNvSpPr>
            <a:spLocks noGrp="1"/>
          </p:cNvSpPr>
          <p:nvPr/>
        </p:nvSpPr>
        <p:spPr>
          <a:xfrm>
            <a:off x="8324850" y="4953000"/>
            <a:ext cx="457200" cy="247650"/>
          </a:xfrm>
          <a:prstGeom prst="rightArrow">
            <a:avLst/>
          </a:prstGeom>
          <a:solidFill>
            <a:srgbClr val="D8DEE6"/>
          </a:solidFill>
          <a:ln w="0">
            <a:solidFill>
              <a:srgbClr val="D8DEE6"/>
            </a:solidFill>
            <a:prstDash val="solid"/>
          </a:ln>
        </p:spPr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5F0B9AFE-F027-46BD-B281-5D4B4B4D4389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D7EA69-A5FD-4C35-8633-7C1F548B839A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Methanol case study</a:t>
            </a:r>
          </a:p>
        </p:txBody>
      </p:sp>
    </p:spTree>
    <p:extLst>
      <p:ext uri="{BB962C8B-B14F-4D97-AF65-F5344CB8AC3E}">
        <p14:creationId xmlns:p14="http://schemas.microsoft.com/office/powerpoint/2010/main" val="607490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CFEAE1F0-263E-4DC8-AD18-053335B4616A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COMPUTATIONAL WORKFLOW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006B847-53AC-43EF-8B19-41DFF4268172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implementation closes the MeOH design loop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5E072C9-9D31-4DE3-9CAE-7FE0DE9A3776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316A60-3A5D-4C64-8EF7-87733EC4BEAD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A216A0-6AF1-4439-B35C-78ACC16506DB}"/>
              </a:ext>
            </a:extLst>
          </p:cNvPr>
          <p:cNvSpPr>
            <a:spLocks noGrp="1"/>
          </p:cNvSpPr>
          <p:nvPr/>
        </p:nvSpPr>
        <p:spPr>
          <a:xfrm>
            <a:off x="533400" y="2495550"/>
            <a:ext cx="1905000" cy="1657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9EA813-949F-4AAD-A334-40B7E3D9004B}"/>
              </a:ext>
            </a:extLst>
          </p:cNvPr>
          <p:cNvSpPr>
            <a:spLocks noGrp="1"/>
          </p:cNvSpPr>
          <p:nvPr/>
        </p:nvSpPr>
        <p:spPr>
          <a:xfrm>
            <a:off x="533400" y="2495550"/>
            <a:ext cx="1905000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29ED4B-4C8A-46DC-9F5A-64C9A7538CFC}"/>
              </a:ext>
            </a:extLst>
          </p:cNvPr>
          <p:cNvSpPr>
            <a:spLocks noGrp="1"/>
          </p:cNvSpPr>
          <p:nvPr/>
        </p:nvSpPr>
        <p:spPr>
          <a:xfrm>
            <a:off x="704850" y="2714625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Initial designs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5FEEC7-6BB4-409A-8946-E313667A871E}"/>
              </a:ext>
            </a:extLst>
          </p:cNvPr>
          <p:cNvSpPr>
            <a:spLocks noGrp="1"/>
          </p:cNvSpPr>
          <p:nvPr/>
        </p:nvSpPr>
        <p:spPr>
          <a:xfrm>
            <a:off x="704850" y="3124200"/>
            <a:ext cx="1562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10 feasible MeOH conditions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508C1DF-88BC-42CA-BC1F-70E293A09C40}"/>
              </a:ext>
            </a:extLst>
          </p:cNvPr>
          <p:cNvSpPr>
            <a:spLocks noGrp="1"/>
          </p:cNvSpPr>
          <p:nvPr/>
        </p:nvSpPr>
        <p:spPr>
          <a:xfrm>
            <a:off x="2533650" y="3190875"/>
            <a:ext cx="457200" cy="247650"/>
          </a:xfrm>
          <a:prstGeom prst="rightArrow">
            <a:avLst/>
          </a:prstGeom>
          <a:solidFill>
            <a:srgbClr val="D8DEE6"/>
          </a:solidFill>
          <a:ln w="0">
            <a:solidFill>
              <a:srgbClr val="D8DEE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E5C816-4C33-493B-B1EC-F4E7B08A996F}"/>
              </a:ext>
            </a:extLst>
          </p:cNvPr>
          <p:cNvSpPr>
            <a:spLocks noGrp="1"/>
          </p:cNvSpPr>
          <p:nvPr/>
        </p:nvSpPr>
        <p:spPr>
          <a:xfrm>
            <a:off x="2857500" y="2495550"/>
            <a:ext cx="1905000" cy="1657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F3F9FB-4F2A-4E8C-B520-A3C4D2F7FE15}"/>
              </a:ext>
            </a:extLst>
          </p:cNvPr>
          <p:cNvSpPr>
            <a:spLocks noGrp="1"/>
          </p:cNvSpPr>
          <p:nvPr/>
        </p:nvSpPr>
        <p:spPr>
          <a:xfrm>
            <a:off x="2857500" y="2495550"/>
            <a:ext cx="1905000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77EA96-32D2-4EFF-8389-B0A16A0F0A83}"/>
              </a:ext>
            </a:extLst>
          </p:cNvPr>
          <p:cNvSpPr>
            <a:spLocks noGrp="1"/>
          </p:cNvSpPr>
          <p:nvPr/>
        </p:nvSpPr>
        <p:spPr>
          <a:xfrm>
            <a:off x="3028950" y="2714625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ROM / RBS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639915-B8A1-4CF9-AE98-76AE258A8CB1}"/>
              </a:ext>
            </a:extLst>
          </p:cNvPr>
          <p:cNvSpPr>
            <a:spLocks noGrp="1"/>
          </p:cNvSpPr>
          <p:nvPr/>
        </p:nvSpPr>
        <p:spPr>
          <a:xfrm>
            <a:off x="3028950" y="3124200"/>
            <a:ext cx="1562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Outlet compositions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2A309FFE-CE88-466E-BBE9-FA06DD460BC2}"/>
              </a:ext>
            </a:extLst>
          </p:cNvPr>
          <p:cNvSpPr>
            <a:spLocks noGrp="1"/>
          </p:cNvSpPr>
          <p:nvPr/>
        </p:nvSpPr>
        <p:spPr>
          <a:xfrm>
            <a:off x="4857750" y="3190875"/>
            <a:ext cx="457200" cy="247650"/>
          </a:xfrm>
          <a:prstGeom prst="rightArrow">
            <a:avLst/>
          </a:prstGeom>
          <a:solidFill>
            <a:srgbClr val="D8DEE6"/>
          </a:solidFill>
          <a:ln w="0">
            <a:solidFill>
              <a:srgbClr val="D8DEE6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EAD990-E03B-4F84-994F-B0D592F144AE}"/>
              </a:ext>
            </a:extLst>
          </p:cNvPr>
          <p:cNvSpPr>
            <a:spLocks noGrp="1"/>
          </p:cNvSpPr>
          <p:nvPr/>
        </p:nvSpPr>
        <p:spPr>
          <a:xfrm>
            <a:off x="5181600" y="2495550"/>
            <a:ext cx="1905000" cy="1657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F20EE5-2F5F-4CEA-BB2E-681BD3AC37DE}"/>
              </a:ext>
            </a:extLst>
          </p:cNvPr>
          <p:cNvSpPr>
            <a:spLocks noGrp="1"/>
          </p:cNvSpPr>
          <p:nvPr/>
        </p:nvSpPr>
        <p:spPr>
          <a:xfrm>
            <a:off x="5181600" y="2495550"/>
            <a:ext cx="1905000" cy="6667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0EA96B-CC1D-47B2-960D-95A1491CBBB7}"/>
              </a:ext>
            </a:extLst>
          </p:cNvPr>
          <p:cNvSpPr>
            <a:spLocks noGrp="1"/>
          </p:cNvSpPr>
          <p:nvPr/>
        </p:nvSpPr>
        <p:spPr>
          <a:xfrm>
            <a:off x="5353050" y="2714625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Noisy data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6F5B73-6F45-4354-BB46-CEB2E7F84882}"/>
              </a:ext>
            </a:extLst>
          </p:cNvPr>
          <p:cNvSpPr>
            <a:spLocks noGrp="1"/>
          </p:cNvSpPr>
          <p:nvPr/>
        </p:nvSpPr>
        <p:spPr>
          <a:xfrm>
            <a:off x="5353050" y="3124200"/>
            <a:ext cx="1562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10 repeats per experiment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0EBF4CA-AD17-49C2-ACFF-FA833BE0F09A}"/>
              </a:ext>
            </a:extLst>
          </p:cNvPr>
          <p:cNvSpPr>
            <a:spLocks noGrp="1"/>
          </p:cNvSpPr>
          <p:nvPr/>
        </p:nvSpPr>
        <p:spPr>
          <a:xfrm>
            <a:off x="7181850" y="3190875"/>
            <a:ext cx="457200" cy="247650"/>
          </a:xfrm>
          <a:prstGeom prst="rightArrow">
            <a:avLst/>
          </a:prstGeom>
          <a:solidFill>
            <a:srgbClr val="D8DEE6"/>
          </a:solidFill>
          <a:ln w="0">
            <a:solidFill>
              <a:srgbClr val="D8DEE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93F741-9742-45DA-85AA-6ED957FD0AC8}"/>
              </a:ext>
            </a:extLst>
          </p:cNvPr>
          <p:cNvSpPr>
            <a:spLocks noGrp="1"/>
          </p:cNvSpPr>
          <p:nvPr/>
        </p:nvSpPr>
        <p:spPr>
          <a:xfrm>
            <a:off x="7505700" y="2495550"/>
            <a:ext cx="1905000" cy="1657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5720E1-4275-4FFD-8EA2-FB8233DD9B36}"/>
              </a:ext>
            </a:extLst>
          </p:cNvPr>
          <p:cNvSpPr>
            <a:spLocks noGrp="1"/>
          </p:cNvSpPr>
          <p:nvPr/>
        </p:nvSpPr>
        <p:spPr>
          <a:xfrm>
            <a:off x="7505700" y="2495550"/>
            <a:ext cx="1905000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6D0F90-3292-46CE-86A8-65E69AD15A4F}"/>
              </a:ext>
            </a:extLst>
          </p:cNvPr>
          <p:cNvSpPr>
            <a:spLocks noGrp="1"/>
          </p:cNvSpPr>
          <p:nvPr/>
        </p:nvSpPr>
        <p:spPr>
          <a:xfrm>
            <a:off x="7677150" y="2714625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Ipopt estimate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2C56C0-B60E-4670-AE0C-15B87784A8F2}"/>
              </a:ext>
            </a:extLst>
          </p:cNvPr>
          <p:cNvSpPr>
            <a:spLocks noGrp="1"/>
          </p:cNvSpPr>
          <p:nvPr/>
        </p:nvSpPr>
        <p:spPr>
          <a:xfrm>
            <a:off x="7677150" y="3124200"/>
            <a:ext cx="1562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Update 9 kinetics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D0AB0E5C-8D36-414A-A267-F049EB1A08CD}"/>
              </a:ext>
            </a:extLst>
          </p:cNvPr>
          <p:cNvSpPr>
            <a:spLocks noGrp="1"/>
          </p:cNvSpPr>
          <p:nvPr/>
        </p:nvSpPr>
        <p:spPr>
          <a:xfrm>
            <a:off x="9505950" y="3190875"/>
            <a:ext cx="457200" cy="247650"/>
          </a:xfrm>
          <a:prstGeom prst="rightArrow">
            <a:avLst/>
          </a:prstGeom>
          <a:solidFill>
            <a:srgbClr val="D8DEE6"/>
          </a:solidFill>
          <a:ln w="0">
            <a:solidFill>
              <a:srgbClr val="D8DEE6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F34BBF-35AD-447E-BE8C-D6AEC5AA6E3C}"/>
              </a:ext>
            </a:extLst>
          </p:cNvPr>
          <p:cNvSpPr>
            <a:spLocks noGrp="1"/>
          </p:cNvSpPr>
          <p:nvPr/>
        </p:nvSpPr>
        <p:spPr>
          <a:xfrm>
            <a:off x="9829800" y="2495550"/>
            <a:ext cx="1905000" cy="1657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7E4696-E025-405D-B041-931C07D478E5}"/>
              </a:ext>
            </a:extLst>
          </p:cNvPr>
          <p:cNvSpPr>
            <a:spLocks noGrp="1"/>
          </p:cNvSpPr>
          <p:nvPr/>
        </p:nvSpPr>
        <p:spPr>
          <a:xfrm>
            <a:off x="9829800" y="2495550"/>
            <a:ext cx="1905000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39ED02-9BF2-4335-AB00-CC2139BA61E8}"/>
              </a:ext>
            </a:extLst>
          </p:cNvPr>
          <p:cNvSpPr>
            <a:spLocks noGrp="1"/>
          </p:cNvSpPr>
          <p:nvPr/>
        </p:nvSpPr>
        <p:spPr>
          <a:xfrm>
            <a:off x="10001250" y="2714625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FIO + GP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193204-895C-4509-92AE-75A67729FCFC}"/>
              </a:ext>
            </a:extLst>
          </p:cNvPr>
          <p:cNvSpPr>
            <a:spLocks noGrp="1"/>
          </p:cNvSpPr>
          <p:nvPr/>
        </p:nvSpPr>
        <p:spPr>
          <a:xfrm>
            <a:off x="10001250" y="3124200"/>
            <a:ext cx="1562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 the next batch</a:t>
            </a: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57B002E0-22EC-4661-A199-F5D2ADCFCE8A}"/>
              </a:ext>
            </a:extLst>
          </p:cNvPr>
          <p:cNvSpPr>
            <a:spLocks noGrp="1"/>
          </p:cNvSpPr>
          <p:nvPr/>
        </p:nvSpPr>
        <p:spPr>
          <a:xfrm>
            <a:off x="10096500" y="4410075"/>
            <a:ext cx="400050" cy="457200"/>
          </a:xfrm>
          <a:prstGeom prst="downArrow">
            <a:avLst/>
          </a:prstGeom>
          <a:solidFill>
            <a:srgbClr val="D8DEE6"/>
          </a:solidFill>
          <a:ln w="0">
            <a:solidFill>
              <a:srgbClr val="D8DEE6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888BC59-67D6-46CD-B35E-558FC08112D1}"/>
              </a:ext>
            </a:extLst>
          </p:cNvPr>
          <p:cNvSpPr>
            <a:spLocks noGrp="1"/>
          </p:cNvSpPr>
          <p:nvPr/>
        </p:nvSpPr>
        <p:spPr>
          <a:xfrm>
            <a:off x="7048500" y="52387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Repeat until the experiment budget is exhausted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DE661A-ACBD-4CAF-BB3F-D62333434606}"/>
              </a:ext>
            </a:extLst>
          </p:cNvPr>
          <p:cNvSpPr>
            <a:spLocks noGrp="1"/>
          </p:cNvSpPr>
          <p:nvPr/>
        </p:nvSpPr>
        <p:spPr>
          <a:xfrm>
            <a:off x="952500" y="59531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Python: GP/EI, design handling, figures  •  Julia: VoronoiFVM ROM/RBS and constrained parameter estimation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F935D782-505E-492D-8191-5C174C129066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E5044E9-AA94-4C89-8F72-DE32D32ABAB7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Methanol case study</a:t>
            </a:r>
          </a:p>
        </p:txBody>
      </p:sp>
    </p:spTree>
    <p:extLst>
      <p:ext uri="{BB962C8B-B14F-4D97-AF65-F5344CB8AC3E}">
        <p14:creationId xmlns:p14="http://schemas.microsoft.com/office/powerpoint/2010/main" val="1308352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yebrow">
            <a:extLst>
              <a:ext uri="{FF2B5EF4-FFF2-40B4-BE49-F238E27FC236}">
                <a16:creationId xmlns:a16="http://schemas.microsoft.com/office/drawing/2014/main" id="{1D6C04BF-74FE-46E4-9310-CBB0F3B8848B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ALGORITHMIC VERIFICATION ONLY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51FB1F6-9D08-40E5-9FD2-B03A73B1B28C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Mass-action verification precedes the MeOH study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26FBD43-DF7B-44CC-AE36-F131549CA18A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583ACB-A1F2-40AF-949E-F1601E802E08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79FE1A-4F1E-4354-B2BC-7770037D10DC}"/>
              </a:ext>
            </a:extLst>
          </p:cNvPr>
          <p:cNvSpPr>
            <a:spLocks noGrp="1"/>
          </p:cNvSpPr>
          <p:nvPr/>
        </p:nvSpPr>
        <p:spPr>
          <a:xfrm>
            <a:off x="469392" y="2540781"/>
            <a:ext cx="3714750" cy="72390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C72A89-7F5B-4A32-B750-6D988A171C8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40842" y="2674131"/>
                <a:ext cx="3371850" cy="4572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875" b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lang="en-IN" sz="1875" b="0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r = k₁ exp</a:t>
                </a:r>
                <a14:m>
                  <m:oMath xmlns:m="http://schemas.openxmlformats.org/officeDocument/2006/math">
                    <m:r>
                      <a:rPr lang="en-IN" sz="1875" b="0" i="1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Cambria Math"/>
                        <a:cs typeface="Cambria Math"/>
                      </a:rPr>
                      <m:t> </m:t>
                    </m:r>
                  </m:oMath>
                </a14:m>
                <a:r>
                  <a:rPr lang="en-IN" sz="1875" b="0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75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875" b="0" i="1" smtClean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IN" sz="1875" b="0" i="1" smtClean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−</m:t>
                            </m:r>
                            <m:r>
                              <a:rPr lang="en-IN" sz="1875" b="0" i="1" smtClean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en-IN" sz="1875" b="0" i="1" smtClean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ar-AE" sz="1875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𝑅</m:t>
                        </m:r>
                        <m:r>
                          <a:rPr lang="en-IN" sz="1875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IN" sz="1875" b="0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)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875" b="0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SupPr>
                      <m:e>
                        <m:r>
                          <a:rPr lang="en-IN" sz="1875" b="0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𝑌</m:t>
                        </m:r>
                      </m:e>
                      <m:sub>
                        <m:r>
                          <a:rPr lang="en-IN" sz="1875" b="0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  <m:sup>
                        <m:r>
                          <a:rPr lang="en-IN" sz="1875" b="0" i="1" dirty="0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IN" sz="1875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IN" sz="1875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𝑌</m:t>
                        </m:r>
                      </m:e>
                      <m:sub>
                        <m:r>
                          <a:rPr lang="en-IN" sz="1875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endParaRPr sz="1875" b="0" dirty="0">
                  <a:solidFill>
                    <a:srgbClr val="111827"/>
                  </a:solidFill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C72A89-7F5B-4A32-B750-6D988A171C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42" y="2674131"/>
                <a:ext cx="3371850" cy="457200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DD27EBF3-EBEE-436E-82B0-3A00B8B1E2B5}"/>
              </a:ext>
            </a:extLst>
          </p:cNvPr>
          <p:cNvSpPr>
            <a:spLocks noGrp="1"/>
          </p:cNvSpPr>
          <p:nvPr/>
        </p:nvSpPr>
        <p:spPr>
          <a:xfrm>
            <a:off x="533400" y="3409951"/>
            <a:ext cx="3714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Three species · one reaction · two unknown parameters</a:t>
            </a:r>
          </a:p>
          <a:p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Purpose: verify BO–estimation integration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E4D436-4A80-45B8-8628-8BC49D80BD92}"/>
              </a:ext>
            </a:extLst>
          </p:cNvPr>
          <p:cNvSpPr>
            <a:spLocks noGrp="1"/>
          </p:cNvSpPr>
          <p:nvPr/>
        </p:nvSpPr>
        <p:spPr>
          <a:xfrm>
            <a:off x="533400" y="4686301"/>
            <a:ext cx="37147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D1F140-6281-44D8-9D89-1BB5C2C67FEE}"/>
              </a:ext>
            </a:extLst>
          </p:cNvPr>
          <p:cNvSpPr>
            <a:spLocks noGrp="1"/>
          </p:cNvSpPr>
          <p:nvPr/>
        </p:nvSpPr>
        <p:spPr>
          <a:xfrm>
            <a:off x="533400" y="4686301"/>
            <a:ext cx="57150" cy="10953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ADAE14-D1C1-498A-9862-3B87935C3B35}"/>
              </a:ext>
            </a:extLst>
          </p:cNvPr>
          <p:cNvSpPr>
            <a:spLocks noGrp="1"/>
          </p:cNvSpPr>
          <p:nvPr/>
        </p:nvSpPr>
        <p:spPr>
          <a:xfrm>
            <a:off x="742950" y="4914901"/>
            <a:ext cx="3371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32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&lt; 0.3%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F290BC-6D5A-4EB1-8DF8-24F205588A83}"/>
              </a:ext>
            </a:extLst>
          </p:cNvPr>
          <p:cNvSpPr>
            <a:spLocks noGrp="1"/>
          </p:cNvSpPr>
          <p:nvPr/>
        </p:nvSpPr>
        <p:spPr>
          <a:xfrm>
            <a:off x="742950" y="5448301"/>
            <a:ext cx="3371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Both parameters recovered at σ = 10⁻⁵ with RBS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0C51C2-9716-45EA-9DFB-EE1F5F5932B0}"/>
              </a:ext>
            </a:extLst>
          </p:cNvPr>
          <p:cNvSpPr>
            <a:spLocks noGrp="1"/>
          </p:cNvSpPr>
          <p:nvPr/>
        </p:nvSpPr>
        <p:spPr>
          <a:xfrm>
            <a:off x="4601718" y="1535322"/>
            <a:ext cx="7056882" cy="4236817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809744" y="1670684"/>
            <a:ext cx="6677406" cy="3936912"/>
          </a:xfrm>
          <a:prstGeom prst="rect">
            <a:avLst/>
          </a:prstGeom>
        </p:spPr>
      </p:pic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5D477F4A-8E42-4CEB-9002-8EF0BC8CF2A3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23866B-D197-4C3F-BB95-47B8A2E95695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Methanol case study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A53D77-4D69-DFBE-FE07-9FEAD38EA5CE}"/>
              </a:ext>
            </a:extLst>
          </p:cNvPr>
          <p:cNvSpPr>
            <a:spLocks noGrp="1"/>
          </p:cNvSpPr>
          <p:nvPr/>
        </p:nvSpPr>
        <p:spPr>
          <a:xfrm>
            <a:off x="469392" y="1447799"/>
            <a:ext cx="3714750" cy="72390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ECF6886-8C96-ACC2-24C5-F538610472EA}"/>
                  </a:ext>
                </a:extLst>
              </p:cNvPr>
              <p:cNvSpPr txBox="1"/>
              <p:nvPr/>
            </p:nvSpPr>
            <p:spPr>
              <a:xfrm>
                <a:off x="1318478" y="1655765"/>
                <a:ext cx="14132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→2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ECF6886-8C96-ACC2-24C5-F53861047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478" y="1655765"/>
                <a:ext cx="1413207" cy="276999"/>
              </a:xfrm>
              <a:prstGeom prst="rect">
                <a:avLst/>
              </a:prstGeom>
              <a:blipFill>
                <a:blip r:embed="rId5"/>
                <a:stretch>
                  <a:fillRect l="-3448" r="-3448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3382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315CF-72CC-C840-4E86-5D11B633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AA292D28-EC71-23E8-0271-031A81582320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lang="en-IN" sz="975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RESULTS</a:t>
            </a:r>
            <a:endParaRPr sz="975" b="1" dirty="0">
              <a:solidFill>
                <a:srgbClr val="0F76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B05802-2FF6-0201-2AB4-ADD4284C28EA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IN"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Mass Action Kinetic</a:t>
            </a: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parameter </a:t>
            </a:r>
            <a:r>
              <a:rPr lang="en-IN"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convergence</a:t>
            </a:r>
            <a:endParaRPr sz="240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8E55BED-6EF5-0760-96CC-4E6F5A866406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5C239D-63B9-6A83-127A-C99E95A573CA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9AC2CAC-E09B-6783-632C-CFB14F2EC9DD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4FF80F-E4ED-72AA-FBA2-822EAF1FCFAB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Appendix · parameter-label quality control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AFDAF0C-0680-C051-538E-E2BE774AC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222" y="3983737"/>
            <a:ext cx="5630707" cy="24932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007A629-6545-C7C5-5C94-F14E2B550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65" y="1270256"/>
            <a:ext cx="5734823" cy="26433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A0CE027-4A66-C8F4-C112-AB4334422F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072" y="1295399"/>
            <a:ext cx="5392847" cy="243535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1B5DA43-00AB-D2EA-71E5-5969BA361B88}"/>
              </a:ext>
            </a:extLst>
          </p:cNvPr>
          <p:cNvSpPr>
            <a:spLocks noGrp="1"/>
          </p:cNvSpPr>
          <p:nvPr/>
        </p:nvSpPr>
        <p:spPr>
          <a:xfrm>
            <a:off x="9173718" y="3806954"/>
            <a:ext cx="2180082" cy="2804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sz="16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Mass action kinetics FIO   </a:t>
            </a:r>
            <a:endParaRPr sz="160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E7C695B-D79B-1780-762B-328E460CA619}"/>
                  </a:ext>
                </a:extLst>
              </p:cNvPr>
              <p:cNvSpPr txBox="1"/>
              <p:nvPr/>
            </p:nvSpPr>
            <p:spPr>
              <a:xfrm>
                <a:off x="175216" y="3918089"/>
                <a:ext cx="245761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2325" b="0">
                    <a:solidFill>
                      <a:srgbClr val="475569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IN" sz="1600" b="0" dirty="0">
                    <a:solidFill>
                      <a:srgbClr val="475569"/>
                    </a:solidFill>
                    <a:latin typeface="Aptos"/>
                    <a:ea typeface="Aptos"/>
                    <a:cs typeface="Aptos"/>
                  </a:rPr>
                  <a:t>Mass action kinetics </a:t>
                </a:r>
                <a:r>
                  <a:rPr lang="en-IN" sz="1600" dirty="0">
                    <a:solidFill>
                      <a:srgbClr val="475569"/>
                    </a:solidFill>
                    <a:latin typeface="Aptos"/>
                    <a:ea typeface="Aptos"/>
                    <a:cs typeface="Aptos"/>
                  </a:rPr>
                  <a:t>RBS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600" b="0" i="1" smtClean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600" b="0" i="1" smtClean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</a:rPr>
                          <m:t>best</m:t>
                        </m:r>
                        <m:r>
                          <a:rPr lang="en-IN" sz="1600" b="0" i="1" smtClean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1600" b="0" i="1" smtClean="0">
                            <a:solidFill>
                              <a:srgbClr val="475569"/>
                            </a:solidFill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en-IN" sz="1600" b="0" dirty="0">
                    <a:solidFill>
                      <a:srgbClr val="475569"/>
                    </a:solidFill>
                    <a:latin typeface="Aptos"/>
                    <a:ea typeface="Aptos"/>
                    <a:cs typeface="Aptos"/>
                  </a:rPr>
                  <a:t> 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E7C695B-D79B-1780-762B-328E460CA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16" y="3918089"/>
                <a:ext cx="2457612" cy="584775"/>
              </a:xfrm>
              <a:prstGeom prst="rect">
                <a:avLst/>
              </a:prstGeom>
              <a:blipFill>
                <a:blip r:embed="rId6"/>
                <a:stretch>
                  <a:fillRect l="-1489" t="-3125" b="-12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214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yebrow">
            <a:extLst>
              <a:ext uri="{FF2B5EF4-FFF2-40B4-BE49-F238E27FC236}">
                <a16:creationId xmlns:a16="http://schemas.microsoft.com/office/drawing/2014/main" id="{E31DAD4D-9125-4F4A-8306-8628F4F2064A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METHANOL EXPERIMENTAL DESIGN SPACE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EDF8E4F-4B1F-49CA-8B90-CE9986AE36A0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MeOH design space spans seven operating inputs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A0EAB22-59BF-40C6-B532-7AB16DCB1981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CE7467-F6F9-484B-87BD-E45755BE517B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87BFEE-0575-40F1-896B-91BB4F517C20}"/>
              </a:ext>
            </a:extLst>
          </p:cNvPr>
          <p:cNvSpPr>
            <a:spLocks noGrp="1"/>
          </p:cNvSpPr>
          <p:nvPr/>
        </p:nvSpPr>
        <p:spPr>
          <a:xfrm>
            <a:off x="533400" y="1485900"/>
            <a:ext cx="3714750" cy="4333875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2ED135-554D-45CD-B98B-6A1CB1C35967}"/>
              </a:ext>
            </a:extLst>
          </p:cNvPr>
          <p:cNvSpPr>
            <a:spLocks noGrp="1"/>
          </p:cNvSpPr>
          <p:nvPr/>
        </p:nvSpPr>
        <p:spPr>
          <a:xfrm>
            <a:off x="762000" y="17526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Feasible operating region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25A225-C849-4876-B05B-11FE777BF7A2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2476500" cy="2514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475569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475569"/>
                </a:solidFill>
                <a:latin typeface="Cambria Math"/>
                <a:ea typeface="Cambria Math"/>
                <a:cs typeface="Cambria Math"/>
              </a:rPr>
              <a:t>CO₂: 0.10–0.33</a:t>
            </a:r>
          </a:p>
          <a:p>
            <a:pPr algn="l">
              <a:defRPr sz="1650" b="0">
                <a:solidFill>
                  <a:srgbClr val="475569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475569"/>
                </a:solidFill>
                <a:latin typeface="Cambria Math"/>
                <a:ea typeface="Cambria Math"/>
                <a:cs typeface="Cambria Math"/>
              </a:rPr>
              <a:t>H₂: 0.10–0.25</a:t>
            </a:r>
          </a:p>
          <a:p>
            <a:pPr algn="l">
              <a:defRPr sz="1650" b="0">
                <a:solidFill>
                  <a:srgbClr val="475569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475569"/>
                </a:solidFill>
                <a:latin typeface="Cambria Math"/>
                <a:ea typeface="Cambria Math"/>
                <a:cs typeface="Cambria Math"/>
              </a:rPr>
              <a:t>H₂O: 0–0.01</a:t>
            </a:r>
          </a:p>
          <a:p>
            <a:pPr algn="l">
              <a:defRPr sz="1650" b="0">
                <a:solidFill>
                  <a:srgbClr val="475569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475569"/>
                </a:solidFill>
                <a:latin typeface="Cambria Math"/>
                <a:ea typeface="Cambria Math"/>
                <a:cs typeface="Cambria Math"/>
              </a:rPr>
              <a:t>CH₃OH: 0–0.01</a:t>
            </a:r>
          </a:p>
          <a:p>
            <a:pPr algn="l">
              <a:defRPr sz="1650" b="0">
                <a:solidFill>
                  <a:srgbClr val="475569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475569"/>
                </a:solidFill>
                <a:latin typeface="Cambria Math"/>
                <a:ea typeface="Cambria Math"/>
                <a:cs typeface="Cambria Math"/>
              </a:rPr>
              <a:t>CO: 0–0.30</a:t>
            </a:r>
          </a:p>
          <a:p>
            <a:pPr algn="l">
              <a:defRPr sz="1650" b="0">
                <a:solidFill>
                  <a:srgbClr val="475569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475569"/>
                </a:solidFill>
                <a:latin typeface="Cambria Math"/>
                <a:ea typeface="Cambria Math"/>
                <a:cs typeface="Cambria Math"/>
              </a:rPr>
              <a:t>T: 450–550 K</a:t>
            </a:r>
          </a:p>
          <a:p>
            <a:pPr algn="l">
              <a:defRPr sz="1650" b="0">
                <a:solidFill>
                  <a:srgbClr val="475569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475569"/>
                </a:solidFill>
                <a:latin typeface="Cambria Math"/>
                <a:ea typeface="Cambria Math"/>
                <a:cs typeface="Cambria Math"/>
              </a:rPr>
              <a:t>P: 15–50 bar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644C49-A610-4C9B-A58A-5F71C5A34FF5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N₂ completes the inlet mass balance.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6B94F6-F9FD-455C-9BED-E836AE268276}"/>
              </a:ext>
            </a:extLst>
          </p:cNvPr>
          <p:cNvSpPr>
            <a:spLocks noGrp="1"/>
          </p:cNvSpPr>
          <p:nvPr/>
        </p:nvSpPr>
        <p:spPr>
          <a:xfrm>
            <a:off x="4762500" y="1485900"/>
            <a:ext cx="6896100" cy="4333875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1154" y="1619250"/>
            <a:ext cx="3938792" cy="3886200"/>
          </a:xfrm>
          <a:prstGeom prst="rect">
            <a:avLst/>
          </a:prstGeom>
        </p:spPr>
      </p:pic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59BB75F-BE13-49AE-B350-E690E9949531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3D005A-A56A-4334-83E8-F7905B605104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Methanol case study</a:t>
            </a:r>
          </a:p>
        </p:txBody>
      </p:sp>
    </p:spTree>
    <p:extLst>
      <p:ext uri="{BB962C8B-B14F-4D97-AF65-F5344CB8AC3E}">
        <p14:creationId xmlns:p14="http://schemas.microsoft.com/office/powerpoint/2010/main" val="1950570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65A49-79CF-96CE-0316-2BF1AB77B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180EB7CD-8FE6-59FA-8ACA-4C88DE1E5EEF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lang="en-IN" sz="975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RESULTS</a:t>
            </a:r>
            <a:endParaRPr sz="975" b="1" dirty="0">
              <a:solidFill>
                <a:srgbClr val="0F76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7BE2734-F340-4086-0A1B-9F6588071931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MeOH parameter </a:t>
            </a: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convergence</a:t>
            </a:r>
            <a:endParaRPr sz="2775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9565B96-9DDE-8423-0B57-8A5B2940B466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4597D2-2BE4-065C-7ECA-4042C5103416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986E29C4-F356-AF5E-8F3D-C0F4ADCEE643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C273E4-C97C-7688-1E61-C55C1C3B5973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Appendix · parameter-label quality 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501F00-5B95-A6B5-A3E5-D4261C327159}"/>
              </a:ext>
            </a:extLst>
          </p:cNvPr>
          <p:cNvSpPr>
            <a:spLocks noGrp="1"/>
          </p:cNvSpPr>
          <p:nvPr/>
        </p:nvSpPr>
        <p:spPr>
          <a:xfrm>
            <a:off x="5888545" y="1386966"/>
            <a:ext cx="759143" cy="5180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sz="3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RBS</a:t>
            </a:r>
            <a:endParaRPr sz="320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17676B-4FDD-4DF9-72E9-167390665F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6196" y="1276351"/>
            <a:ext cx="4674400" cy="25873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04C624-5604-BF5A-130B-6F2F2576BA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60" y="1289370"/>
            <a:ext cx="4674400" cy="25873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A84D110-C067-122D-FB81-553F0329CD5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75895" y="4564306"/>
                <a:ext cx="3191255" cy="854482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t"/>
              <a:lstStyle/>
              <a:p>
                <a:pPr>
                  <a:defRPr sz="2325" b="0">
                    <a:solidFill>
                      <a:srgbClr val="475569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IN" sz="2325" dirty="0"/>
                  <a:t>Random design:</a:t>
                </a:r>
                <a:endParaRPr lang="en-IN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defRPr sz="2325" b="0">
                    <a:solidFill>
                      <a:srgbClr val="475569"/>
                    </a:solidFill>
                    <a:latin typeface="Aptos"/>
                    <a:ea typeface="Aptos"/>
                    <a:cs typeface="Aptos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6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𝐝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m:rPr>
                          <m:sty m:val="p"/>
                        </m:rPr>
                        <a:rPr lang="en-IN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Uniform</m:t>
                      </m:r>
                      <m:d>
                        <m:dPr>
                          <m:ctrlPr>
                            <a:rPr lang="en-I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</m:oMath>
                  </m:oMathPara>
                </a14:m>
                <a:endParaRPr lang="en-IN" sz="1600" b="0" dirty="0">
                  <a:solidFill>
                    <a:srgbClr val="475569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ptos"/>
                </a:endParaRPr>
              </a:p>
              <a:p>
                <a:pPr>
                  <a:defRPr sz="2325" b="0">
                    <a:solidFill>
                      <a:srgbClr val="475569"/>
                    </a:solidFill>
                    <a:latin typeface="Aptos"/>
                    <a:ea typeface="Aptos"/>
                    <a:cs typeface="Aptos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x-IV_matha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x-IV_matha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x-IV_matha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x-IV_mathan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x-IV_mathan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𝒰</m:t>
                      </m:r>
                      <m:d>
                        <m:dPr>
                          <m:ctrlPr>
                            <a:rPr lang="x-IV_matha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x-IV_mathan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x-IV_mathan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x-IV_mathan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x-IV_mathan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x-IV_mathan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sub>
                          </m:sSub>
                          <m:r>
                            <a:rPr lang="x-IV_matha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x-IV_mathan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x-IV_mathan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x-IV_mathan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x-IV_mathan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x-IV_mathan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e>
                      </m:d>
                      <m:r>
                        <a:rPr lang="x-IV_mathan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, </m:t>
                      </m:r>
                    </m:oMath>
                  </m:oMathPara>
                </a14:m>
                <a:endParaRPr lang="en-IN" sz="1600" b="0" dirty="0">
                  <a:solidFill>
                    <a:srgbClr val="475569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ptos"/>
                </a:endParaRPr>
              </a:p>
              <a:p>
                <a:pPr>
                  <a:defRPr sz="2325" b="0">
                    <a:solidFill>
                      <a:srgbClr val="475569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IN" sz="1600" b="0" dirty="0">
                    <a:solidFill>
                      <a:srgbClr val="475569"/>
                    </a:solidFill>
                    <a:latin typeface="Aptos"/>
                    <a:ea typeface="Aptos"/>
                    <a:cs typeface="Aptos"/>
                  </a:rPr>
                  <a:t>   </a:t>
                </a:r>
                <a:endParaRPr sz="1600" b="0" dirty="0">
                  <a:solidFill>
                    <a:srgbClr val="475569"/>
                  </a:solidFill>
                  <a:latin typeface="Aptos"/>
                  <a:ea typeface="Aptos"/>
                  <a:cs typeface="Aptos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A84D110-C067-122D-FB81-553F0329CD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95" y="4564306"/>
                <a:ext cx="3191255" cy="854482"/>
              </a:xfrm>
              <a:prstGeom prst="rect">
                <a:avLst/>
              </a:prstGeom>
              <a:blipFill>
                <a:blip r:embed="rId6"/>
                <a:stretch>
                  <a:fillRect l="-5736" t="-10000" b="-15714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378393B5-7CC8-C52D-9F31-C5CA8FCF82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989" y="3870645"/>
            <a:ext cx="3889194" cy="25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148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yebrow">
            <a:extLst>
              <a:ext uri="{FF2B5EF4-FFF2-40B4-BE49-F238E27FC236}">
                <a16:creationId xmlns:a16="http://schemas.microsoft.com/office/drawing/2014/main" id="{BF02E289-8C7A-49C5-AA73-DFA03A737960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FIO–RBS RESULTS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06C88D9-3D3E-4F95-8AA7-2EDE544A2A2F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IN" sz="2775" b="1" dirty="0"/>
              <a:t>FIO utility increases under the 150-experiment budget</a:t>
            </a:r>
            <a:endParaRPr sz="2775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0DA317B-FBB6-4209-B397-D6EA6290FBB4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34E645-52FA-4C2A-9ECA-1FB231AE6EEB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3C3DED-FB1B-4217-8B27-51B3DF1FC39B}"/>
              </a:ext>
            </a:extLst>
          </p:cNvPr>
          <p:cNvSpPr>
            <a:spLocks noGrp="1"/>
          </p:cNvSpPr>
          <p:nvPr/>
        </p:nvSpPr>
        <p:spPr>
          <a:xfrm>
            <a:off x="533400" y="1504950"/>
            <a:ext cx="5334000" cy="3857625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707796"/>
            <a:ext cx="5067300" cy="335668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C931988-F2D3-4435-BE50-5979419DFAFC}"/>
              </a:ext>
            </a:extLst>
          </p:cNvPr>
          <p:cNvSpPr>
            <a:spLocks noGrp="1"/>
          </p:cNvSpPr>
          <p:nvPr/>
        </p:nvSpPr>
        <p:spPr>
          <a:xfrm>
            <a:off x="6286500" y="1504950"/>
            <a:ext cx="5372100" cy="3857625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19850" y="1695177"/>
            <a:ext cx="5105400" cy="338192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AEC0C3D-CFE4-4FC8-ABE9-64F45A221681}"/>
              </a:ext>
            </a:extLst>
          </p:cNvPr>
          <p:cNvSpPr>
            <a:spLocks noGrp="1"/>
          </p:cNvSpPr>
          <p:nvPr/>
        </p:nvSpPr>
        <p:spPr>
          <a:xfrm>
            <a:off x="1619250" y="5219700"/>
            <a:ext cx="23812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2462CF-66EE-4460-A631-1C90EBC1FD20}"/>
              </a:ext>
            </a:extLst>
          </p:cNvPr>
          <p:cNvSpPr>
            <a:spLocks noGrp="1"/>
          </p:cNvSpPr>
          <p:nvPr/>
        </p:nvSpPr>
        <p:spPr>
          <a:xfrm>
            <a:off x="1619250" y="5219700"/>
            <a:ext cx="57150" cy="10668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779116-0CDB-4904-AB64-6BD245686115}"/>
              </a:ext>
            </a:extLst>
          </p:cNvPr>
          <p:cNvSpPr>
            <a:spLocks noGrp="1"/>
          </p:cNvSpPr>
          <p:nvPr/>
        </p:nvSpPr>
        <p:spPr>
          <a:xfrm>
            <a:off x="1828800" y="5448300"/>
            <a:ext cx="203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64.15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C986D3-2255-42CF-9BBB-0D2128AC90DD}"/>
              </a:ext>
            </a:extLst>
          </p:cNvPr>
          <p:cNvSpPr>
            <a:spLocks noGrp="1"/>
          </p:cNvSpPr>
          <p:nvPr/>
        </p:nvSpPr>
        <p:spPr>
          <a:xfrm>
            <a:off x="1828800" y="5981700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information at σ=10⁻⁵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2C14F2-D417-4761-AC1F-BE2E220A99DA}"/>
              </a:ext>
            </a:extLst>
          </p:cNvPr>
          <p:cNvSpPr>
            <a:spLocks noGrp="1"/>
          </p:cNvSpPr>
          <p:nvPr/>
        </p:nvSpPr>
        <p:spPr>
          <a:xfrm>
            <a:off x="4905375" y="5219700"/>
            <a:ext cx="23812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FAFF6E-BF79-4D72-9580-961EFD089FE0}"/>
              </a:ext>
            </a:extLst>
          </p:cNvPr>
          <p:cNvSpPr>
            <a:spLocks noGrp="1"/>
          </p:cNvSpPr>
          <p:nvPr/>
        </p:nvSpPr>
        <p:spPr>
          <a:xfrm>
            <a:off x="4905375" y="5219700"/>
            <a:ext cx="57150" cy="10668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6310FC-EE20-49EC-976A-2E553FDA0C6C}"/>
              </a:ext>
            </a:extLst>
          </p:cNvPr>
          <p:cNvSpPr>
            <a:spLocks noGrp="1"/>
          </p:cNvSpPr>
          <p:nvPr/>
        </p:nvSpPr>
        <p:spPr>
          <a:xfrm>
            <a:off x="5114925" y="5448300"/>
            <a:ext cx="203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85.00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AAC89-5F03-4D95-83F1-2BFCBC3755FB}"/>
              </a:ext>
            </a:extLst>
          </p:cNvPr>
          <p:cNvSpPr>
            <a:spLocks noGrp="1"/>
          </p:cNvSpPr>
          <p:nvPr/>
        </p:nvSpPr>
        <p:spPr>
          <a:xfrm>
            <a:off x="5114925" y="5981700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information at σ=10⁻⁶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6F7066-C388-4948-A153-E3931DD3175D}"/>
              </a:ext>
            </a:extLst>
          </p:cNvPr>
          <p:cNvSpPr>
            <a:spLocks noGrp="1"/>
          </p:cNvSpPr>
          <p:nvPr/>
        </p:nvSpPr>
        <p:spPr>
          <a:xfrm>
            <a:off x="8191500" y="5219700"/>
            <a:ext cx="23812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097828-7C4C-4D43-A0A8-DD49851E0EE7}"/>
              </a:ext>
            </a:extLst>
          </p:cNvPr>
          <p:cNvSpPr>
            <a:spLocks noGrp="1"/>
          </p:cNvSpPr>
          <p:nvPr/>
        </p:nvSpPr>
        <p:spPr>
          <a:xfrm>
            <a:off x="8191500" y="5219700"/>
            <a:ext cx="57150" cy="106680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1C72BD-0C4C-4596-8EE1-31F75383150B}"/>
              </a:ext>
            </a:extLst>
          </p:cNvPr>
          <p:cNvSpPr>
            <a:spLocks noGrp="1"/>
          </p:cNvSpPr>
          <p:nvPr/>
        </p:nvSpPr>
        <p:spPr>
          <a:xfrm>
            <a:off x="8401050" y="5448300"/>
            <a:ext cx="203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105.95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E16798-0C4D-430C-9DD4-2153AE24A6CF}"/>
              </a:ext>
            </a:extLst>
          </p:cNvPr>
          <p:cNvSpPr>
            <a:spLocks noGrp="1"/>
          </p:cNvSpPr>
          <p:nvPr/>
        </p:nvSpPr>
        <p:spPr>
          <a:xfrm>
            <a:off x="8401050" y="5981700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information at σ=10⁻⁷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12D64178-026C-4E51-AA90-02F3EB7CE518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C16473-DD98-494E-A3A2-8FB6738334C8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Methanol case study</a:t>
            </a:r>
          </a:p>
        </p:txBody>
      </p:sp>
    </p:spTree>
    <p:extLst>
      <p:ext uri="{BB962C8B-B14F-4D97-AF65-F5344CB8AC3E}">
        <p14:creationId xmlns:p14="http://schemas.microsoft.com/office/powerpoint/2010/main" val="46203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C14F003E-A3F2-4576-AECD-8F0F2D83994A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PRIMARY RESULT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A40F0D-F24F-4443-8767-B109FF896BE5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IN" sz="2400" b="1" dirty="0"/>
              <a:t>RBS improves MeOH kinetic-parameter recovery </a:t>
            </a: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versus asymptotic ROM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B3B4963-E993-4116-9411-E7AC86B14B05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A4C181-78B4-4D2F-AE80-FB414DF77161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533400" y="1543050"/>
          <a:ext cx="657225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56C0DD8-56FF-48D7-A4D0-D30793E4FFFC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6429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RBS: 0.478, 0.276, 0.524  ·  Asymptotic: 2.192, 2.791, 1.416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1FD087-B6BE-466F-9303-AE4C32BF2220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429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Same FIO framework · same 150-experiment budget · same nine-parameter metric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1DBAF8-C18D-46E9-BE17-8AF151B57337}"/>
              </a:ext>
            </a:extLst>
          </p:cNvPr>
          <p:cNvSpPr>
            <a:spLocks noGrp="1"/>
          </p:cNvSpPr>
          <p:nvPr/>
        </p:nvSpPr>
        <p:spPr>
          <a:xfrm>
            <a:off x="7620000" y="1543050"/>
            <a:ext cx="4038600" cy="4000500"/>
          </a:xfrm>
          <a:prstGeom prst="rect">
            <a:avLst/>
          </a:prstGeom>
          <a:solidFill>
            <a:srgbClr val="E8F4F2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D47C3E-7372-4999-9CF4-1619CC9AD174}"/>
              </a:ext>
            </a:extLst>
          </p:cNvPr>
          <p:cNvSpPr>
            <a:spLocks noGrp="1"/>
          </p:cNvSpPr>
          <p:nvPr/>
        </p:nvSpPr>
        <p:spPr>
          <a:xfrm>
            <a:off x="7953375" y="18859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0DAC82-3B70-44C3-A7A6-B78B81E86EFD}"/>
              </a:ext>
            </a:extLst>
          </p:cNvPr>
          <p:cNvSpPr>
            <a:spLocks noGrp="1"/>
          </p:cNvSpPr>
          <p:nvPr/>
        </p:nvSpPr>
        <p:spPr>
          <a:xfrm>
            <a:off x="7953375" y="2476500"/>
            <a:ext cx="328612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The fuller RBS representation gives lower total error at every tested noise level.</a:t>
            </a:r>
          </a:p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The strongest case is σ=10⁻⁶: 0.276 versus 2.791.</a:t>
            </a:r>
          </a:p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RBS improves the inverse solution even when the FIO design pathway is unchanged.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733B65-2D3C-4E80-AE4D-1520D855A646}"/>
              </a:ext>
            </a:extLst>
          </p:cNvPr>
          <p:cNvSpPr>
            <a:spLocks noGrp="1"/>
          </p:cNvSpPr>
          <p:nvPr/>
        </p:nvSpPr>
        <p:spPr>
          <a:xfrm>
            <a:off x="7953375" y="4667250"/>
            <a:ext cx="3190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25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This is the central quantitative conclusion of the MeOH study.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27E05F2-302E-40E5-BBC3-ABB2440FD2F4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7DD8E2-6ABC-4341-BD99-758036020422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Methanol case study</a:t>
            </a:r>
          </a:p>
        </p:txBody>
      </p:sp>
    </p:spTree>
    <p:extLst>
      <p:ext uri="{BB962C8B-B14F-4D97-AF65-F5344CB8AC3E}">
        <p14:creationId xmlns:p14="http://schemas.microsoft.com/office/powerpoint/2010/main" val="326997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yebrow">
            <a:extLst>
              <a:ext uri="{FF2B5EF4-FFF2-40B4-BE49-F238E27FC236}">
                <a16:creationId xmlns:a16="http://schemas.microsoft.com/office/drawing/2014/main" id="{60F72D29-05E1-4CA1-AB98-E1DBCDC65851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PARAMETER-WISE INTERPRETATION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5C154DA-8F6B-4C17-8152-CCFF58066D38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IN" sz="2775" b="1" dirty="0"/>
              <a:t>MeOH identifiability is parameter-dependent</a:t>
            </a:r>
            <a:endParaRPr sz="2775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C8BF9BF-5AE2-45E0-B683-EFED9200EEA7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967AC1-03E4-4447-AEF5-91DF1486C9D8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2D4CBC-DC57-45A8-AA9E-ED8F5F785CE9}"/>
              </a:ext>
            </a:extLst>
          </p:cNvPr>
          <p:cNvSpPr>
            <a:spLocks noGrp="1"/>
          </p:cNvSpPr>
          <p:nvPr/>
        </p:nvSpPr>
        <p:spPr>
          <a:xfrm>
            <a:off x="533400" y="1504950"/>
            <a:ext cx="6572250" cy="411480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0719" y="1657350"/>
            <a:ext cx="5677611" cy="37623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A57ADBC-205B-46F7-BA16-17F19D0A84BE}"/>
              </a:ext>
            </a:extLst>
          </p:cNvPr>
          <p:cNvSpPr>
            <a:spLocks noGrp="1"/>
          </p:cNvSpPr>
          <p:nvPr/>
        </p:nvSpPr>
        <p:spPr>
          <a:xfrm>
            <a:off x="7620000" y="1504950"/>
            <a:ext cx="4038600" cy="411480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1AAD1A-C8EC-48E4-AC1F-3B1B53FCB36E}"/>
              </a:ext>
            </a:extLst>
          </p:cNvPr>
          <p:cNvSpPr>
            <a:spLocks noGrp="1"/>
          </p:cNvSpPr>
          <p:nvPr/>
        </p:nvSpPr>
        <p:spPr>
          <a:xfrm>
            <a:off x="7953375" y="1828800"/>
            <a:ext cx="2857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the error pattern means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9D919D-6279-4237-8545-5C1663B0484E}"/>
              </a:ext>
            </a:extLst>
          </p:cNvPr>
          <p:cNvSpPr>
            <a:spLocks noGrp="1"/>
          </p:cNvSpPr>
          <p:nvPr/>
        </p:nvSpPr>
        <p:spPr>
          <a:xfrm>
            <a:off x="7953375" y="2400300"/>
            <a:ext cx="3238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Thermal terms p₆–p₉ are recovered relatively well.</a:t>
            </a:r>
          </a:p>
          <a:p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The MeOH rate/adsorption group p₁–p₅ remains much more uncertain.</a:t>
            </a:r>
          </a:p>
          <a:p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• The problem is therefore dominated by parameter correlation—not simply by measurement noise.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C44B88-2B4F-4699-9297-0243D0F95FE1}"/>
              </a:ext>
            </a:extLst>
          </p:cNvPr>
          <p:cNvSpPr>
            <a:spLocks noGrp="1"/>
          </p:cNvSpPr>
          <p:nvPr/>
        </p:nvSpPr>
        <p:spPr>
          <a:xfrm>
            <a:off x="7874128" y="4788217"/>
            <a:ext cx="3278124" cy="5648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4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25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Designs should be selected to separate parameter effects</a:t>
            </a:r>
            <a:r>
              <a:rPr lang="en-IN" sz="1425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, not MeOH output</a:t>
            </a:r>
            <a:endParaRPr sz="1425" b="1" dirty="0">
              <a:solidFill>
                <a:srgbClr val="0F76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DA2CD5A-B0D8-48FB-A8FF-7ED2AEE08504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C14F25-26AE-4350-B99E-0691EECA05F3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Methanol case study</a:t>
            </a:r>
          </a:p>
        </p:txBody>
      </p:sp>
    </p:spTree>
    <p:extLst>
      <p:ext uri="{BB962C8B-B14F-4D97-AF65-F5344CB8AC3E}">
        <p14:creationId xmlns:p14="http://schemas.microsoft.com/office/powerpoint/2010/main" val="1405265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yebrow">
            <a:extLst>
              <a:ext uri="{FF2B5EF4-FFF2-40B4-BE49-F238E27FC236}">
                <a16:creationId xmlns:a16="http://schemas.microsoft.com/office/drawing/2014/main" id="{0AA802D4-51F9-4647-9DD8-C278B902BDEC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WHY FIO IS THE MAIN OED OBJECTIVE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C6E6F0A-5777-4A02-9508-5471A981AFD5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High MeOH output is not automatically informative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F0C1121-3B6C-44E6-803E-ACC52949FD32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04E00B-153C-436F-86A3-39C24E88D22F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EC4FF4-8926-4205-BB52-DDEA41F3C3E4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5334000" cy="3857625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911228"/>
            <a:ext cx="5067300" cy="301649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0F9DEA-EBFA-4CDC-9E0F-66F1D830D2EE}"/>
              </a:ext>
            </a:extLst>
          </p:cNvPr>
          <p:cNvSpPr>
            <a:spLocks noGrp="1"/>
          </p:cNvSpPr>
          <p:nvPr/>
        </p:nvSpPr>
        <p:spPr>
          <a:xfrm>
            <a:off x="6324600" y="1524000"/>
            <a:ext cx="5334000" cy="3857625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C3F8B9-D8DC-436D-A74C-4CB25558248F}"/>
              </a:ext>
            </a:extLst>
          </p:cNvPr>
          <p:cNvSpPr>
            <a:spLocks noGrp="1"/>
          </p:cNvSpPr>
          <p:nvPr/>
        </p:nvSpPr>
        <p:spPr>
          <a:xfrm>
            <a:off x="1143000" y="565785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Target-output BO maximizes CH₃OH outlet fraction. FIO maximizes parameter information. These are related objectives, but they are not equivalent.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611AA75C-CF53-4FC9-95CA-F7ADEBF155F7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B3F431-F3A4-4C29-84C0-D6AAF58D0FBE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Methanol case study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46476B-4074-C0FE-0F48-834D28E12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650" y="1951986"/>
            <a:ext cx="4493900" cy="297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748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yebrow">
            <a:extLst>
              <a:ext uri="{FF2B5EF4-FFF2-40B4-BE49-F238E27FC236}">
                <a16:creationId xmlns:a16="http://schemas.microsoft.com/office/drawing/2014/main" id="{172F1A48-453B-41C0-8DE7-7E548A400CC3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7B8B485-DCA0-482D-AB19-5B60D648E155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Random experiments are the necessary OED baseline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1356829-F20E-42D4-9428-0FACAECEFA44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58EF58-55EB-45F1-9D32-3A419B1E610D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6157D8-647C-42A1-A43D-C93D9C362FAF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4095750" cy="3571875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7131" y="1647825"/>
            <a:ext cx="3708289" cy="31432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C52EB1F-9EBA-4E88-95A8-CA03880000AD}"/>
              </a:ext>
            </a:extLst>
          </p:cNvPr>
          <p:cNvSpPr>
            <a:spLocks noGrp="1"/>
          </p:cNvSpPr>
          <p:nvPr/>
        </p:nvSpPr>
        <p:spPr>
          <a:xfrm>
            <a:off x="4953000" y="1524000"/>
            <a:ext cx="4095750" cy="3571875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A128EE-831D-4EED-BDE4-51D25C17C368}"/>
              </a:ext>
            </a:extLst>
          </p:cNvPr>
          <p:cNvSpPr>
            <a:spLocks noGrp="1"/>
          </p:cNvSpPr>
          <p:nvPr/>
        </p:nvSpPr>
        <p:spPr>
          <a:xfrm>
            <a:off x="9372600" y="1524000"/>
            <a:ext cx="2450592" cy="4133830"/>
          </a:xfrm>
          <a:prstGeom prst="rect">
            <a:avLst/>
          </a:prstGeom>
          <a:solidFill>
            <a:srgbClr val="FFF5E8"/>
          </a:solidFill>
          <a:ln w="9525">
            <a:solidFill>
              <a:srgbClr val="B45309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BE074E5-66CF-49A3-BD13-5E478582C36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25000" y="1838324"/>
                <a:ext cx="2133600" cy="3620643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t"/>
              <a:lstStyle/>
              <a:p>
                <a:pPr>
                  <a:defRPr sz="1350" b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IN" sz="1350" dirty="0"/>
                  <a:t>FIO improves parameter recovery at lower noise</a:t>
                </a:r>
                <a:r>
                  <a:rPr sz="1350" b="0" dirty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rPr>
                  <a:t>.</a:t>
                </a:r>
                <a:endParaRPr lang="en-IN" sz="1350" b="0" dirty="0">
                  <a:solidFill>
                    <a:srgbClr val="111827"/>
                  </a:solidFill>
                  <a:latin typeface="Aptos"/>
                  <a:ea typeface="Aptos"/>
                  <a:cs typeface="Aptos"/>
                </a:endParaRPr>
              </a:p>
              <a:p>
                <a:pPr>
                  <a:defRPr sz="1350" b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endParaRPr lang="en-IN" sz="1350" dirty="0">
                  <a:solidFill>
                    <a:srgbClr val="111827"/>
                  </a:solidFill>
                  <a:latin typeface="Aptos"/>
                  <a:ea typeface="Aptos"/>
                  <a:cs typeface="Aptos"/>
                </a:endParaRPr>
              </a:p>
              <a:p>
                <a:pPr lvl="0"/>
                <a:r>
                  <a:rPr lang="en-IN" sz="1400" dirty="0"/>
                  <a:t>FIO selects designs with explicitly high local parameter sensitivity.</a:t>
                </a:r>
              </a:p>
              <a:p>
                <a:pPr lvl="0"/>
                <a:endParaRPr lang="en-IN" sz="1400" dirty="0"/>
              </a:p>
              <a:p>
                <a:pPr lvl="0"/>
                <a:r>
                  <a:rPr lang="en-IN" sz="1400" dirty="0"/>
                  <a:t>The information objective increases as assumed measurement noise decreases.</a:t>
                </a:r>
              </a:p>
              <a:p>
                <a:r>
                  <a:rPr lang="en-IN" sz="1400" dirty="0"/>
                  <a:t>At </a:t>
                </a:r>
                <a14:m>
                  <m:oMath xmlns:m="http://schemas.openxmlformats.org/officeDocument/2006/math">
                    <m:r>
                      <a:rPr lang="en-IN" sz="14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N" sz="140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140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400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1400" dirty="0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  <m:r>
                      <a:rPr lang="en-IN" sz="1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400" dirty="0"/>
                  <a:t>and </a:t>
                </a:r>
                <a14:m>
                  <m:oMath xmlns:m="http://schemas.openxmlformats.org/officeDocument/2006/math">
                    <m:r>
                      <a:rPr lang="en-IN" sz="14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N" sz="140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140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400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1400" dirty="0"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endParaRPr lang="en-IN" sz="1400" dirty="0">
                  <a:latin typeface="Aptos" panose="020B0004020202020204" pitchFamily="34" charset="0"/>
                </a:endParaRPr>
              </a:p>
              <a:p>
                <a:pPr lvl="0"/>
                <a:endParaRPr lang="en-IN" sz="1400" dirty="0"/>
              </a:p>
              <a:p>
                <a:pPr lvl="0"/>
                <a:r>
                  <a:rPr lang="en-IN" sz="1400" dirty="0"/>
                  <a:t>FIO gives lower parameter-recovery error than random at approximately the same budget.</a:t>
                </a:r>
              </a:p>
              <a:p>
                <a:pPr>
                  <a:defRPr sz="1350" b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endParaRPr lang="en-IN" sz="1350" b="0" dirty="0">
                  <a:solidFill>
                    <a:srgbClr val="111827"/>
                  </a:solidFill>
                  <a:latin typeface="Aptos"/>
                  <a:ea typeface="Aptos"/>
                  <a:cs typeface="Aptos"/>
                </a:endParaRPr>
              </a:p>
              <a:p>
                <a:pPr>
                  <a:defRPr sz="1350" b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endParaRPr lang="en-IN" sz="1350" dirty="0">
                  <a:solidFill>
                    <a:srgbClr val="111827"/>
                  </a:solidFill>
                  <a:latin typeface="Aptos"/>
                  <a:ea typeface="Aptos"/>
                  <a:cs typeface="Aptos"/>
                </a:endParaRPr>
              </a:p>
              <a:p>
                <a:pPr>
                  <a:defRPr sz="1350" b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endParaRPr lang="en-IN" sz="1350" b="0" dirty="0">
                  <a:solidFill>
                    <a:srgbClr val="111827"/>
                  </a:solidFill>
                  <a:latin typeface="Aptos"/>
                  <a:ea typeface="Aptos"/>
                  <a:cs typeface="Aptos"/>
                </a:endParaRPr>
              </a:p>
              <a:p>
                <a:pPr algn="ctr">
                  <a:defRPr sz="1350" b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endParaRPr lang="en-IN" sz="1350" dirty="0">
                  <a:solidFill>
                    <a:srgbClr val="111827"/>
                  </a:solidFill>
                  <a:latin typeface="Aptos"/>
                  <a:ea typeface="Aptos"/>
                  <a:cs typeface="Aptos"/>
                </a:endParaRPr>
              </a:p>
              <a:p>
                <a:pPr algn="ctr">
                  <a:defRPr sz="1350" b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endParaRPr sz="1350" b="0" dirty="0">
                  <a:solidFill>
                    <a:srgbClr val="111827"/>
                  </a:solidFill>
                  <a:latin typeface="Aptos"/>
                  <a:ea typeface="Aptos"/>
                  <a:cs typeface="Aptos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BE074E5-66CF-49A3-BD13-5E478582C3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0" y="1838324"/>
                <a:ext cx="2133600" cy="3620643"/>
              </a:xfrm>
              <a:prstGeom prst="rect">
                <a:avLst/>
              </a:prstGeom>
              <a:blipFill>
                <a:blip r:embed="rId5"/>
                <a:stretch>
                  <a:fillRect l="-5143" t="-1518" r="-857" b="-286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C9D081D2-B994-4F99-9E4E-9A28D155007B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1DDC2D-FEF5-44A2-84F4-632A31944D92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Methanol case study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50A2CD7-46FB-BDA6-0D2D-8200054D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766728"/>
                  </p:ext>
                </p:extLst>
              </p:nvPr>
            </p:nvGraphicFramePr>
            <p:xfrm>
              <a:off x="533400" y="5219700"/>
              <a:ext cx="8482584" cy="1162042"/>
            </p:xfrm>
            <a:graphic>
              <a:graphicData uri="http://schemas.openxmlformats.org/drawingml/2006/table">
                <a:tbl>
                  <a:tblPr/>
                  <a:tblGrid>
                    <a:gridCol w="2205038">
                      <a:extLst>
                        <a:ext uri="{9D8B030D-6E8A-4147-A177-3AD203B41FA5}">
                          <a16:colId xmlns:a16="http://schemas.microsoft.com/office/drawing/2014/main" val="2730090250"/>
                        </a:ext>
                      </a:extLst>
                    </a:gridCol>
                    <a:gridCol w="1751266">
                      <a:extLst>
                        <a:ext uri="{9D8B030D-6E8A-4147-A177-3AD203B41FA5}">
                          <a16:colId xmlns:a16="http://schemas.microsoft.com/office/drawing/2014/main" val="2875447695"/>
                        </a:ext>
                      </a:extLst>
                    </a:gridCol>
                    <a:gridCol w="2167128">
                      <a:extLst>
                        <a:ext uri="{9D8B030D-6E8A-4147-A177-3AD203B41FA5}">
                          <a16:colId xmlns:a16="http://schemas.microsoft.com/office/drawing/2014/main" val="1762707439"/>
                        </a:ext>
                      </a:extLst>
                    </a:gridCol>
                    <a:gridCol w="2359152">
                      <a:extLst>
                        <a:ext uri="{9D8B030D-6E8A-4147-A177-3AD203B41FA5}">
                          <a16:colId xmlns:a16="http://schemas.microsoft.com/office/drawing/2014/main" val="1038861796"/>
                        </a:ext>
                      </a:extLst>
                    </a:gridCol>
                  </a:tblGrid>
                  <a:tr h="2902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>
                              <a:latin typeface="Aptos" panose="020B0004020202020204" pitchFamily="34" charset="0"/>
                            </a:rPr>
                            <a:t>Noise level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 dirty="0">
                              <a:latin typeface="Aptos" panose="020B0004020202020204" pitchFamily="34" charset="0"/>
                            </a:rPr>
                            <a:t>FIO–RBS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 dirty="0">
                              <a:latin typeface="Aptos" panose="020B0004020202020204" pitchFamily="34" charset="0"/>
                            </a:rPr>
                            <a:t>Random–RBS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 dirty="0">
                              <a:latin typeface="Aptos" panose="020B0004020202020204" pitchFamily="34" charset="0"/>
                            </a:rPr>
                            <a:t>Preliminary outcome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6839418"/>
                      </a:ext>
                    </a:extLst>
                  </a:tr>
                  <a:tr h="29519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IN" sz="1100" i="1" dirty="0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IN" sz="1100" i="0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IN" sz="1100" i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100" i="0" dirty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IN" sz="1100" i="0" dirty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1100" dirty="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 dirty="0">
                              <a:latin typeface="Aptos" panose="020B0004020202020204" pitchFamily="34" charset="0"/>
                            </a:rPr>
                            <a:t>2.163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>
                              <a:latin typeface="Aptos" panose="020B0004020202020204" pitchFamily="34" charset="0"/>
                            </a:rPr>
                            <a:t>0.765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 dirty="0">
                              <a:latin typeface="Aptos" panose="020B0004020202020204" pitchFamily="34" charset="0"/>
                            </a:rPr>
                            <a:t>Random is better at this checkpoint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0705844"/>
                      </a:ext>
                    </a:extLst>
                  </a:tr>
                  <a:tr h="28832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IN" sz="1100" i="1" dirty="0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IN" sz="1100" i="0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IN" sz="1100" i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100" i="0" dirty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IN" sz="1100" i="0" dirty="0">
                                        <a:latin typeface="Cambria Math" panose="02040503050406030204" pitchFamily="18" charset="0"/>
                                      </a:rPr>
                                      <m:t>−6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1100" dirty="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>
                              <a:latin typeface="Aptos" panose="020B0004020202020204" pitchFamily="34" charset="0"/>
                            </a:rPr>
                            <a:t>0.492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>
                              <a:latin typeface="Aptos" panose="020B0004020202020204" pitchFamily="34" charset="0"/>
                            </a:rPr>
                            <a:t>0.766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>
                              <a:latin typeface="Aptos" panose="020B0004020202020204" pitchFamily="34" charset="0"/>
                            </a:rPr>
                            <a:t>FIO is better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89574652"/>
                      </a:ext>
                    </a:extLst>
                  </a:tr>
                  <a:tr h="28832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IN" sz="1100" i="1" dirty="0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IN" sz="1100" i="0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IN" sz="1100" i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100" i="0" dirty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IN" sz="1100" i="0" dirty="0">
                                        <a:latin typeface="Cambria Math" panose="02040503050406030204" pitchFamily="18" charset="0"/>
                                      </a:rPr>
                                      <m:t>−7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1100" dirty="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>
                              <a:latin typeface="Aptos" panose="020B0004020202020204" pitchFamily="34" charset="0"/>
                            </a:rPr>
                            <a:t>0.536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>
                              <a:latin typeface="Aptos" panose="020B0004020202020204" pitchFamily="34" charset="0"/>
                            </a:rPr>
                            <a:t>0.768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 dirty="0">
                              <a:latin typeface="Aptos" panose="020B0004020202020204" pitchFamily="34" charset="0"/>
                            </a:rPr>
                            <a:t>FIO is better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831613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50A2CD7-46FB-BDA6-0D2D-8200054D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766728"/>
                  </p:ext>
                </p:extLst>
              </p:nvPr>
            </p:nvGraphicFramePr>
            <p:xfrm>
              <a:off x="533400" y="5219700"/>
              <a:ext cx="8482584" cy="1162042"/>
            </p:xfrm>
            <a:graphic>
              <a:graphicData uri="http://schemas.openxmlformats.org/drawingml/2006/table">
                <a:tbl>
                  <a:tblPr/>
                  <a:tblGrid>
                    <a:gridCol w="2205038">
                      <a:extLst>
                        <a:ext uri="{9D8B030D-6E8A-4147-A177-3AD203B41FA5}">
                          <a16:colId xmlns:a16="http://schemas.microsoft.com/office/drawing/2014/main" val="2730090250"/>
                        </a:ext>
                      </a:extLst>
                    </a:gridCol>
                    <a:gridCol w="1751266">
                      <a:extLst>
                        <a:ext uri="{9D8B030D-6E8A-4147-A177-3AD203B41FA5}">
                          <a16:colId xmlns:a16="http://schemas.microsoft.com/office/drawing/2014/main" val="2875447695"/>
                        </a:ext>
                      </a:extLst>
                    </a:gridCol>
                    <a:gridCol w="2167128">
                      <a:extLst>
                        <a:ext uri="{9D8B030D-6E8A-4147-A177-3AD203B41FA5}">
                          <a16:colId xmlns:a16="http://schemas.microsoft.com/office/drawing/2014/main" val="1762707439"/>
                        </a:ext>
                      </a:extLst>
                    </a:gridCol>
                    <a:gridCol w="2359152">
                      <a:extLst>
                        <a:ext uri="{9D8B030D-6E8A-4147-A177-3AD203B41FA5}">
                          <a16:colId xmlns:a16="http://schemas.microsoft.com/office/drawing/2014/main" val="1038861796"/>
                        </a:ext>
                      </a:extLst>
                    </a:gridCol>
                  </a:tblGrid>
                  <a:tr h="2902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>
                              <a:latin typeface="Aptos" panose="020B0004020202020204" pitchFamily="34" charset="0"/>
                            </a:rPr>
                            <a:t>Noise level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 dirty="0">
                              <a:latin typeface="Aptos" panose="020B0004020202020204" pitchFamily="34" charset="0"/>
                            </a:rPr>
                            <a:t>FIO–RBS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 dirty="0">
                              <a:latin typeface="Aptos" panose="020B0004020202020204" pitchFamily="34" charset="0"/>
                            </a:rPr>
                            <a:t>Random–RBS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 dirty="0">
                              <a:latin typeface="Aptos" panose="020B0004020202020204" pitchFamily="34" charset="0"/>
                            </a:rPr>
                            <a:t>Preliminary outcome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6839418"/>
                      </a:ext>
                    </a:extLst>
                  </a:tr>
                  <a:tr h="2951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76" t="-102083" r="-285359" b="-2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 dirty="0">
                              <a:latin typeface="Aptos" panose="020B0004020202020204" pitchFamily="34" charset="0"/>
                            </a:rPr>
                            <a:t>2.163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>
                              <a:latin typeface="Aptos" panose="020B0004020202020204" pitchFamily="34" charset="0"/>
                            </a:rPr>
                            <a:t>0.765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 dirty="0">
                              <a:latin typeface="Aptos" panose="020B0004020202020204" pitchFamily="34" charset="0"/>
                            </a:rPr>
                            <a:t>Random is better at this checkpoint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40705844"/>
                      </a:ext>
                    </a:extLst>
                  </a:tr>
                  <a:tr h="288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76" t="-202083" r="-285359" b="-1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>
                              <a:latin typeface="Aptos" panose="020B0004020202020204" pitchFamily="34" charset="0"/>
                            </a:rPr>
                            <a:t>0.492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>
                              <a:latin typeface="Aptos" panose="020B0004020202020204" pitchFamily="34" charset="0"/>
                            </a:rPr>
                            <a:t>0.766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>
                              <a:latin typeface="Aptos" panose="020B0004020202020204" pitchFamily="34" charset="0"/>
                            </a:rPr>
                            <a:t>FIO is better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89574652"/>
                      </a:ext>
                    </a:extLst>
                  </a:tr>
                  <a:tr h="288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76" t="-308511" r="-285359" b="-85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>
                              <a:latin typeface="Aptos" panose="020B0004020202020204" pitchFamily="34" charset="0"/>
                            </a:rPr>
                            <a:t>0.536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>
                              <a:latin typeface="Aptos" panose="020B0004020202020204" pitchFamily="34" charset="0"/>
                            </a:rPr>
                            <a:t>0.768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100" dirty="0">
                              <a:latin typeface="Aptos" panose="020B0004020202020204" pitchFamily="34" charset="0"/>
                            </a:rPr>
                            <a:t>FIO is better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8316136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687FC8D4-74A4-B2F7-BE76-9145709791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195" y="1943120"/>
            <a:ext cx="3693869" cy="284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640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yebrow">
            <a:extLst>
              <a:ext uri="{FF2B5EF4-FFF2-40B4-BE49-F238E27FC236}">
                <a16:creationId xmlns:a16="http://schemas.microsoft.com/office/drawing/2014/main" id="{8716CE44-B97C-4DC6-B0D2-796725401080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LIMITATIONS AND VALIDITY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D93CF4-DEF4-4CA3-9306-C416926C2EF5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study demonstrates feasibility and clear limits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C94A001-F5D9-424A-AABC-E1345C3A186B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7664D0-497C-4711-8DDC-417E25462F9D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554CA6-317B-47C4-9351-3D1E6625D8FB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33718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B2F773-8384-4C2D-8C32-05376BCEDEB9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3371850" cy="6667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3315B3-196B-4ECB-83AA-F490D8943F33}"/>
              </a:ext>
            </a:extLst>
          </p:cNvPr>
          <p:cNvSpPr>
            <a:spLocks noGrp="1"/>
          </p:cNvSpPr>
          <p:nvPr/>
        </p:nvSpPr>
        <p:spPr>
          <a:xfrm>
            <a:off x="704850" y="1857375"/>
            <a:ext cx="3028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Local information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867763-C1A1-45E8-8431-D02FE0A9A59B}"/>
              </a:ext>
            </a:extLst>
          </p:cNvPr>
          <p:cNvSpPr>
            <a:spLocks noGrp="1"/>
          </p:cNvSpPr>
          <p:nvPr/>
        </p:nvSpPr>
        <p:spPr>
          <a:xfrm>
            <a:off x="704850" y="2266950"/>
            <a:ext cx="3028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FIO is based on a nominal parameter vector. In the synthetic study, it is set to the true parameter vector.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CA768F-5E8F-4538-87FC-5FC6243C0E21}"/>
              </a:ext>
            </a:extLst>
          </p:cNvPr>
          <p:cNvSpPr>
            <a:spLocks noGrp="1"/>
          </p:cNvSpPr>
          <p:nvPr/>
        </p:nvSpPr>
        <p:spPr>
          <a:xfrm>
            <a:off x="4419600" y="1638300"/>
            <a:ext cx="33718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9D0BA-DF07-41A0-A3C4-040A3260758A}"/>
              </a:ext>
            </a:extLst>
          </p:cNvPr>
          <p:cNvSpPr>
            <a:spLocks noGrp="1"/>
          </p:cNvSpPr>
          <p:nvPr/>
        </p:nvSpPr>
        <p:spPr>
          <a:xfrm>
            <a:off x="4419600" y="1638300"/>
            <a:ext cx="3371850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9D61D8-2F72-4DDB-B52D-6342957CA5FD}"/>
              </a:ext>
            </a:extLst>
          </p:cNvPr>
          <p:cNvSpPr>
            <a:spLocks noGrp="1"/>
          </p:cNvSpPr>
          <p:nvPr/>
        </p:nvSpPr>
        <p:spPr>
          <a:xfrm>
            <a:off x="4591050" y="1857375"/>
            <a:ext cx="3028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Synthetic measurements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70891F-03E6-4BE4-868B-5A36BEA7E9F6}"/>
              </a:ext>
            </a:extLst>
          </p:cNvPr>
          <p:cNvSpPr>
            <a:spLocks noGrp="1"/>
          </p:cNvSpPr>
          <p:nvPr/>
        </p:nvSpPr>
        <p:spPr>
          <a:xfrm>
            <a:off x="4591050" y="2266950"/>
            <a:ext cx="3028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Known truth enables validation, but real-data uncertainty and model discrepancy are not yet represented.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8AB771-F672-460C-92AE-E4C1C526C94B}"/>
              </a:ext>
            </a:extLst>
          </p:cNvPr>
          <p:cNvSpPr>
            <a:spLocks noGrp="1"/>
          </p:cNvSpPr>
          <p:nvPr/>
        </p:nvSpPr>
        <p:spPr>
          <a:xfrm>
            <a:off x="8305800" y="1638300"/>
            <a:ext cx="33528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165194-F660-4287-A538-2186DEC8D8E0}"/>
              </a:ext>
            </a:extLst>
          </p:cNvPr>
          <p:cNvSpPr>
            <a:spLocks noGrp="1"/>
          </p:cNvSpPr>
          <p:nvPr/>
        </p:nvSpPr>
        <p:spPr>
          <a:xfrm>
            <a:off x="8305800" y="1638300"/>
            <a:ext cx="3352800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669039-1D08-4831-A557-2DC76DF2C28D}"/>
              </a:ext>
            </a:extLst>
          </p:cNvPr>
          <p:cNvSpPr>
            <a:spLocks noGrp="1"/>
          </p:cNvSpPr>
          <p:nvPr/>
        </p:nvSpPr>
        <p:spPr>
          <a:xfrm>
            <a:off x="8477250" y="1857375"/>
            <a:ext cx="3009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ROM validity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23CE3B-2CF3-4BEA-8735-05BEC7BB4810}"/>
              </a:ext>
            </a:extLst>
          </p:cNvPr>
          <p:cNvSpPr>
            <a:spLocks noGrp="1"/>
          </p:cNvSpPr>
          <p:nvPr/>
        </p:nvSpPr>
        <p:spPr>
          <a:xfrm>
            <a:off x="8477250" y="2266950"/>
            <a:ext cx="3009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model is isothermal and is strongest for the small-reactive-perturbation regime.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37C368-6E52-424D-B929-79784C9CD138}"/>
              </a:ext>
            </a:extLst>
          </p:cNvPr>
          <p:cNvSpPr>
            <a:spLocks noGrp="1"/>
          </p:cNvSpPr>
          <p:nvPr/>
        </p:nvSpPr>
        <p:spPr>
          <a:xfrm>
            <a:off x="533400" y="3810000"/>
            <a:ext cx="33718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C3FD73-2CF3-477D-83F5-453BA1CCC1C5}"/>
              </a:ext>
            </a:extLst>
          </p:cNvPr>
          <p:cNvSpPr>
            <a:spLocks noGrp="1"/>
          </p:cNvSpPr>
          <p:nvPr/>
        </p:nvSpPr>
        <p:spPr>
          <a:xfrm>
            <a:off x="533400" y="3810000"/>
            <a:ext cx="3371850" cy="66675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8F5FE8-66C4-4F8C-B217-667C3C26DF65}"/>
              </a:ext>
            </a:extLst>
          </p:cNvPr>
          <p:cNvSpPr>
            <a:spLocks noGrp="1"/>
          </p:cNvSpPr>
          <p:nvPr/>
        </p:nvSpPr>
        <p:spPr>
          <a:xfrm>
            <a:off x="704850" y="4029075"/>
            <a:ext cx="3028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Non-monotonic noise trend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DB7745-D015-4E9B-A588-1A9B14481E36}"/>
              </a:ext>
            </a:extLst>
          </p:cNvPr>
          <p:cNvSpPr>
            <a:spLocks noGrp="1"/>
          </p:cNvSpPr>
          <p:nvPr/>
        </p:nvSpPr>
        <p:spPr>
          <a:xfrm>
            <a:off x="704850" y="4438650"/>
            <a:ext cx="3028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Lower noise does not always lower error: nonconvexity and parameter correlation remain influential.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CEE039-59F8-4895-9FD1-85DBA86A55C8}"/>
              </a:ext>
            </a:extLst>
          </p:cNvPr>
          <p:cNvSpPr>
            <a:spLocks noGrp="1"/>
          </p:cNvSpPr>
          <p:nvPr/>
        </p:nvSpPr>
        <p:spPr>
          <a:xfrm>
            <a:off x="4419600" y="3810000"/>
            <a:ext cx="33718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04ACC9-552B-48AB-9B99-7E11D623400D}"/>
              </a:ext>
            </a:extLst>
          </p:cNvPr>
          <p:cNvSpPr>
            <a:spLocks noGrp="1"/>
          </p:cNvSpPr>
          <p:nvPr/>
        </p:nvSpPr>
        <p:spPr>
          <a:xfrm>
            <a:off x="4419600" y="3810000"/>
            <a:ext cx="3371850" cy="66675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212E30-E857-4AC3-BD05-2F36E5EFA683}"/>
              </a:ext>
            </a:extLst>
          </p:cNvPr>
          <p:cNvSpPr>
            <a:spLocks noGrp="1"/>
          </p:cNvSpPr>
          <p:nvPr/>
        </p:nvSpPr>
        <p:spPr>
          <a:xfrm>
            <a:off x="4591050" y="4029075"/>
            <a:ext cx="3028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Parameter mapping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0C15BA-E4D6-4D4B-A3E7-3F4C3CC12254}"/>
              </a:ext>
            </a:extLst>
          </p:cNvPr>
          <p:cNvSpPr>
            <a:spLocks noGrp="1"/>
          </p:cNvSpPr>
          <p:nvPr/>
        </p:nvSpPr>
        <p:spPr>
          <a:xfrm>
            <a:off x="4591050" y="4438650"/>
            <a:ext cx="3028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Rate-law parameter names must be made consistent across Julia, Python, plots, and thesis text.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0CB8DF-65A9-4945-A91D-4ABD002B8925}"/>
              </a:ext>
            </a:extLst>
          </p:cNvPr>
          <p:cNvSpPr>
            <a:spLocks noGrp="1"/>
          </p:cNvSpPr>
          <p:nvPr/>
        </p:nvSpPr>
        <p:spPr>
          <a:xfrm>
            <a:off x="8305800" y="3810000"/>
            <a:ext cx="33528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7102A8-F540-4685-BAB0-2105C63C8AE0}"/>
              </a:ext>
            </a:extLst>
          </p:cNvPr>
          <p:cNvSpPr>
            <a:spLocks noGrp="1"/>
          </p:cNvSpPr>
          <p:nvPr/>
        </p:nvSpPr>
        <p:spPr>
          <a:xfrm>
            <a:off x="8305800" y="3810000"/>
            <a:ext cx="3352800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CCA7E5-B0C0-42C8-A423-6B0DD0617E44}"/>
              </a:ext>
            </a:extLst>
          </p:cNvPr>
          <p:cNvSpPr>
            <a:spLocks noGrp="1"/>
          </p:cNvSpPr>
          <p:nvPr/>
        </p:nvSpPr>
        <p:spPr>
          <a:xfrm>
            <a:off x="8477250" y="4029075"/>
            <a:ext cx="3009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Industrial extension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55CAD8-97B9-4838-A9AA-3E860A45AB3C}"/>
              </a:ext>
            </a:extLst>
          </p:cNvPr>
          <p:cNvSpPr>
            <a:spLocks noGrp="1"/>
          </p:cNvSpPr>
          <p:nvPr/>
        </p:nvSpPr>
        <p:spPr>
          <a:xfrm>
            <a:off x="8477250" y="4438650"/>
            <a:ext cx="3009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Heat effects, deactivation, and real measurement correlations remain future work.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D6D6ED00-A7B2-4C87-95D0-F03B8BA07852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279DF74-ADE4-4FB4-A0F0-899EB67B7BCA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Methanol case study</a:t>
            </a:r>
          </a:p>
        </p:txBody>
      </p:sp>
    </p:spTree>
    <p:extLst>
      <p:ext uri="{BB962C8B-B14F-4D97-AF65-F5344CB8AC3E}">
        <p14:creationId xmlns:p14="http://schemas.microsoft.com/office/powerpoint/2010/main" val="617894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">
            <a:extLst>
              <a:ext uri="{FF2B5EF4-FFF2-40B4-BE49-F238E27FC236}">
                <a16:creationId xmlns:a16="http://schemas.microsoft.com/office/drawing/2014/main" id="{633B1497-0A5D-46F6-83FD-C64DAE1417BB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CONCLUSIONS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7B3B81A-502E-4554-8A85-0191061C2881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ROM-enabled FIO makes MeOH design practical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A1BBF92-6E3A-4482-A999-AF3E43386B07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0153D2-4991-446E-8C93-B4727563F1E5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D3238D-0B43-42A4-95D3-1FDE855F7F4B}"/>
              </a:ext>
            </a:extLst>
          </p:cNvPr>
          <p:cNvSpPr>
            <a:spLocks noGrp="1"/>
          </p:cNvSpPr>
          <p:nvPr/>
        </p:nvSpPr>
        <p:spPr>
          <a:xfrm>
            <a:off x="533400" y="1657350"/>
            <a:ext cx="323850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56AADF-4495-412B-AE2B-8A50EF1195F1}"/>
              </a:ext>
            </a:extLst>
          </p:cNvPr>
          <p:cNvSpPr>
            <a:spLocks noGrp="1"/>
          </p:cNvSpPr>
          <p:nvPr/>
        </p:nvSpPr>
        <p:spPr>
          <a:xfrm>
            <a:off x="533400" y="1657350"/>
            <a:ext cx="57150" cy="14668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8E1680-7E7F-4859-8066-2E8E6CA51C07}"/>
              </a:ext>
            </a:extLst>
          </p:cNvPr>
          <p:cNvSpPr>
            <a:spLocks noGrp="1"/>
          </p:cNvSpPr>
          <p:nvPr/>
        </p:nvSpPr>
        <p:spPr>
          <a:xfrm>
            <a:off x="742950" y="188595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7F8A98-F9F9-44EE-B698-92C4C7AFB283}"/>
              </a:ext>
            </a:extLst>
          </p:cNvPr>
          <p:cNvSpPr>
            <a:spLocks noGrp="1"/>
          </p:cNvSpPr>
          <p:nvPr/>
        </p:nvSpPr>
        <p:spPr>
          <a:xfrm>
            <a:off x="742950" y="2419350"/>
            <a:ext cx="2895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coupled MeOH kinetic parameters estimated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E48901-A21D-4129-AA1D-DB6164028A59}"/>
              </a:ext>
            </a:extLst>
          </p:cNvPr>
          <p:cNvSpPr>
            <a:spLocks noGrp="1"/>
          </p:cNvSpPr>
          <p:nvPr/>
        </p:nvSpPr>
        <p:spPr>
          <a:xfrm>
            <a:off x="4476750" y="1657350"/>
            <a:ext cx="323850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ECDC33-33A2-4354-BACB-3AB4DC805B06}"/>
              </a:ext>
            </a:extLst>
          </p:cNvPr>
          <p:cNvSpPr>
            <a:spLocks noGrp="1"/>
          </p:cNvSpPr>
          <p:nvPr/>
        </p:nvSpPr>
        <p:spPr>
          <a:xfrm>
            <a:off x="4476750" y="1657350"/>
            <a:ext cx="57150" cy="14668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29D98B-296D-4BEE-8E04-4358846B2987}"/>
              </a:ext>
            </a:extLst>
          </p:cNvPr>
          <p:cNvSpPr>
            <a:spLocks noGrp="1"/>
          </p:cNvSpPr>
          <p:nvPr/>
        </p:nvSpPr>
        <p:spPr>
          <a:xfrm>
            <a:off x="4686300" y="188595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2C2741-FCE4-4AAF-9D5C-4723E568F0F7}"/>
              </a:ext>
            </a:extLst>
          </p:cNvPr>
          <p:cNvSpPr>
            <a:spLocks noGrp="1"/>
          </p:cNvSpPr>
          <p:nvPr/>
        </p:nvSpPr>
        <p:spPr>
          <a:xfrm>
            <a:off x="4686300" y="2419350"/>
            <a:ext cx="2895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outlet species used as measurements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695E52-C278-4C7B-9442-2C024F519851}"/>
              </a:ext>
            </a:extLst>
          </p:cNvPr>
          <p:cNvSpPr>
            <a:spLocks noGrp="1"/>
          </p:cNvSpPr>
          <p:nvPr/>
        </p:nvSpPr>
        <p:spPr>
          <a:xfrm>
            <a:off x="8420100" y="1657350"/>
            <a:ext cx="323850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8CAFCF-6CA8-4FC1-A4D5-BCA8E18460C8}"/>
              </a:ext>
            </a:extLst>
          </p:cNvPr>
          <p:cNvSpPr>
            <a:spLocks noGrp="1"/>
          </p:cNvSpPr>
          <p:nvPr/>
        </p:nvSpPr>
        <p:spPr>
          <a:xfrm>
            <a:off x="8420100" y="1657350"/>
            <a:ext cx="57150" cy="146685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7F49CB-6C8F-43E7-86AA-CAB561E17108}"/>
              </a:ext>
            </a:extLst>
          </p:cNvPr>
          <p:cNvSpPr>
            <a:spLocks noGrp="1"/>
          </p:cNvSpPr>
          <p:nvPr/>
        </p:nvSpPr>
        <p:spPr>
          <a:xfrm>
            <a:off x="8629650" y="188595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B380BA-16B9-48D2-B1CD-50728307C39F}"/>
              </a:ext>
            </a:extLst>
          </p:cNvPr>
          <p:cNvSpPr>
            <a:spLocks noGrp="1"/>
          </p:cNvSpPr>
          <p:nvPr/>
        </p:nvSpPr>
        <p:spPr>
          <a:xfrm>
            <a:off x="8629650" y="2419350"/>
            <a:ext cx="2895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maximum MeOH experiments in BO/FIO runs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AC9A1B-3415-4EBF-BD9F-A41A1747FE22}"/>
              </a:ext>
            </a:extLst>
          </p:cNvPr>
          <p:cNvSpPr>
            <a:spLocks noGrp="1"/>
          </p:cNvSpPr>
          <p:nvPr/>
        </p:nvSpPr>
        <p:spPr>
          <a:xfrm>
            <a:off x="533400" y="3752850"/>
            <a:ext cx="352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What this thesis establishes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5C801-6C50-4956-9E62-E927DF495A08}"/>
              </a:ext>
            </a:extLst>
          </p:cNvPr>
          <p:cNvSpPr>
            <a:spLocks noGrp="1"/>
          </p:cNvSpPr>
          <p:nvPr/>
        </p:nvSpPr>
        <p:spPr>
          <a:xfrm>
            <a:off x="533400" y="4286250"/>
            <a:ext cx="106680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The ROM</a:t>
            </a:r>
            <a:r>
              <a:rPr lang="en-IN"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model enables repeated CFD-informed kinetic estimation.</a:t>
            </a:r>
          </a:p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FIO provides an explicit criterion for selecting informative MeOH experiments.</a:t>
            </a:r>
          </a:p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RBS gives substantially better parameter recovery than the asymptotic ROM in the present study.</a:t>
            </a:r>
          </a:p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Parameter correlation remains the main obstacle to complete nine-parameter identifiability.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25F47CCF-CD54-4C1A-9F99-C88BC0B6F047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13B38D-74F9-4B69-8796-01886A07AB51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Final conclusion</a:t>
            </a:r>
          </a:p>
        </p:txBody>
      </p:sp>
    </p:spTree>
    <p:extLst>
      <p:ext uri="{BB962C8B-B14F-4D97-AF65-F5344CB8AC3E}">
        <p14:creationId xmlns:p14="http://schemas.microsoft.com/office/powerpoint/2010/main" val="2134909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yebrow">
            <a:extLst>
              <a:ext uri="{FF2B5EF4-FFF2-40B4-BE49-F238E27FC236}">
                <a16:creationId xmlns:a16="http://schemas.microsoft.com/office/drawing/2014/main" id="{16886E51-E069-4E08-A61C-5B50A787AAAD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BB23AB0-76A2-4969-82E1-333FBDEBD573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Next: a fully adaptive real-data workflow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BB4B0BD-9EE1-403C-8A78-2CA03880036B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DBD871-AA4A-46B5-9502-F316804C43E8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93C331-FDC5-4C59-A387-6519614984E1}"/>
              </a:ext>
            </a:extLst>
          </p:cNvPr>
          <p:cNvSpPr>
            <a:spLocks noGrp="1"/>
          </p:cNvSpPr>
          <p:nvPr/>
        </p:nvSpPr>
        <p:spPr>
          <a:xfrm>
            <a:off x="533400" y="1981200"/>
            <a:ext cx="2476500" cy="266700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8D0682-B688-4AF8-871E-B6E16C12FB02}"/>
              </a:ext>
            </a:extLst>
          </p:cNvPr>
          <p:cNvSpPr>
            <a:spLocks noGrp="1"/>
          </p:cNvSpPr>
          <p:nvPr/>
        </p:nvSpPr>
        <p:spPr>
          <a:xfrm>
            <a:off x="762000" y="2209800"/>
            <a:ext cx="495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F58FFA-04D1-4977-895E-44D6BE262B48}"/>
              </a:ext>
            </a:extLst>
          </p:cNvPr>
          <p:cNvSpPr>
            <a:spLocks noGrp="1"/>
          </p:cNvSpPr>
          <p:nvPr/>
        </p:nvSpPr>
        <p:spPr>
          <a:xfrm>
            <a:off x="762000" y="29337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Update nominal θ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C0F349-5074-43C9-B0C1-1302932A85DB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2000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 the current estimate or posterior rather than true synthetic parameters.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402C33-02C7-41CC-97FA-55CF3143559D}"/>
              </a:ext>
            </a:extLst>
          </p:cNvPr>
          <p:cNvSpPr>
            <a:spLocks noGrp="1"/>
          </p:cNvSpPr>
          <p:nvPr/>
        </p:nvSpPr>
        <p:spPr>
          <a:xfrm>
            <a:off x="4724400" y="1981200"/>
            <a:ext cx="2476500" cy="266700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8ED1A5-7E90-4B59-B757-1FC765986AAA}"/>
              </a:ext>
            </a:extLst>
          </p:cNvPr>
          <p:cNvSpPr>
            <a:spLocks noGrp="1"/>
          </p:cNvSpPr>
          <p:nvPr/>
        </p:nvSpPr>
        <p:spPr>
          <a:xfrm>
            <a:off x="4953000" y="2209800"/>
            <a:ext cx="495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7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lang="en-IN" sz="27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A2EA5B-430D-40D8-9A9D-378C4D3D8F17}"/>
              </a:ext>
            </a:extLst>
          </p:cNvPr>
          <p:cNvSpPr>
            <a:spLocks noGrp="1"/>
          </p:cNvSpPr>
          <p:nvPr/>
        </p:nvSpPr>
        <p:spPr>
          <a:xfrm>
            <a:off x="4953000" y="29337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Quantify uncertainty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03D7FD-47CF-4E42-A8FB-DFE145ADEA43}"/>
              </a:ext>
            </a:extLst>
          </p:cNvPr>
          <p:cNvSpPr>
            <a:spLocks noGrp="1"/>
          </p:cNvSpPr>
          <p:nvPr/>
        </p:nvSpPr>
        <p:spPr>
          <a:xfrm>
            <a:off x="4953000" y="3733800"/>
            <a:ext cx="2000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Report parameter correlations, confidence intervals, and posterior distributions.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2161A8-9C07-4BE6-A388-7CC2658F8B8D}"/>
              </a:ext>
            </a:extLst>
          </p:cNvPr>
          <p:cNvSpPr>
            <a:spLocks noGrp="1"/>
          </p:cNvSpPr>
          <p:nvPr/>
        </p:nvSpPr>
        <p:spPr>
          <a:xfrm>
            <a:off x="8877300" y="1981200"/>
            <a:ext cx="2476500" cy="266700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3DA123-A85F-47BE-85E0-75ED49FA170F}"/>
              </a:ext>
            </a:extLst>
          </p:cNvPr>
          <p:cNvSpPr>
            <a:spLocks noGrp="1"/>
          </p:cNvSpPr>
          <p:nvPr/>
        </p:nvSpPr>
        <p:spPr>
          <a:xfrm>
            <a:off x="9105900" y="2209800"/>
            <a:ext cx="495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7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lang="en-IN" sz="27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E6A964-F18D-4D45-8317-ACD64C8AE055}"/>
              </a:ext>
            </a:extLst>
          </p:cNvPr>
          <p:cNvSpPr>
            <a:spLocks noGrp="1"/>
          </p:cNvSpPr>
          <p:nvPr/>
        </p:nvSpPr>
        <p:spPr>
          <a:xfrm>
            <a:off x="9105900" y="29337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Increase physical realism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96B4B-6B9B-49C8-87A5-D42CB75D40A2}"/>
              </a:ext>
            </a:extLst>
          </p:cNvPr>
          <p:cNvSpPr>
            <a:spLocks noGrp="1"/>
          </p:cNvSpPr>
          <p:nvPr/>
        </p:nvSpPr>
        <p:spPr>
          <a:xfrm>
            <a:off x="9105900" y="3733800"/>
            <a:ext cx="2000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Include energy balance, deactivation, and real experimental measurements.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F8A68E-27D5-4693-8DDD-05623FB28CFB}"/>
              </a:ext>
            </a:extLst>
          </p:cNvPr>
          <p:cNvSpPr>
            <a:spLocks noGrp="1"/>
          </p:cNvSpPr>
          <p:nvPr/>
        </p:nvSpPr>
        <p:spPr>
          <a:xfrm>
            <a:off x="1428750" y="1295400"/>
            <a:ext cx="933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The practical goal is not simply faster simulation—it is better experiments and more trustworthy MeOH kinetics.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122F2731-6C81-4DBC-AF9B-8C10298D8E4E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A70330-1DB6-4236-BFC3-358CCCEBEAC7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Master’s thesis · Methanol case study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3F143E-5BDF-2617-D014-274CDB764036}"/>
              </a:ext>
            </a:extLst>
          </p:cNvPr>
          <p:cNvSpPr>
            <a:spLocks noGrp="1"/>
          </p:cNvSpPr>
          <p:nvPr/>
        </p:nvSpPr>
        <p:spPr>
          <a:xfrm>
            <a:off x="533400" y="5133975"/>
            <a:ext cx="9620250" cy="1047750"/>
          </a:xfrm>
          <a:prstGeom prst="rect">
            <a:avLst/>
          </a:prstGeom>
          <a:solidFill>
            <a:srgbClr val="E8F4F2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9D4393-B19E-240D-A909-DAD727D6A2DE}"/>
              </a:ext>
            </a:extLst>
          </p:cNvPr>
          <p:cNvSpPr>
            <a:spLocks noGrp="1"/>
          </p:cNvSpPr>
          <p:nvPr/>
        </p:nvSpPr>
        <p:spPr>
          <a:xfrm>
            <a:off x="704850" y="5267325"/>
            <a:ext cx="92773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202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Which operating conditions make all nine MeOH kinetic parameters identifiable—not merely measurable?</a:t>
            </a:r>
          </a:p>
        </p:txBody>
      </p:sp>
    </p:spTree>
    <p:extLst>
      <p:ext uri="{BB962C8B-B14F-4D97-AF65-F5344CB8AC3E}">
        <p14:creationId xmlns:p14="http://schemas.microsoft.com/office/powerpoint/2010/main" val="1166911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B2AD3-0405-4CF6-87CB-CF26838C83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B7009C-FBF3-46AE-AA2A-478FD1996BBE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5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DDD832-5445-40D2-B0D1-CDC3BEEEBCA7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571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232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Questions and discussion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89C545-65E7-4266-ACFD-2A8DECAC5C3E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914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Optimal experimental design using Bayesian optimization and Reduced Order CFD</a:t>
            </a:r>
          </a:p>
        </p:txBody>
      </p:sp>
    </p:spTree>
    <p:extLst>
      <p:ext uri="{BB962C8B-B14F-4D97-AF65-F5344CB8AC3E}">
        <p14:creationId xmlns:p14="http://schemas.microsoft.com/office/powerpoint/2010/main" val="1797658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5D1D9-52F4-7AD6-1593-426974A39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4AB08132-FF56-FCF2-1BC0-4D18FAFA772E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lang="en-IN" sz="975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REFERENCE</a:t>
            </a:r>
            <a:endParaRPr sz="975" b="1" dirty="0">
              <a:solidFill>
                <a:srgbClr val="0F76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DC8D235-BD57-A434-8D2A-959E8BB58283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Reference</a:t>
            </a:r>
            <a:endParaRPr sz="2775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8A58CF9-0F33-0CBB-3F40-D8432EAC5D19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87E9CC-D0ED-DF91-1620-CDCBC17FBF6F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9B95FF2E-105B-5DE6-463A-22094066EE2B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CD8D58-329C-4A4B-252C-FB9FCF5B5BC2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Appendix · parameter-label quality control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2400CB-E623-DD07-B085-087FAE0D6057}"/>
              </a:ext>
            </a:extLst>
          </p:cNvPr>
          <p:cNvSpPr txBox="1"/>
          <p:nvPr/>
        </p:nvSpPr>
        <p:spPr>
          <a:xfrm>
            <a:off x="533400" y="1524831"/>
            <a:ext cx="1026566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latin typeface="Aptos" panose="020B0004020202020204" pitchFamily="34" charset="0"/>
              </a:rPr>
              <a:t>[1] M.U. Qureshi, S. Matera, D. Runge, C. </a:t>
            </a:r>
            <a:r>
              <a:rPr lang="en-IN" sz="1600" dirty="0" err="1">
                <a:latin typeface="Aptos" panose="020B0004020202020204" pitchFamily="34" charset="0"/>
              </a:rPr>
              <a:t>Merdon</a:t>
            </a:r>
            <a:r>
              <a:rPr lang="en-IN" sz="1600" dirty="0">
                <a:latin typeface="Aptos" panose="020B0004020202020204" pitchFamily="34" charset="0"/>
              </a:rPr>
              <a:t>, J. Fuhrmann, J.-U. Repke, G. </a:t>
            </a:r>
            <a:r>
              <a:rPr lang="en-IN" sz="1600" dirty="0" err="1">
                <a:latin typeface="Aptos" panose="020B0004020202020204" pitchFamily="34" charset="0"/>
              </a:rPr>
              <a:t>Brösigke</a:t>
            </a:r>
            <a:r>
              <a:rPr lang="en-IN" sz="1600" dirty="0">
                <a:latin typeface="Aptos" panose="020B0004020202020204" pitchFamily="34" charset="0"/>
              </a:rPr>
              <a:t>, Reduced order CFD </a:t>
            </a:r>
            <a:r>
              <a:rPr lang="en-IN" sz="1600" dirty="0" err="1">
                <a:latin typeface="Aptos" panose="020B0004020202020204" pitchFamily="34" charset="0"/>
              </a:rPr>
              <a:t>modeling</a:t>
            </a:r>
            <a:r>
              <a:rPr lang="en-IN" sz="1600" dirty="0">
                <a:latin typeface="Aptos" panose="020B0004020202020204" pitchFamily="34" charset="0"/>
              </a:rPr>
              <a:t> approach based on the asymptotic expansion—An application for heterogeneous catalytic systems, </a:t>
            </a:r>
            <a:r>
              <a:rPr lang="en-IN" sz="1600" i="1" dirty="0">
                <a:latin typeface="Aptos" panose="020B0004020202020204" pitchFamily="34" charset="0"/>
              </a:rPr>
              <a:t>Chemical Engineering Journal</a:t>
            </a:r>
            <a:r>
              <a:rPr lang="en-IN" sz="1600" dirty="0">
                <a:latin typeface="Aptos" panose="020B0004020202020204" pitchFamily="34" charset="0"/>
              </a:rPr>
              <a:t> 504 (2025) 158684. </a:t>
            </a:r>
            <a:r>
              <a:rPr lang="en-IN" sz="1600" dirty="0">
                <a:latin typeface="Aptos" panose="020B0004020202020204" pitchFamily="34" charset="0"/>
                <a:hlinkClick r:id="rId3"/>
              </a:rPr>
              <a:t>https://doi.org/10.1016/j.cej.2024.158684</a:t>
            </a:r>
            <a:endParaRPr lang="en-IN" sz="1600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sz="1600" dirty="0">
                <a:latin typeface="Aptos" panose="020B0004020202020204" pitchFamily="34" charset="0"/>
              </a:rPr>
              <a:t>[2] K.M. Vanden </a:t>
            </a:r>
            <a:r>
              <a:rPr lang="en-IN" sz="1600" dirty="0" err="1">
                <a:latin typeface="Aptos" panose="020B0004020202020204" pitchFamily="34" charset="0"/>
              </a:rPr>
              <a:t>Bussche</a:t>
            </a:r>
            <a:r>
              <a:rPr lang="en-IN" sz="1600" dirty="0">
                <a:latin typeface="Aptos" panose="020B0004020202020204" pitchFamily="34" charset="0"/>
              </a:rPr>
              <a:t>, G.F. Froment, A steady-state kinetic model for methanol synthesis and the water-gas shift reaction on a commercial Cu/</a:t>
            </a:r>
            <a:r>
              <a:rPr lang="en-IN" sz="1600" dirty="0" err="1">
                <a:latin typeface="Aptos" panose="020B0004020202020204" pitchFamily="34" charset="0"/>
              </a:rPr>
              <a:t>ZnO</a:t>
            </a:r>
            <a:r>
              <a:rPr lang="en-IN" sz="1600" dirty="0">
                <a:latin typeface="Aptos" panose="020B0004020202020204" pitchFamily="34" charset="0"/>
              </a:rPr>
              <a:t>/Al(_2)O(_3) catalyst, </a:t>
            </a:r>
            <a:r>
              <a:rPr lang="en-IN" sz="1600" i="1" dirty="0">
                <a:latin typeface="Aptos" panose="020B0004020202020204" pitchFamily="34" charset="0"/>
              </a:rPr>
              <a:t>Journal of Catalysis</a:t>
            </a:r>
            <a:r>
              <a:rPr lang="en-IN" sz="1600" dirty="0">
                <a:latin typeface="Aptos" panose="020B0004020202020204" pitchFamily="34" charset="0"/>
              </a:rPr>
              <a:t> 161 (1) (1996) 1–10. </a:t>
            </a:r>
            <a:r>
              <a:rPr lang="en-IN" sz="1600" dirty="0">
                <a:latin typeface="Aptos" panose="020B0004020202020204" pitchFamily="34" charset="0"/>
                <a:hlinkClick r:id="rId4"/>
              </a:rPr>
              <a:t>https://doi.org/10.1006/jcat.1996.0156</a:t>
            </a:r>
            <a:endParaRPr lang="en-IN" sz="1600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sz="1600" dirty="0">
                <a:latin typeface="Aptos" panose="020B0004020202020204" pitchFamily="34" charset="0"/>
              </a:rPr>
              <a:t>[3] K. Chaloner, I. </a:t>
            </a:r>
            <a:r>
              <a:rPr lang="en-IN" sz="1600" dirty="0" err="1">
                <a:latin typeface="Aptos" panose="020B0004020202020204" pitchFamily="34" charset="0"/>
              </a:rPr>
              <a:t>Verdinelli</a:t>
            </a:r>
            <a:r>
              <a:rPr lang="en-IN" sz="1600" dirty="0">
                <a:latin typeface="Aptos" panose="020B0004020202020204" pitchFamily="34" charset="0"/>
              </a:rPr>
              <a:t>, Bayesian experimental design: A review, </a:t>
            </a:r>
            <a:r>
              <a:rPr lang="en-IN" sz="1600" i="1" dirty="0">
                <a:latin typeface="Aptos" panose="020B0004020202020204" pitchFamily="34" charset="0"/>
              </a:rPr>
              <a:t>Statistical Science</a:t>
            </a:r>
            <a:r>
              <a:rPr lang="en-IN" sz="1600" dirty="0">
                <a:latin typeface="Aptos" panose="020B0004020202020204" pitchFamily="34" charset="0"/>
              </a:rPr>
              <a:t> 10 (3) (1995) 273–304. </a:t>
            </a:r>
            <a:r>
              <a:rPr lang="en-IN" sz="1600" dirty="0">
                <a:latin typeface="Aptos" panose="020B0004020202020204" pitchFamily="34" charset="0"/>
                <a:hlinkClick r:id="rId5"/>
              </a:rPr>
              <a:t>https://doi.org/10.1214/ss/1177009939</a:t>
            </a:r>
            <a:endParaRPr lang="en-IN" sz="1600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sz="1600" dirty="0">
                <a:latin typeface="Aptos" panose="020B0004020202020204" pitchFamily="34" charset="0"/>
              </a:rPr>
              <a:t>[4] D.R. Jones, M. Schonlau, W.J. Welch, Efficient global optimization of expensive black-box functions, </a:t>
            </a:r>
            <a:r>
              <a:rPr lang="en-IN" sz="1600" i="1" dirty="0">
                <a:latin typeface="Aptos" panose="020B0004020202020204" pitchFamily="34" charset="0"/>
              </a:rPr>
              <a:t>Journal of Global Optimization</a:t>
            </a:r>
            <a:r>
              <a:rPr lang="en-IN" sz="1600" dirty="0">
                <a:latin typeface="Aptos" panose="020B0004020202020204" pitchFamily="34" charset="0"/>
              </a:rPr>
              <a:t> 13 (4) (1998) 455–492. </a:t>
            </a:r>
            <a:r>
              <a:rPr lang="en-IN" sz="1600" dirty="0">
                <a:latin typeface="Aptos" panose="020B0004020202020204" pitchFamily="34" charset="0"/>
                <a:hlinkClick r:id="rId6"/>
              </a:rPr>
              <a:t>https://doi.org/10.1023/A:1008306431147</a:t>
            </a:r>
            <a:endParaRPr lang="en-IN" sz="1600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sz="1600" dirty="0">
                <a:latin typeface="Aptos" panose="020B0004020202020204" pitchFamily="34" charset="0"/>
              </a:rPr>
              <a:t>[5] C.E. Rasmussen, C.K.I. Williams, </a:t>
            </a:r>
            <a:r>
              <a:rPr lang="en-IN" sz="1600" i="1" dirty="0">
                <a:latin typeface="Aptos" panose="020B0004020202020204" pitchFamily="34" charset="0"/>
              </a:rPr>
              <a:t>Gaussian Processes for Machine Learning</a:t>
            </a:r>
            <a:r>
              <a:rPr lang="en-IN" sz="1600" dirty="0">
                <a:latin typeface="Aptos" panose="020B0004020202020204" pitchFamily="34" charset="0"/>
              </a:rPr>
              <a:t>, MIT Press, Cambridge, MA, 2006. </a:t>
            </a:r>
            <a:r>
              <a:rPr lang="en-IN" sz="1600" dirty="0">
                <a:latin typeface="Aptos" panose="020B0004020202020204" pitchFamily="34" charset="0"/>
                <a:hlinkClick r:id="rId7"/>
              </a:rPr>
              <a:t>http://www.gaussianprocess.org/gpml/</a:t>
            </a:r>
            <a:endParaRPr lang="en-IN" sz="1600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sz="1600" dirty="0">
                <a:latin typeface="Aptos" panose="020B0004020202020204" pitchFamily="34" charset="0"/>
              </a:rPr>
              <a:t>[6] J. Fuhrmann, D. Abdel, J. Weidner, A. Seiler, P. Farrell, M. </a:t>
            </a:r>
            <a:r>
              <a:rPr lang="en-IN" sz="1600" dirty="0" err="1">
                <a:latin typeface="Aptos" panose="020B0004020202020204" pitchFamily="34" charset="0"/>
              </a:rPr>
              <a:t>Liero</a:t>
            </a:r>
            <a:r>
              <a:rPr lang="en-IN" sz="1600" dirty="0">
                <a:latin typeface="Aptos" panose="020B0004020202020204" pitchFamily="34" charset="0"/>
              </a:rPr>
              <a:t>, </a:t>
            </a:r>
            <a:r>
              <a:rPr lang="en-IN" sz="1600" i="1" dirty="0" err="1">
                <a:latin typeface="Aptos" panose="020B0004020202020204" pitchFamily="34" charset="0"/>
              </a:rPr>
              <a:t>VoronoiFVM.jl</a:t>
            </a:r>
            <a:r>
              <a:rPr lang="en-IN" sz="1600" i="1" dirty="0">
                <a:latin typeface="Aptos" panose="020B0004020202020204" pitchFamily="34" charset="0"/>
              </a:rPr>
              <a:t>: Finite volume solver for coupled nonlinear partial differential equations</a:t>
            </a:r>
            <a:r>
              <a:rPr lang="en-IN" sz="1600" dirty="0">
                <a:latin typeface="Aptos" panose="020B0004020202020204" pitchFamily="34" charset="0"/>
              </a:rPr>
              <a:t>, 2023. </a:t>
            </a:r>
            <a:r>
              <a:rPr lang="en-IN" sz="1600" dirty="0">
                <a:latin typeface="Aptos" panose="020B0004020202020204" pitchFamily="34" charset="0"/>
                <a:hlinkClick r:id="rId8"/>
              </a:rPr>
              <a:t>https://doi.org/10.5281/zenodo.3529808</a:t>
            </a:r>
            <a:endParaRPr lang="en-IN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247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yebrow">
            <a:extLst>
              <a:ext uri="{FF2B5EF4-FFF2-40B4-BE49-F238E27FC236}">
                <a16:creationId xmlns:a16="http://schemas.microsoft.com/office/drawing/2014/main" id="{239B3A22-9C04-4867-8375-EE4273BC14C9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3E7B36D-2772-4A5D-9934-6B7DF55BCAC0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Appendix: governing equations and catalyst boundary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A46D934-B885-47A2-B79F-8236323A27D8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F957E7-F3B0-48EA-893E-F134237F0A71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A58399-FF8E-4B00-8409-80F6854D6546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3333750" cy="80010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1E1E7C-A79B-4527-A1A8-D6AE1E95FC5D}"/>
              </a:ext>
            </a:extLst>
          </p:cNvPr>
          <p:cNvSpPr>
            <a:spLocks noGrp="1"/>
          </p:cNvSpPr>
          <p:nvPr/>
        </p:nvSpPr>
        <p:spPr>
          <a:xfrm>
            <a:off x="704850" y="1771650"/>
            <a:ext cx="2990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21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∇·(ρv) =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6F499E-7C32-4F57-8D56-A92D22AF6373}"/>
              </a:ext>
            </a:extLst>
          </p:cNvPr>
          <p:cNvSpPr>
            <a:spLocks noGrp="1"/>
          </p:cNvSpPr>
          <p:nvPr/>
        </p:nvSpPr>
        <p:spPr>
          <a:xfrm>
            <a:off x="4429125" y="1638300"/>
            <a:ext cx="3333750" cy="80010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C47D43-94F3-42FB-948B-E80F8E85E043}"/>
              </a:ext>
            </a:extLst>
          </p:cNvPr>
          <p:cNvSpPr>
            <a:spLocks noGrp="1"/>
          </p:cNvSpPr>
          <p:nvPr/>
        </p:nvSpPr>
        <p:spPr>
          <a:xfrm>
            <a:off x="4600575" y="1771650"/>
            <a:ext cx="2990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∇·(ρv⊗v + pI − τ) = ρg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45072E-38C2-487C-929D-57109469F0CC}"/>
              </a:ext>
            </a:extLst>
          </p:cNvPr>
          <p:cNvSpPr>
            <a:spLocks noGrp="1"/>
          </p:cNvSpPr>
          <p:nvPr/>
        </p:nvSpPr>
        <p:spPr>
          <a:xfrm>
            <a:off x="8324850" y="1638300"/>
            <a:ext cx="3333750" cy="80010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D1664C-D0FF-4D68-8157-667DF4E85F93}"/>
              </a:ext>
            </a:extLst>
          </p:cNvPr>
          <p:cNvSpPr>
            <a:spLocks noGrp="1"/>
          </p:cNvSpPr>
          <p:nvPr/>
        </p:nvSpPr>
        <p:spPr>
          <a:xfrm>
            <a:off x="8496300" y="1771650"/>
            <a:ext cx="2990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∇·(ρvYᵅ + Jᵅ) = 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EC6BDD-7E62-4F6C-9E4C-6AC0C0473995}"/>
              </a:ext>
            </a:extLst>
          </p:cNvPr>
          <p:cNvSpPr>
            <a:spLocks noGrp="1"/>
          </p:cNvSpPr>
          <p:nvPr/>
        </p:nvSpPr>
        <p:spPr>
          <a:xfrm>
            <a:off x="533400" y="2895600"/>
            <a:ext cx="4953000" cy="80010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17354A-7F67-474F-B9D2-0D1CBE9D2FE7}"/>
              </a:ext>
            </a:extLst>
          </p:cNvPr>
          <p:cNvSpPr>
            <a:spLocks noGrp="1"/>
          </p:cNvSpPr>
          <p:nvPr/>
        </p:nvSpPr>
        <p:spPr>
          <a:xfrm>
            <a:off x="704850" y="3028950"/>
            <a:ext cx="4610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ρ = pref / [RT Σᵅ(Yᵅ/Mᵅ)]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41131D-0672-4DC9-964F-E3EE867672A3}"/>
              </a:ext>
            </a:extLst>
          </p:cNvPr>
          <p:cNvSpPr>
            <a:spLocks noGrp="1"/>
          </p:cNvSpPr>
          <p:nvPr/>
        </p:nvSpPr>
        <p:spPr>
          <a:xfrm>
            <a:off x="6705600" y="2895600"/>
            <a:ext cx="4953000" cy="800100"/>
          </a:xfrm>
          <a:prstGeom prst="rect">
            <a:avLst/>
          </a:prstGeom>
          <a:solidFill>
            <a:srgbClr val="EAF1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D50AEC-88EA-44B5-ABDB-A604F88F01F1}"/>
              </a:ext>
            </a:extLst>
          </p:cNvPr>
          <p:cNvSpPr>
            <a:spLocks noGrp="1"/>
          </p:cNvSpPr>
          <p:nvPr/>
        </p:nvSpPr>
        <p:spPr>
          <a:xfrm>
            <a:off x="6877050" y="3028950"/>
            <a:ext cx="4610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11827"/>
                </a:solidFill>
                <a:latin typeface="Cambria Math"/>
                <a:ea typeface="Cambria Math"/>
                <a:cs typeface="Cambria Math"/>
              </a:rPr>
              <a:t>Jᵅ = −ρ ΣᵝDᵅᵝ∇Yᵝ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2E3851-8221-42AE-AA61-B85A4E4B7CF3}"/>
              </a:ext>
            </a:extLst>
          </p:cNvPr>
          <p:cNvSpPr>
            <a:spLocks noGrp="1"/>
          </p:cNvSpPr>
          <p:nvPr/>
        </p:nvSpPr>
        <p:spPr>
          <a:xfrm>
            <a:off x="2667000" y="4438650"/>
            <a:ext cx="6858000" cy="895350"/>
          </a:xfrm>
          <a:prstGeom prst="rect">
            <a:avLst/>
          </a:prstGeom>
          <a:solidFill>
            <a:srgbClr val="E8F4F2"/>
          </a:solidFill>
          <a:ln w="9525">
            <a:solidFill>
              <a:srgbClr val="0F766E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F5C11D3-692D-403F-BBC4-EB1606C4681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838450" y="4572000"/>
                <a:ext cx="6515100" cy="6286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2100" b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100" i="0" dirty="0">
                        <a:solidFill>
                          <a:srgbClr val="111827"/>
                        </a:solidFill>
                        <a:latin typeface="Cambria Math"/>
                        <a:ea typeface="Cambria Math"/>
                        <a:cs typeface="Cambria Math"/>
                      </a:rPr>
                      <m:t>−n·Jᵅ = </m:t>
                    </m:r>
                    <m:nary>
                      <m:naryPr>
                        <m:chr m:val="∑"/>
                        <m:supHide m:val="on"/>
                        <m:ctrlPr>
                          <a:rPr lang="en-IN" sz="210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100" i="1" dirty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IN" sz="2100" i="1" dirty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SupPr>
                          <m:e>
                            <m:r>
                              <a:rPr lang="en-IN" sz="2100" i="1" dirty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IN" sz="2100" i="1" dirty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100" i="1" dirty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en-IN" sz="2100" i="0" dirty="0">
                            <a:solidFill>
                              <a:srgbClr val="11182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 </m:t>
                        </m:r>
                        <m:sSub>
                          <m:sSubPr>
                            <m:ctrlPr>
                              <a:rPr lang="en-IN" sz="2100" i="1" dirty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IN" sz="2100" i="1" dirty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100" i="1" dirty="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IN" sz="2100" i="1" dirty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sz="2100" b="0" dirty="0">
                    <a:solidFill>
                      <a:srgbClr val="111827"/>
                    </a:solidFill>
                    <a:latin typeface="Cambria Math"/>
                    <a:ea typeface="Cambria Math"/>
                    <a:cs typeface="Cambria Math"/>
                  </a:rPr>
                  <a:t>at catalyst boundary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F5C11D3-692D-403F-BBC4-EB1606C468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450" y="4572000"/>
                <a:ext cx="6515100" cy="628650"/>
              </a:xfrm>
              <a:prstGeom prst="rect">
                <a:avLst/>
              </a:prstGeom>
              <a:blipFill>
                <a:blip r:embed="rId3"/>
                <a:stretch>
                  <a:fillRect t="-64078" b="-108738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C967D50F-4FF2-497E-ABF8-996541B28E0B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72FB64-E86F-4611-8834-814427BA484D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Appendix · ROM paper governing equations</a:t>
            </a:r>
          </a:p>
        </p:txBody>
      </p:sp>
    </p:spTree>
    <p:extLst>
      <p:ext uri="{BB962C8B-B14F-4D97-AF65-F5344CB8AC3E}">
        <p14:creationId xmlns:p14="http://schemas.microsoft.com/office/powerpoint/2010/main" val="492594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4C8F5890-B282-404A-9195-1036BE6E74D0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5A201D5-458E-429A-AA97-5CD3EE1EF006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Appendix: MeOH parameter mapping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3647FFB-91A8-480D-AD9D-0BCB48A4F158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23B28B-C937-431B-AEF8-9EA0C246CE63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/>
              <p:nvPr>
                <p:extLst>
                  <p:ext uri="{D42A27DB-BD31-4B8C-83A1-F6EECF244321}">
                    <p14:modId xmlns:p14="http://schemas.microsoft.com/office/powerpoint/2010/main" val="2263537316"/>
                  </p:ext>
                </p:extLst>
              </p:nvPr>
            </p:nvGraphicFramePr>
            <p:xfrm>
              <a:off x="533400" y="1421672"/>
              <a:ext cx="9906000" cy="4681404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953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953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49036">
                    <a:tc>
                      <a:txBody>
                        <a:bodyPr/>
                        <a:lstStyle/>
                        <a:p>
                          <a:r>
                            <a:rPr b="1" dirty="0">
                              <a:solidFill>
                                <a:srgbClr val="FFFFFF"/>
                              </a:solidFill>
                            </a:rPr>
                            <a:t>Group</a:t>
                          </a:r>
                        </a:p>
                      </a:txBody>
                      <a:tcPr>
                        <a:solidFill>
                          <a:srgbClr val="11182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b="1">
                              <a:solidFill>
                                <a:srgbClr val="FFFFFF"/>
                              </a:solidFill>
                            </a:rPr>
                            <a:t>Implemented role</a:t>
                          </a:r>
                        </a:p>
                      </a:txBody>
                      <a:tcPr>
                        <a:solidFill>
                          <a:srgbClr val="11182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9036">
                    <a:tc>
                      <a:txBody>
                        <a:bodyPr/>
                        <a:lstStyle/>
                        <a:p>
                          <a:r>
                            <a:t>p₁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Methanol kinetic coefficient at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i="0" dirty="0" smtClean="0">
                                      <a:latin typeface="Cambria Math" panose="02040503050406030204" pitchFamily="18" charset="0"/>
                                    </a:rPr>
                                    <m:t>ref</m:t>
                                  </m:r>
                                </m:sub>
                              </m:sSub>
                            </m:oMath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9036">
                    <a:tc>
                      <a:txBody>
                        <a:bodyPr/>
                        <a:lstStyle/>
                        <a:p>
                          <a:r>
                            <a:rPr dirty="0"/>
                            <a:t>p₂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hydrogen adsorption denominator coefficient</a:t>
                          </a:r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903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b>
                                  <m:sSubPr>
                                    <m:ctrlP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en-IN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Hydrogen adsorption coefficient at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i="0" dirty="0" smtClean="0">
                                      <a:latin typeface="Cambria Math" panose="02040503050406030204" pitchFamily="18" charset="0"/>
                                    </a:rPr>
                                    <m:t>ref</m:t>
                                  </m:r>
                                </m:sub>
                              </m:sSub>
                            </m:oMath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8439803"/>
                      </a:ext>
                    </a:extLst>
                  </a:tr>
                  <a:tr h="449036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p₄</a:t>
                          </a:r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Water adsorption coefficient at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i="0" dirty="0" smtClean="0">
                                      <a:latin typeface="Cambria Math" panose="02040503050406030204" pitchFamily="18" charset="0"/>
                                    </a:rPr>
                                    <m:t>ref</m:t>
                                  </m:r>
                                </m:sub>
                              </m:sSub>
                            </m:oMath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8683837"/>
                      </a:ext>
                    </a:extLst>
                  </a:tr>
                  <a:tr h="449036">
                    <a:tc>
                      <a:txBody>
                        <a:bodyPr/>
                        <a:lstStyle/>
                        <a:p>
                          <a:r>
                            <a:t>p₅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RWGS kinetic coefficient at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i="0" dirty="0" smtClean="0">
                                      <a:latin typeface="Cambria Math" panose="02040503050406030204" pitchFamily="18" charset="0"/>
                                    </a:rPr>
                                    <m:t>ref</m:t>
                                  </m:r>
                                </m:sub>
                              </m:sSub>
                            </m:oMath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49036">
                    <a:tc>
                      <a:txBody>
                        <a:bodyPr/>
                        <a:lstStyle/>
                        <a:p>
                          <a:r>
                            <a:t>p₆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t>Methanol temperature coefficient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49036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p₇</a:t>
                          </a:r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Temperature coefficient for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i="0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4971258"/>
                      </a:ext>
                    </a:extLst>
                  </a:tr>
                  <a:tr h="449036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p₈</a:t>
                          </a:r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Temperature coefficient for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i="0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3222358"/>
                      </a:ext>
                    </a:extLst>
                  </a:tr>
                  <a:tr h="449036">
                    <a:tc>
                      <a:txBody>
                        <a:bodyPr/>
                        <a:lstStyle/>
                        <a:p>
                          <a:r>
                            <a:t>p₉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Positive magnitude associated with the RWGS temperature coefficient</a:t>
                          </a:r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/>
              <p:nvPr>
                <p:extLst>
                  <p:ext uri="{D42A27DB-BD31-4B8C-83A1-F6EECF244321}">
                    <p14:modId xmlns:p14="http://schemas.microsoft.com/office/powerpoint/2010/main" val="2263537316"/>
                  </p:ext>
                </p:extLst>
              </p:nvPr>
            </p:nvGraphicFramePr>
            <p:xfrm>
              <a:off x="533400" y="1421672"/>
              <a:ext cx="9906000" cy="4681404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953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953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49036">
                    <a:tc>
                      <a:txBody>
                        <a:bodyPr/>
                        <a:lstStyle/>
                        <a:p>
                          <a:r>
                            <a:rPr b="1" dirty="0">
                              <a:solidFill>
                                <a:srgbClr val="FFFFFF"/>
                              </a:solidFill>
                            </a:rPr>
                            <a:t>Group</a:t>
                          </a:r>
                        </a:p>
                      </a:txBody>
                      <a:tcPr>
                        <a:solidFill>
                          <a:srgbClr val="11182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b="1">
                              <a:solidFill>
                                <a:srgbClr val="FFFFFF"/>
                              </a:solidFill>
                            </a:rPr>
                            <a:t>Implemented role</a:t>
                          </a:r>
                        </a:p>
                      </a:txBody>
                      <a:tcPr>
                        <a:solidFill>
                          <a:srgbClr val="11182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9036">
                    <a:tc>
                      <a:txBody>
                        <a:bodyPr/>
                        <a:lstStyle/>
                        <a:p>
                          <a:r>
                            <a:t>p₁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23" t="-106757" r="-246" b="-8594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9036">
                    <a:tc>
                      <a:txBody>
                        <a:bodyPr/>
                        <a:lstStyle/>
                        <a:p>
                          <a:r>
                            <a:rPr dirty="0"/>
                            <a:t>p₂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hydrogen adsorption denominator coefficient</a:t>
                          </a:r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90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3" t="-305405" r="-100246" b="-6608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23" t="-305405" r="-246" b="-6608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8439803"/>
                      </a:ext>
                    </a:extLst>
                  </a:tr>
                  <a:tr h="449036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p₄</a:t>
                          </a:r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23" t="-405405" r="-246" b="-5608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8683837"/>
                      </a:ext>
                    </a:extLst>
                  </a:tr>
                  <a:tr h="449036">
                    <a:tc>
                      <a:txBody>
                        <a:bodyPr/>
                        <a:lstStyle/>
                        <a:p>
                          <a:r>
                            <a:t>p₅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23" t="-505405" r="-246" b="-4608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49036">
                    <a:tc>
                      <a:txBody>
                        <a:bodyPr/>
                        <a:lstStyle/>
                        <a:p>
                          <a:r>
                            <a:t>p₆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t>Methanol temperature coefficient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49036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p₇</a:t>
                          </a:r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23" t="-704054" r="-246" b="-2621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4971258"/>
                      </a:ext>
                    </a:extLst>
                  </a:tr>
                  <a:tr h="449036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p₈</a:t>
                          </a:r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23" t="-804054" r="-246" b="-1621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22235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t>p₉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Positive magnitude associated with the RWGS temperature coefficient</a:t>
                          </a:r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D78BE61-1E75-4204-96B4-439A143B9D78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4A564D-A8DE-42C3-BF31-971458948F31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Appendix · parameter-label quality control</a:t>
            </a:r>
          </a:p>
        </p:txBody>
      </p:sp>
    </p:spTree>
    <p:extLst>
      <p:ext uri="{BB962C8B-B14F-4D97-AF65-F5344CB8AC3E}">
        <p14:creationId xmlns:p14="http://schemas.microsoft.com/office/powerpoint/2010/main" val="609589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5C860-CA30-7B00-BF0B-5C8CC2113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B1B0108B-E086-0C42-9439-FC9E529CF0AF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B059C2A-43AC-F3F1-704E-BACE07133FF2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Appendix: </a:t>
            </a: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RBS </a:t>
            </a: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MeOH parameter </a:t>
            </a: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convergence - Results</a:t>
            </a:r>
            <a:endParaRPr sz="2775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5058C15-8D69-186C-0244-5588440B0216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30F701-2B9F-8571-773D-7EE611EF7780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06155E9-95CA-09BE-615D-4BBCE2F35028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2F599B-F8B7-A911-ABB9-F2C5505AFCB4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Appendix · parameter-label quality control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7DDF07-310B-2059-4A36-BA52266AD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98" y="1285864"/>
            <a:ext cx="4408742" cy="25250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A6EF88E-BA2C-0886-374C-8B858A98E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104" y="1299879"/>
            <a:ext cx="4247197" cy="25250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D586CD-48BF-574B-E068-18350C015A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017" y="3757140"/>
            <a:ext cx="4581144" cy="264365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FFD9C35-2B09-3BF1-63AA-595DBF55BDE8}"/>
              </a:ext>
            </a:extLst>
          </p:cNvPr>
          <p:cNvSpPr>
            <a:spLocks noGrp="1"/>
          </p:cNvSpPr>
          <p:nvPr/>
        </p:nvSpPr>
        <p:spPr>
          <a:xfrm>
            <a:off x="5088636" y="3394427"/>
            <a:ext cx="2112264" cy="3413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Random design </a:t>
            </a:r>
            <a:endParaRPr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134981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8CEAF-6666-1D17-DB4F-798D7FB6F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F4E1AC4F-4AFA-2C3A-A202-461DB8F84A4A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DB76DD0-8523-66E1-6ABA-96C45FDC7322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Appendix: </a:t>
            </a: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RBS </a:t>
            </a: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MeOH parameter </a:t>
            </a: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convergence - Results</a:t>
            </a:r>
            <a:endParaRPr sz="2775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D16590B9-8DE7-0E07-8E6A-F8CA316338F4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1DAA05-6FF3-51EB-8911-0F8D715168E6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28656AFE-26B4-25FF-62F7-736194D0D014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6DD68A-8ED2-8293-97A2-A4945197CCBC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Appendix · parameter-label quality control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F69031-A26E-B7D2-F00A-9C3E3DDE9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96" y="1365194"/>
            <a:ext cx="4436371" cy="24430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F7D7BF-238E-F5D7-9853-602DC13BB9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900" y="1247776"/>
            <a:ext cx="4654303" cy="25605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0DDCF7-A3A9-B872-823E-521DE3660F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762" y="3776182"/>
            <a:ext cx="4127566" cy="265319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501120C-944C-3846-9BBC-70A7C2438AA5}"/>
              </a:ext>
            </a:extLst>
          </p:cNvPr>
          <p:cNvSpPr>
            <a:spLocks noGrp="1"/>
          </p:cNvSpPr>
          <p:nvPr/>
        </p:nvSpPr>
        <p:spPr>
          <a:xfrm>
            <a:off x="5039868" y="3397845"/>
            <a:ext cx="2112264" cy="3413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Random design </a:t>
            </a:r>
            <a:endParaRPr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690319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93B43-0305-D686-4A1C-6FB9C1B75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E33F4856-9EC2-650F-5E64-ABC8C971EBDC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E8528F-633E-CADC-25B9-FFBF120E4048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Appendix: </a:t>
            </a: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RBS </a:t>
            </a: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MeOH parameter </a:t>
            </a: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convergence - Results</a:t>
            </a:r>
            <a:endParaRPr sz="2775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62AE343-871B-25BE-0295-05F3EB6F9EA6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BB41D5-7C0B-0996-1C36-3D53485CD99F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C98C1305-E587-C803-583C-5A984BE9C23F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EC1B31-ECCF-D540-97AF-2F1CF0770559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Appendix · parameter-label quality 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6A45AD-AD06-16F2-D6BA-26D2F61E35C8}"/>
              </a:ext>
            </a:extLst>
          </p:cNvPr>
          <p:cNvSpPr>
            <a:spLocks noGrp="1"/>
          </p:cNvSpPr>
          <p:nvPr/>
        </p:nvSpPr>
        <p:spPr>
          <a:xfrm>
            <a:off x="5039868" y="3397845"/>
            <a:ext cx="2112264" cy="3413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Random design </a:t>
            </a:r>
            <a:endParaRPr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1DE9AE-6624-53F3-8B47-57C6981630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81" y="1276351"/>
            <a:ext cx="4348554" cy="26958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ED8F19-FB46-D817-7206-68D81F0ACC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792" y="1310555"/>
            <a:ext cx="4348554" cy="26958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C7DE3E-7971-8871-47A6-526BE4CFA8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224" y="3849623"/>
            <a:ext cx="4005072" cy="257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715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FB9B3-C56D-B8C6-D5A8-28B4D0A6C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E67A343C-E4E6-E697-654E-11BC284773DD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9FC941F-E56F-62F2-2850-907901D5D99A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Appendix: </a:t>
            </a: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RBS </a:t>
            </a: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MeOH parameter </a:t>
            </a: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convergence - Results</a:t>
            </a:r>
            <a:endParaRPr sz="2775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29B7D16-A40C-8D4B-8699-56E3FEB378D1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F75FE0-BB1B-0D99-9ED9-857D0EAE03ED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2224BF07-0406-D03C-DDED-80943B457092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2C4A6F-8271-F0CF-7187-39C71AD590D3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Appendix · parameter-label quality control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E1DFC4-1F24-DEC9-406B-2A00B35383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249" y="1295399"/>
            <a:ext cx="4783491" cy="24669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829A46-D6AE-0BE6-40BE-98949861BA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86" y="1285906"/>
            <a:ext cx="4752308" cy="255266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443771D-570E-49D6-70E6-2DCFEA4EE3D7}"/>
              </a:ext>
            </a:extLst>
          </p:cNvPr>
          <p:cNvSpPr>
            <a:spLocks noGrp="1"/>
          </p:cNvSpPr>
          <p:nvPr/>
        </p:nvSpPr>
        <p:spPr>
          <a:xfrm>
            <a:off x="5158740" y="3227454"/>
            <a:ext cx="2112264" cy="3413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Random design </a:t>
            </a:r>
            <a:endParaRPr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1FDDEA7-2D5C-C16F-959C-4086AA5C7F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959" y="3855041"/>
            <a:ext cx="3379826" cy="254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488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A7C80-49A4-064C-707F-F50116543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2B6634DF-3751-4BF9-B1C7-62F1435F27E9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F629C76-ADB2-53FC-DE54-419C7E21CBE1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Appendix: </a:t>
            </a: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RBS </a:t>
            </a: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MeOH parameter </a:t>
            </a: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convergence - Results</a:t>
            </a:r>
            <a:endParaRPr sz="2775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6AF9E02-60D9-08FF-D814-B2CE497D88E9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950DDC-557B-4436-9377-2DB5676AEA9B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ECC6536E-27B8-5224-4AE4-D3E9DBD9EF39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856F4F-01CB-691C-7F64-F107FE36DCC6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Appendix · parameter-label quality control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80A59F-234D-0A7D-A5F0-E48CC82A7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69" y="1276350"/>
            <a:ext cx="4711643" cy="26359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D5E10B7-C29B-CCE1-25CD-807DB93376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76" y="1217357"/>
            <a:ext cx="4539162" cy="269492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B474164-C3F3-8054-82CA-D29A29E829C2}"/>
              </a:ext>
            </a:extLst>
          </p:cNvPr>
          <p:cNvSpPr>
            <a:spLocks noGrp="1"/>
          </p:cNvSpPr>
          <p:nvPr/>
        </p:nvSpPr>
        <p:spPr>
          <a:xfrm>
            <a:off x="5239512" y="3240786"/>
            <a:ext cx="2112264" cy="3413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Random design </a:t>
            </a:r>
            <a:endParaRPr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F0DA660-B370-FEFA-7C5A-1EBE7BBF95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088" y="3764868"/>
            <a:ext cx="4407408" cy="262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662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518C6-E83F-F509-21BA-2855BD8C1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42F255C4-F262-AD12-42CE-8C7967B66E2B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304B58D-7B4A-D8A3-5CD6-C261F07BD3E9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Appendix: </a:t>
            </a: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RBS </a:t>
            </a: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MeOH parameter </a:t>
            </a: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convergence - Results</a:t>
            </a:r>
            <a:endParaRPr sz="2775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8528C9E-A310-5FBC-2175-EB7646070C9A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6C63B9-2A9E-2A14-546F-C99EE2BD63BE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90710852-EE57-0875-C0AA-364D59F0BBE8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7AB445-166B-98EB-186F-72FFAEF38DC6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Appendix · parameter-label quality control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23F2E5-8378-5635-C7C2-2042B97979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224" y="1276351"/>
            <a:ext cx="4407409" cy="2526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3C2831-5FF3-129C-F6A9-708A3FBECD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07" y="1295400"/>
            <a:ext cx="4555365" cy="246802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EB9D442-2EA2-B411-B92B-DA84186B0BB7}"/>
              </a:ext>
            </a:extLst>
          </p:cNvPr>
          <p:cNvSpPr>
            <a:spLocks noGrp="1"/>
          </p:cNvSpPr>
          <p:nvPr/>
        </p:nvSpPr>
        <p:spPr>
          <a:xfrm>
            <a:off x="5250180" y="3199639"/>
            <a:ext cx="2112264" cy="3413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Random design </a:t>
            </a:r>
            <a:endParaRPr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392F466-D56E-8AA6-BC38-E9E5F9A2A7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659" y="3752836"/>
            <a:ext cx="3900682" cy="26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6631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A5CF3-2ACB-B006-DF91-ADFAF81DB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6EEFD1DD-61CE-8BE3-A216-EB9D44283816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2487D93-4D65-CFAC-9B8A-8FF702FA4D50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Appendix: </a:t>
            </a: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RBS </a:t>
            </a: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MeOH parameter </a:t>
            </a: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convergence - Results</a:t>
            </a:r>
            <a:endParaRPr sz="2775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DD41C45-344A-D527-673A-1A88C0657B98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2981C7-796F-6FC7-2546-D10CB17C2698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550CC62-C5A8-8B7E-9C26-814EDFA1DE6F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5D4587-2393-125B-8D4F-61966EFF3073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Appendix · parameter-label quality control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072232-E33B-9BD7-5671-6495F1337A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10" y="1276351"/>
            <a:ext cx="4833242" cy="24852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99E5A2A-3474-115D-AD38-D55A875693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056" y="1302681"/>
            <a:ext cx="4731965" cy="265716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6BE8DBB-6AA2-0D0C-586D-1CF03DFB8EBC}"/>
              </a:ext>
            </a:extLst>
          </p:cNvPr>
          <p:cNvSpPr>
            <a:spLocks noGrp="1"/>
          </p:cNvSpPr>
          <p:nvPr/>
        </p:nvSpPr>
        <p:spPr>
          <a:xfrm>
            <a:off x="5193792" y="3299726"/>
            <a:ext cx="2112264" cy="3413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Random design </a:t>
            </a:r>
            <a:endParaRPr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1702F8C-1921-3B8D-58D7-2E3BBAB75A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960" y="3864084"/>
            <a:ext cx="4361687" cy="25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33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32C14-9E88-C7FD-E647-71739DB4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F1114B51-1DD7-7BE5-E3C4-808DBC6AB6EB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CD407D-573C-9313-CB5E-11443AF2C3B2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Appendix: </a:t>
            </a: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RBS </a:t>
            </a: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MeOH parameter </a:t>
            </a: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convergence - Results</a:t>
            </a:r>
            <a:endParaRPr sz="2775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DE0872C-7BF8-F1B4-FB88-EE03823BEB0A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367EB4-DAC2-8CBC-B5FF-79C89EB765E5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F366419-B215-0D93-2400-824D98DC84C2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0044D5-796A-FFB4-5B9C-019AE460A4B1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Appendix · parameter-label quality control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60FBFF-BC62-58AC-0EF8-C9BD38387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6196" y="1276351"/>
            <a:ext cx="4674400" cy="25873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5A1141-2F37-6D22-9ED9-639AC29A11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60" y="1289370"/>
            <a:ext cx="4674400" cy="258730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888626F-A156-4564-832E-FFD104DB67D0}"/>
              </a:ext>
            </a:extLst>
          </p:cNvPr>
          <p:cNvSpPr>
            <a:spLocks noGrp="1"/>
          </p:cNvSpPr>
          <p:nvPr/>
        </p:nvSpPr>
        <p:spPr>
          <a:xfrm>
            <a:off x="5103932" y="3188025"/>
            <a:ext cx="2112264" cy="3413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Random design </a:t>
            </a:r>
            <a:endParaRPr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31C6ED-D802-C7EB-0722-BA48DD8B63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456" y="3813496"/>
            <a:ext cx="4133088" cy="25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0329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783DD-FD5B-D118-5350-F32F39AC6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yebrow">
            <a:extLst>
              <a:ext uri="{FF2B5EF4-FFF2-40B4-BE49-F238E27FC236}">
                <a16:creationId xmlns:a16="http://schemas.microsoft.com/office/drawing/2014/main" id="{C9C8472D-1985-B438-8BB6-E174183D9A06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906C431-0BBF-1A25-044B-F44D06F78976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Appendix: </a:t>
            </a: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RBS </a:t>
            </a:r>
            <a:r>
              <a:rPr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MeOH parameter </a:t>
            </a:r>
            <a:r>
              <a:rPr lang="en-IN" sz="27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convergence - Results</a:t>
            </a:r>
            <a:endParaRPr sz="2775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2E35DB5-57C3-C960-F0FA-2F03D85CFB39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72898B-8045-8E62-403D-EDE488C0B2B2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3F55D62-9A76-DF4A-D17A-4A9C227D7F6F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3614D8-CC5B-7114-B8D0-77F95B830FD2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Appendix · parameter-label quality control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3A1190-D451-BC75-461A-B1AD01C98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66" y="1295399"/>
            <a:ext cx="4879850" cy="25139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049384E-26CD-7373-147D-205D54A702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288790"/>
            <a:ext cx="4218434" cy="251393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D82040F-A9AF-CD5B-DBD2-AF12EDD844F9}"/>
              </a:ext>
            </a:extLst>
          </p:cNvPr>
          <p:cNvSpPr>
            <a:spLocks noGrp="1"/>
          </p:cNvSpPr>
          <p:nvPr/>
        </p:nvSpPr>
        <p:spPr>
          <a:xfrm>
            <a:off x="5370576" y="3258313"/>
            <a:ext cx="2112264" cy="3413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IN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Random design </a:t>
            </a:r>
            <a:endParaRPr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6CBE0F-C82C-0956-9EEE-C6E9FE8157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104" y="3917090"/>
            <a:ext cx="4082796" cy="25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5352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</TotalTime>
  <Words>4227</Words>
  <Application>Microsoft Office PowerPoint</Application>
  <DocSecurity>0</DocSecurity>
  <PresentationFormat>Widescreen</PresentationFormat>
  <Paragraphs>533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Aptos</vt:lpstr>
      <vt:lpstr>Aptos Display</vt:lpstr>
      <vt:lpstr>Arial</vt:lpstr>
      <vt:lpstr>Arial MT</vt:lpstr>
      <vt:lpstr>Calibri</vt:lpstr>
      <vt:lpstr>Calibri Light</vt:lpstr>
      <vt:lpstr>Cambria Math</vt:lpstr>
      <vt:lpstr>ChatGPT</vt:lpstr>
      <vt:lpstr>1_Custom Design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Jahnavi reddy</cp:lastModifiedBy>
  <cp:revision>13</cp:revision>
  <dcterms:created xsi:type="dcterms:W3CDTF">2026-08-11T10:14:33Z</dcterms:created>
  <dcterms:modified xsi:type="dcterms:W3CDTF">2026-08-12T12:02:05Z</dcterms:modified>
</cp:coreProperties>
</file>